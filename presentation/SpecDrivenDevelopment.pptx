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conceptual primer that runs immediately before a live terminal demo. Nothing here is abstract theory disconnected from practice — every command named in this deck is about to be typed for real, from an empty repo, right after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this as a fair description of how most of us build things day to day, not a strawman. One-shot prompting works, and it's fast — the point isn't that it's wrong, it's that it's silent about its own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category the rest of the deck lives in — a discipline, not a specific tool, though we're going to walk it through GitHub's spec-kit implementation of it. The core move is sequencing: nothing downstream gets written until everything upstream of it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commands, one direction, each one reading what the last one wrote.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`specify init` is step zero — it scaffolds the machinery (a memory directory, per-command skill files) and writes zero actual content: no spec, no code, just the harness the rest of the pipeline runs inside. Everything after that is one of the five core commands, each command reading what the previous one wrote before it writes anything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document nothing else in the pipeline is allowed to contradict — every later command checks its output against this file before doing anything else. On a real project the principles are yours to set; here's a plausible, unglamorous set for a small demo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requirements get numbered the moment they're written — not retrofitted later for a postmortem, assigned live as the spec is drafted. No framework names, no schema, no implementation language allowed in this artifact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command with a hard gate — the design gets checked against the constitution before research starts, and again after. If a plan fails that check, it gets revised before it's allowed to become tasks, not after code has already been written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last artifact before code — a literal checklist, not a vague plan of attack. Every task is tagged with the user story it belongs to, so you can always answer "why does this task exist" by pointing at a US# and, behind it, an FR-###.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design, this is the least interesting command in the pipeline to talk about — and that's the entire point. All the hard thinking already happened in the four commands before it; this one just works the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throughline that makes every earlier slide more than paperwork. The IDs aren't assigned retroactively for documentation's sake — they're assigned the moment a requirement or task is written, and they ride all the way down into the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 team remembers one thing about spec-driven development, make it this — everything else in the pipeline exists to make sure these IDs mean something by the time they hit a code comment.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so far is the required backbone. What follows is optional rigor for a solo pass, and load-bearing once more than one person is involved.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required for a solo, single-session build like the one you're about to watch — but each one earns its keep the moment a team, a deadline, or an ambiguous spec is in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brief — this is a name-drop, not a walkthrough. The live demo you're about to watch is the single-person, single-branch version of this process; it's worth seeing once before you see what changes when a team runs it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isn't "always spec-driven" — it's matching the ceremony to the stakes. A one-off spike doesn't need a constitution; a feature that will get asked about in a postmortem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exactly what a sibling reference repo, speckit-demo, shows side-by-side — a vibe-coded/ folder and a spec-driven/ folder for the same feature, built both ways, so you can diff them directly instead of taking this table's word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map cleanly onto the four artifacts and are worth having in your back pocket the next time someone asks why this is worth the extra ceremony.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keep three things from this deck before we go type commands for real, make it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timing estimates from the facilitation guide for this exact workshop, not invented figures — they're what you should expect to see over the next stretch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handoff slide — everything from here happens live, in a terminal, from an empty repo. The feature is deliberately small: one entity, two endpoints, so the process is the star of the demo, not the feature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A1C"/>
        </a:solidFill>
      </p:bgPr>
    </p:bg>
    <p:spTree>
      <p:nvGrpSpPr>
        <p:cNvPr id="1" name=""/>
        <p:cNvGrpSpPr/>
        <p:nvPr/>
      </p:nvGrpSpPr>
      <p:grpSpPr>
        <a:xfrm>
          <a:off x="0" y="0"/>
          <a:ext cx="0" cy="0"/>
          <a:chOff x="0" y="0"/>
          <a:chExt cx="0" cy="0"/>
        </a:xfrm>
      </p:grpSpPr>
      <p:sp>
        <p:nvSpPr>
          <p:cNvPr id="2" name="Text 0"/>
          <p:cNvSpPr/>
          <p:nvPr/>
        </p:nvSpPr>
        <p:spPr>
          <a:xfrm>
            <a:off x="457200" y="1097280"/>
            <a:ext cx="11274552" cy="1097280"/>
          </a:xfrm>
          <a:prstGeom prst="rect">
            <a:avLst/>
          </a:prstGeom>
          <a:noFill/>
          <a:ln/>
        </p:spPr>
        <p:txBody>
          <a:bodyPr wrap="square" rtlCol="0" anchor="ctr"/>
          <a:lstStyle/>
          <a:p>
            <a:pPr algn="ctr" indent="0" marL="0">
              <a:buNone/>
            </a:pPr>
            <a:r>
              <a:rPr lang="en-US" sz="5600" b="1" dirty="0">
                <a:solidFill>
                  <a:srgbClr val="D8F6FB"/>
                </a:solidFill>
                <a:latin typeface="Arial" pitchFamily="34" charset="0"/>
                <a:ea typeface="Arial" pitchFamily="34" charset="-122"/>
                <a:cs typeface="Arial" pitchFamily="34" charset="-120"/>
              </a:rPr>
              <a:t>Spec-Driven Development</a:t>
            </a:r>
            <a:endParaRPr lang="en-US" sz="5600" dirty="0"/>
          </a:p>
        </p:txBody>
      </p:sp>
      <p:sp>
        <p:nvSpPr>
          <p:cNvPr id="3" name="Text 1"/>
          <p:cNvSpPr/>
          <p:nvPr/>
        </p:nvSpPr>
        <p:spPr>
          <a:xfrm>
            <a:off x="457200" y="2240280"/>
            <a:ext cx="11274552" cy="914400"/>
          </a:xfrm>
          <a:prstGeom prst="rect">
            <a:avLst/>
          </a:prstGeom>
          <a:noFill/>
          <a:ln/>
        </p:spPr>
        <p:txBody>
          <a:bodyPr wrap="square" rtlCol="0" anchor="ctr"/>
          <a:lstStyle/>
          <a:p>
            <a:pPr algn="ctr" indent="0" marL="0">
              <a:buNone/>
            </a:pPr>
            <a:r>
              <a:rPr lang="en-US" sz="4400" b="1" dirty="0">
                <a:solidFill>
                  <a:srgbClr val="00DFFC"/>
                </a:solidFill>
                <a:latin typeface="Arial" pitchFamily="34" charset="0"/>
                <a:ea typeface="Arial" pitchFamily="34" charset="-122"/>
                <a:cs typeface="Arial" pitchFamily="34" charset="-120"/>
              </a:rPr>
              <a:t>with GitHub Spec-Kit</a:t>
            </a:r>
            <a:endParaRPr lang="en-US" sz="4400" dirty="0"/>
          </a:p>
        </p:txBody>
      </p:sp>
      <p:sp>
        <p:nvSpPr>
          <p:cNvPr id="4" name="Shape 2"/>
          <p:cNvSpPr/>
          <p:nvPr/>
        </p:nvSpPr>
        <p:spPr>
          <a:xfrm>
            <a:off x="0" y="3429000"/>
            <a:ext cx="12188952" cy="54864"/>
          </a:xfrm>
          <a:prstGeom prst="rect">
            <a:avLst/>
          </a:prstGeom>
          <a:solidFill>
            <a:srgbClr val="00B4CC"/>
          </a:solidFill>
          <a:ln w="12700">
            <a:solidFill>
              <a:srgbClr val="00B4CC"/>
            </a:solidFill>
            <a:prstDash val="solid"/>
          </a:ln>
        </p:spPr>
      </p:sp>
      <p:sp>
        <p:nvSpPr>
          <p:cNvPr id="5" name="Text 3"/>
          <p:cNvSpPr/>
          <p:nvPr/>
        </p:nvSpPr>
        <p:spPr>
          <a:xfrm>
            <a:off x="457200" y="3657600"/>
            <a:ext cx="11274552" cy="640080"/>
          </a:xfrm>
          <a:prstGeom prst="rect">
            <a:avLst/>
          </a:prstGeom>
          <a:noFill/>
          <a:ln/>
        </p:spPr>
        <p:txBody>
          <a:bodyPr wrap="square" rtlCol="0" anchor="ctr"/>
          <a:lstStyle/>
          <a:p>
            <a:pPr algn="ctr" indent="0" marL="0">
              <a:buNone/>
            </a:pPr>
            <a:r>
              <a:rPr lang="en-US" sz="2200" i="1" dirty="0">
                <a:solidFill>
                  <a:srgbClr val="5098A8"/>
                </a:solidFill>
                <a:latin typeface="Arial" pitchFamily="34" charset="0"/>
                <a:ea typeface="Arial" pitchFamily="34" charset="-122"/>
                <a:cs typeface="Arial" pitchFamily="34" charset="-120"/>
              </a:rPr>
              <a:t>Decide once, in writing, before you type a single line of code.</a:t>
            </a:r>
            <a:endParaRPr lang="en-US" sz="2200" dirty="0"/>
          </a:p>
        </p:txBody>
      </p:sp>
      <p:sp>
        <p:nvSpPr>
          <p:cNvPr id="6" name="Text 4"/>
          <p:cNvSpPr/>
          <p:nvPr/>
        </p:nvSpPr>
        <p:spPr>
          <a:xfrm>
            <a:off x="457200" y="4343400"/>
            <a:ext cx="11274552" cy="457200"/>
          </a:xfrm>
          <a:prstGeom prst="rect">
            <a:avLst/>
          </a:prstGeom>
          <a:noFill/>
          <a:ln/>
        </p:spPr>
        <p:txBody>
          <a:bodyPr wrap="square" rtlCol="0" anchor="ctr"/>
          <a:lstStyle/>
          <a:p>
            <a:pPr algn="ctr" indent="0" marL="0">
              <a:buNone/>
            </a:pPr>
            <a:r>
              <a:rPr lang="en-US" sz="1600" dirty="0">
                <a:solidFill>
                  <a:srgbClr val="5098A8"/>
                </a:solidFill>
                <a:latin typeface="Arial" pitchFamily="34" charset="0"/>
                <a:ea typeface="Arial" pitchFamily="34" charset="-122"/>
                <a:cs typeface="Arial" pitchFamily="34" charset="-120"/>
              </a:rPr>
              <a:t>A Conceptual Primer  ·  Up next: a live build of a URL shortener, from zero</a:t>
            </a:r>
            <a:endParaRPr lang="en-US" sz="1600" dirty="0"/>
          </a:p>
        </p:txBody>
      </p:sp>
      <p:sp>
        <p:nvSpPr>
          <p:cNvPr id="7" name="Text 5"/>
          <p:cNvSpPr/>
          <p:nvPr/>
        </p:nvSpPr>
        <p:spPr>
          <a:xfrm>
            <a:off x="457200" y="6309360"/>
            <a:ext cx="11274552" cy="365760"/>
          </a:xfrm>
          <a:prstGeom prst="rect">
            <a:avLst/>
          </a:prstGeom>
          <a:noFill/>
          <a:ln/>
        </p:spPr>
        <p:txBody>
          <a:bodyPr wrap="square" rtlCol="0" anchor="ctr"/>
          <a:lstStyle/>
          <a:p>
            <a:pPr algn="ctr" indent="0" marL="0">
              <a:buNone/>
            </a:pPr>
            <a:r>
              <a:rPr lang="en-US" sz="1400" dirty="0">
                <a:solidFill>
                  <a:srgbClr val="5098A8"/>
                </a:solidFill>
                <a:latin typeface="Arial" pitchFamily="34" charset="0"/>
                <a:ea typeface="Arial" pitchFamily="34" charset="-122"/>
                <a:cs typeface="Arial" pitchFamily="34" charset="-120"/>
              </a:rPr>
              <a:t>SPEC-DRIVEN DEV</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The Problem: What Vibe-Coding Produces</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Text 4"/>
          <p:cNvSpPr/>
          <p:nvPr/>
        </p:nvSpPr>
        <p:spPr>
          <a:xfrm>
            <a:off x="457200" y="1572768"/>
            <a:ext cx="11274552" cy="1252728"/>
          </a:xfrm>
          <a:prstGeom prst="rect">
            <a:avLst/>
          </a:prstGeom>
          <a:noFill/>
          <a:ln/>
        </p:spPr>
        <p:txBody>
          <a:bodyPr wrap="square" rtlCol="0" anchor="ctr"/>
          <a:lstStyle/>
          <a:p>
            <a:pPr marL="254000" indent="-254000">
              <a:buSzPct val="100000"/>
              <a:buChar char="•"/>
            </a:pPr>
            <a:r>
              <a:rPr lang="en-US" sz="2200" dirty="0">
                <a:solidFill>
                  <a:srgbClr val="E8836A"/>
                </a:solidFill>
                <a:latin typeface="Arial" pitchFamily="34" charset="0"/>
                <a:ea typeface="Arial" pitchFamily="34" charset="-122"/>
                <a:cs typeface="Arial" pitchFamily="34" charset="-120"/>
              </a:rPr>
              <a:t>One-shot prompting: describe a feature in a sentence or two, get a working app back</a:t>
            </a:r>
            <a:endParaRPr lang="en-US" sz="2200" dirty="0"/>
          </a:p>
        </p:txBody>
      </p:sp>
      <p:sp>
        <p:nvSpPr>
          <p:cNvPr id="7" name="Text 5"/>
          <p:cNvSpPr/>
          <p:nvPr/>
        </p:nvSpPr>
        <p:spPr>
          <a:xfrm>
            <a:off x="457200" y="2825496"/>
            <a:ext cx="11274552" cy="1252728"/>
          </a:xfrm>
          <a:prstGeom prst="rect">
            <a:avLst/>
          </a:prstGeom>
          <a:noFill/>
          <a:ln/>
        </p:spPr>
        <p:txBody>
          <a:bodyPr wrap="square" rtlCol="0" anchor="ctr"/>
          <a:lstStyle/>
          <a:p>
            <a:pPr marL="254000" indent="-254000">
              <a:buSzPct val="100000"/>
              <a:buChar char="•"/>
            </a:pPr>
            <a:r>
              <a:rPr lang="en-US" sz="2200" dirty="0">
                <a:solidFill>
                  <a:srgbClr val="E8836A"/>
                </a:solidFill>
                <a:latin typeface="Arial" pitchFamily="34" charset="0"/>
                <a:ea typeface="Arial" pitchFamily="34" charset="-122"/>
                <a:cs typeface="Arial" pitchFamily="34" charset="-120"/>
              </a:rPr>
              <a:t>Implicit decisions get baked in with no record of them — naming, error shapes, edge cases, all decided invisibly in a single generation pass</a:t>
            </a:r>
            <a:endParaRPr lang="en-US" sz="2200" dirty="0"/>
          </a:p>
        </p:txBody>
      </p:sp>
      <p:sp>
        <p:nvSpPr>
          <p:cNvPr id="8" name="Text 6"/>
          <p:cNvSpPr/>
          <p:nvPr/>
        </p:nvSpPr>
        <p:spPr>
          <a:xfrm>
            <a:off x="457200" y="4078224"/>
            <a:ext cx="11274552" cy="1252728"/>
          </a:xfrm>
          <a:prstGeom prst="rect">
            <a:avLst/>
          </a:prstGeom>
          <a:noFill/>
          <a:ln/>
        </p:spPr>
        <p:txBody>
          <a:bodyPr wrap="square" rtlCol="0" anchor="ctr"/>
          <a:lstStyle/>
          <a:p>
            <a:pPr marL="254000" indent="-254000">
              <a:buSzPct val="100000"/>
              <a:buChar char="•"/>
            </a:pPr>
            <a:r>
              <a:rPr lang="en-US" sz="2200" dirty="0">
                <a:solidFill>
                  <a:srgbClr val="E8836A"/>
                </a:solidFill>
                <a:latin typeface="Arial" pitchFamily="34" charset="0"/>
                <a:ea typeface="Arial" pitchFamily="34" charset="-122"/>
                <a:cs typeface="Arial" pitchFamily="34" charset="-120"/>
              </a:rPr>
              <a:t>Inconsistent naming and error shapes across a codebase, because there was never one upstream decision they both trace back to</a:t>
            </a:r>
            <a:endParaRPr lang="en-US" sz="2200" dirty="0"/>
          </a:p>
        </p:txBody>
      </p:sp>
      <p:sp>
        <p:nvSpPr>
          <p:cNvPr id="9" name="Text 7"/>
          <p:cNvSpPr/>
          <p:nvPr/>
        </p:nvSpPr>
        <p:spPr>
          <a:xfrm>
            <a:off x="457200" y="5330952"/>
            <a:ext cx="11274552" cy="1252728"/>
          </a:xfrm>
          <a:prstGeom prst="rect">
            <a:avLst/>
          </a:prstGeom>
          <a:noFill/>
          <a:ln/>
        </p:spPr>
        <p:txBody>
          <a:bodyPr wrap="square" rtlCol="0" anchor="ctr"/>
          <a:lstStyle/>
          <a:p>
            <a:pPr marL="254000" indent="-254000">
              <a:buSzPct val="100000"/>
              <a:buChar char="•"/>
            </a:pPr>
            <a:r>
              <a:rPr lang="en-US" sz="2200" dirty="0">
                <a:solidFill>
                  <a:srgbClr val="E8836A"/>
                </a:solidFill>
                <a:latin typeface="Arial" pitchFamily="34" charset="0"/>
                <a:ea typeface="Arial" pitchFamily="34" charset="-122"/>
                <a:cs typeface="Arial" pitchFamily="34" charset="-120"/>
              </a:rPr>
              <a:t>No paper trail: ask "why is it built this way" six weeks later, and nobody — including the original author — can answer with anything but a guess</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What Is Spec-Driven Development?</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Text 4"/>
          <p:cNvSpPr/>
          <p:nvPr/>
        </p:nvSpPr>
        <p:spPr>
          <a:xfrm>
            <a:off x="457200" y="1572768"/>
            <a:ext cx="11274552" cy="1002182"/>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A discipline that separates why, what, how, and order into distinct, written artifacts — all produced before any implementation code exists</a:t>
            </a:r>
            <a:endParaRPr lang="en-US" sz="2200" dirty="0"/>
          </a:p>
        </p:txBody>
      </p:sp>
      <p:sp>
        <p:nvSpPr>
          <p:cNvPr id="7" name="Text 5"/>
          <p:cNvSpPr/>
          <p:nvPr/>
        </p:nvSpPr>
        <p:spPr>
          <a:xfrm>
            <a:off x="457200" y="2574950"/>
            <a:ext cx="11274552" cy="1002182"/>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Why → constitution: the non-negotiable principles</a:t>
            </a:r>
            <a:endParaRPr lang="en-US" sz="2200" dirty="0"/>
          </a:p>
        </p:txBody>
      </p:sp>
      <p:sp>
        <p:nvSpPr>
          <p:cNvPr id="8" name="Text 6"/>
          <p:cNvSpPr/>
          <p:nvPr/>
        </p:nvSpPr>
        <p:spPr>
          <a:xfrm>
            <a:off x="457200" y="3577133"/>
            <a:ext cx="11274552" cy="1002182"/>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What → spec: the requirements and user stories, in testable language</a:t>
            </a:r>
            <a:endParaRPr lang="en-US" sz="2200" dirty="0"/>
          </a:p>
        </p:txBody>
      </p:sp>
      <p:sp>
        <p:nvSpPr>
          <p:cNvPr id="9" name="Text 7"/>
          <p:cNvSpPr/>
          <p:nvPr/>
        </p:nvSpPr>
        <p:spPr>
          <a:xfrm>
            <a:off x="457200" y="4579315"/>
            <a:ext cx="11274552" cy="1002182"/>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How → plan: the technical design, gated against the constitution</a:t>
            </a:r>
            <a:endParaRPr lang="en-US" sz="2200" dirty="0"/>
          </a:p>
        </p:txBody>
      </p:sp>
      <p:sp>
        <p:nvSpPr>
          <p:cNvPr id="10" name="Text 8"/>
          <p:cNvSpPr/>
          <p:nvPr/>
        </p:nvSpPr>
        <p:spPr>
          <a:xfrm>
            <a:off x="457200" y="5581498"/>
            <a:ext cx="11274552" cy="1002182"/>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Order → tasks: a dependency-ordered checklist the implementation just executes</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3A47"/>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00B4CC"/>
          </a:solidFill>
          <a:ln w="12700">
            <a:solidFill>
              <a:srgbClr val="00B4CC"/>
            </a:solidFill>
            <a:prstDash val="solid"/>
          </a:ln>
        </p:spPr>
      </p:sp>
      <p:sp>
        <p:nvSpPr>
          <p:cNvPr id="3" name="Text 1"/>
          <p:cNvSpPr/>
          <p:nvPr/>
        </p:nvSpPr>
        <p:spPr>
          <a:xfrm>
            <a:off x="457200" y="2103120"/>
            <a:ext cx="11274552" cy="1463040"/>
          </a:xfrm>
          <a:prstGeom prst="rect">
            <a:avLst/>
          </a:prstGeom>
          <a:noFill/>
          <a:ln/>
        </p:spPr>
        <p:txBody>
          <a:bodyPr wrap="square" rtlCol="0" anchor="ctr"/>
          <a:lstStyle/>
          <a:p>
            <a:pPr algn="ctr" indent="0" marL="0">
              <a:buNone/>
            </a:pPr>
            <a:r>
              <a:rPr lang="en-US" sz="4800" b="1" dirty="0">
                <a:solidFill>
                  <a:srgbClr val="D8F6FB"/>
                </a:solidFill>
                <a:latin typeface="Arial" pitchFamily="34" charset="0"/>
                <a:ea typeface="Arial" pitchFamily="34" charset="-122"/>
                <a:cs typeface="Arial" pitchFamily="34" charset="-120"/>
              </a:rPr>
              <a:t>The Pipeline: Five Core Commands</a:t>
            </a:r>
            <a:endParaRPr lang="en-US" sz="4800" dirty="0"/>
          </a:p>
        </p:txBody>
      </p:sp>
      <p:sp>
        <p:nvSpPr>
          <p:cNvPr id="4" name="Text 2"/>
          <p:cNvSpPr/>
          <p:nvPr/>
        </p:nvSpPr>
        <p:spPr>
          <a:xfrm>
            <a:off x="457200" y="3749040"/>
            <a:ext cx="11274552" cy="640080"/>
          </a:xfrm>
          <a:prstGeom prst="rect">
            <a:avLst/>
          </a:prstGeom>
          <a:noFill/>
          <a:ln/>
        </p:spPr>
        <p:txBody>
          <a:bodyPr wrap="square" rtlCol="0" anchor="ctr"/>
          <a:lstStyle/>
          <a:p>
            <a:pPr algn="ctr" indent="0" marL="0">
              <a:buNone/>
            </a:pPr>
            <a:r>
              <a:rPr lang="en-US" sz="2200" dirty="0">
                <a:solidFill>
                  <a:srgbClr val="5098A8"/>
                </a:solidFill>
                <a:latin typeface="Arial" pitchFamily="34" charset="0"/>
                <a:ea typeface="Arial" pitchFamily="34" charset="-122"/>
                <a:cs typeface="Arial" pitchFamily="34" charset="-120"/>
              </a:rPr>
              <a:t>constitution → specify → plan → tasks → implement</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The Pipeline at a Glance</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Shape 4"/>
          <p:cNvSpPr/>
          <p:nvPr/>
        </p:nvSpPr>
        <p:spPr>
          <a:xfrm>
            <a:off x="457200" y="2052828"/>
            <a:ext cx="1589532" cy="1143000"/>
          </a:xfrm>
          <a:prstGeom prst="roundRect">
            <a:avLst>
              <a:gd name="adj" fmla="val 8000"/>
            </a:avLst>
          </a:prstGeom>
          <a:solidFill>
            <a:srgbClr val="003A47"/>
          </a:solidFill>
          <a:ln w="19050">
            <a:solidFill>
              <a:srgbClr val="00B4CC"/>
            </a:solidFill>
            <a:prstDash val="solid"/>
          </a:ln>
        </p:spPr>
      </p:sp>
      <p:sp>
        <p:nvSpPr>
          <p:cNvPr id="7" name="Text 5"/>
          <p:cNvSpPr/>
          <p:nvPr/>
        </p:nvSpPr>
        <p:spPr>
          <a:xfrm>
            <a:off x="457200" y="2052828"/>
            <a:ext cx="1589532" cy="1143000"/>
          </a:xfrm>
          <a:prstGeom prst="rect">
            <a:avLst/>
          </a:prstGeom>
          <a:noFill/>
          <a:ln/>
        </p:spPr>
        <p:txBody>
          <a:bodyPr wrap="square" rtlCol="0" anchor="ctr"/>
          <a:lstStyle/>
          <a:p>
            <a:pPr algn="ctr" indent="0" marL="0">
              <a:buNone/>
            </a:pPr>
            <a:r>
              <a:rPr lang="en-US" sz="1100" b="1" dirty="0">
                <a:solidFill>
                  <a:srgbClr val="D8F6FB"/>
                </a:solidFill>
                <a:latin typeface="Arial" pitchFamily="34" charset="0"/>
                <a:ea typeface="Arial" pitchFamily="34" charset="-122"/>
                <a:cs typeface="Arial" pitchFamily="34" charset="-120"/>
              </a:rPr>
              <a:t>specify init</a:t>
            </a:r>
            <a:endParaRPr lang="en-US" sz="1100" dirty="0"/>
          </a:p>
          <a:p>
            <a:pPr algn="ctr" indent="0" marL="0">
              <a:buNone/>
            </a:pPr>
            <a:r>
              <a:rPr lang="en-US" sz="1100" b="1" dirty="0">
                <a:solidFill>
                  <a:srgbClr val="D8F6FB"/>
                </a:solidFill>
                <a:latin typeface="Arial" pitchFamily="34" charset="0"/>
                <a:ea typeface="Arial" pitchFamily="34" charset="-122"/>
                <a:cs typeface="Arial" pitchFamily="34" charset="-120"/>
              </a:rPr>
              <a:t>(scaffolding)</a:t>
            </a:r>
            <a:endParaRPr lang="en-US" sz="1100" dirty="0"/>
          </a:p>
        </p:txBody>
      </p:sp>
      <p:sp>
        <p:nvSpPr>
          <p:cNvPr id="8" name="Text 6"/>
          <p:cNvSpPr/>
          <p:nvPr/>
        </p:nvSpPr>
        <p:spPr>
          <a:xfrm>
            <a:off x="2046732" y="2052828"/>
            <a:ext cx="347472" cy="1143000"/>
          </a:xfrm>
          <a:prstGeom prst="rect">
            <a:avLst/>
          </a:prstGeom>
          <a:noFill/>
          <a:ln/>
        </p:spPr>
        <p:txBody>
          <a:bodyPr wrap="square" rtlCol="0" anchor="ctr"/>
          <a:lstStyle/>
          <a:p>
            <a:pPr algn="ctr" indent="0" marL="0">
              <a:buNone/>
            </a:pPr>
            <a:r>
              <a:rPr lang="en-US" sz="2200" dirty="0">
                <a:solidFill>
                  <a:srgbClr val="00DFFC"/>
                </a:solidFill>
                <a:latin typeface="Arial" pitchFamily="34" charset="0"/>
                <a:ea typeface="Arial" pitchFamily="34" charset="-122"/>
                <a:cs typeface="Arial" pitchFamily="34" charset="-120"/>
              </a:rPr>
              <a:t>→</a:t>
            </a:r>
            <a:endParaRPr lang="en-US" sz="2200" dirty="0"/>
          </a:p>
        </p:txBody>
      </p:sp>
      <p:sp>
        <p:nvSpPr>
          <p:cNvPr id="9" name="Shape 7"/>
          <p:cNvSpPr/>
          <p:nvPr/>
        </p:nvSpPr>
        <p:spPr>
          <a:xfrm>
            <a:off x="2394204" y="2052828"/>
            <a:ext cx="1589532" cy="1143000"/>
          </a:xfrm>
          <a:prstGeom prst="roundRect">
            <a:avLst>
              <a:gd name="adj" fmla="val 8000"/>
            </a:avLst>
          </a:prstGeom>
          <a:solidFill>
            <a:srgbClr val="003A47"/>
          </a:solidFill>
          <a:ln w="19050">
            <a:solidFill>
              <a:srgbClr val="00B4CC"/>
            </a:solidFill>
            <a:prstDash val="solid"/>
          </a:ln>
        </p:spPr>
      </p:sp>
      <p:sp>
        <p:nvSpPr>
          <p:cNvPr id="10" name="Text 8"/>
          <p:cNvSpPr/>
          <p:nvPr/>
        </p:nvSpPr>
        <p:spPr>
          <a:xfrm>
            <a:off x="2394204" y="2052828"/>
            <a:ext cx="1589532" cy="1143000"/>
          </a:xfrm>
          <a:prstGeom prst="rect">
            <a:avLst/>
          </a:prstGeom>
          <a:noFill/>
          <a:ln/>
        </p:spPr>
        <p:txBody>
          <a:bodyPr wrap="square" rtlCol="0" anchor="ctr"/>
          <a:lstStyle/>
          <a:p>
            <a:pPr algn="ctr" indent="0" marL="0">
              <a:buNone/>
            </a:pPr>
            <a:r>
              <a:rPr lang="en-US" sz="1100" dirty="0">
                <a:solidFill>
                  <a:srgbClr val="D8F6FB"/>
                </a:solidFill>
                <a:latin typeface="Arial" pitchFamily="34" charset="0"/>
                <a:ea typeface="Arial" pitchFamily="34" charset="-122"/>
                <a:cs typeface="Arial" pitchFamily="34" charset="-120"/>
              </a:rPr>
              <a:t>/speckit-</a:t>
            </a:r>
            <a:endParaRPr lang="en-US" sz="1100" dirty="0"/>
          </a:p>
          <a:p>
            <a:pPr algn="ctr" indent="0" marL="0">
              <a:buNone/>
            </a:pPr>
            <a:r>
              <a:rPr lang="en-US" sz="1100" dirty="0">
                <a:solidFill>
                  <a:srgbClr val="D8F6FB"/>
                </a:solidFill>
                <a:latin typeface="Arial" pitchFamily="34" charset="0"/>
                <a:ea typeface="Arial" pitchFamily="34" charset="-122"/>
                <a:cs typeface="Arial" pitchFamily="34" charset="-120"/>
              </a:rPr>
              <a:t>constitution</a:t>
            </a:r>
            <a:endParaRPr lang="en-US" sz="1100" dirty="0"/>
          </a:p>
          <a:p>
            <a:pPr algn="ctr" indent="0" marL="0">
              <a:buNone/>
            </a:pPr>
            <a:r>
              <a:rPr lang="en-US" sz="1100" dirty="0">
                <a:solidFill>
                  <a:srgbClr val="D8F6FB"/>
                </a:solidFill>
                <a:latin typeface="Arial" pitchFamily="34" charset="0"/>
                <a:ea typeface="Arial" pitchFamily="34" charset="-122"/>
                <a:cs typeface="Arial" pitchFamily="34" charset="-120"/>
              </a:rPr>
              <a:t>constitution.md</a:t>
            </a:r>
            <a:endParaRPr lang="en-US" sz="1100" dirty="0"/>
          </a:p>
        </p:txBody>
      </p:sp>
      <p:sp>
        <p:nvSpPr>
          <p:cNvPr id="11" name="Text 9"/>
          <p:cNvSpPr/>
          <p:nvPr/>
        </p:nvSpPr>
        <p:spPr>
          <a:xfrm>
            <a:off x="3983736" y="2052828"/>
            <a:ext cx="347472" cy="1143000"/>
          </a:xfrm>
          <a:prstGeom prst="rect">
            <a:avLst/>
          </a:prstGeom>
          <a:noFill/>
          <a:ln/>
        </p:spPr>
        <p:txBody>
          <a:bodyPr wrap="square" rtlCol="0" anchor="ctr"/>
          <a:lstStyle/>
          <a:p>
            <a:pPr algn="ctr" indent="0" marL="0">
              <a:buNone/>
            </a:pPr>
            <a:r>
              <a:rPr lang="en-US" sz="2200" dirty="0">
                <a:solidFill>
                  <a:srgbClr val="00DFFC"/>
                </a:solidFill>
                <a:latin typeface="Arial" pitchFamily="34" charset="0"/>
                <a:ea typeface="Arial" pitchFamily="34" charset="-122"/>
                <a:cs typeface="Arial" pitchFamily="34" charset="-120"/>
              </a:rPr>
              <a:t>→</a:t>
            </a:r>
            <a:endParaRPr lang="en-US" sz="2200" dirty="0"/>
          </a:p>
        </p:txBody>
      </p:sp>
      <p:sp>
        <p:nvSpPr>
          <p:cNvPr id="12" name="Shape 10"/>
          <p:cNvSpPr/>
          <p:nvPr/>
        </p:nvSpPr>
        <p:spPr>
          <a:xfrm>
            <a:off x="4331208" y="2052828"/>
            <a:ext cx="1589532" cy="1143000"/>
          </a:xfrm>
          <a:prstGeom prst="roundRect">
            <a:avLst>
              <a:gd name="adj" fmla="val 8000"/>
            </a:avLst>
          </a:prstGeom>
          <a:solidFill>
            <a:srgbClr val="003A47"/>
          </a:solidFill>
          <a:ln w="19050">
            <a:solidFill>
              <a:srgbClr val="00B4CC"/>
            </a:solidFill>
            <a:prstDash val="solid"/>
          </a:ln>
        </p:spPr>
      </p:sp>
      <p:sp>
        <p:nvSpPr>
          <p:cNvPr id="13" name="Text 11"/>
          <p:cNvSpPr/>
          <p:nvPr/>
        </p:nvSpPr>
        <p:spPr>
          <a:xfrm>
            <a:off x="4331208" y="2052828"/>
            <a:ext cx="1589532" cy="1143000"/>
          </a:xfrm>
          <a:prstGeom prst="rect">
            <a:avLst/>
          </a:prstGeom>
          <a:noFill/>
          <a:ln/>
        </p:spPr>
        <p:txBody>
          <a:bodyPr wrap="square" rtlCol="0" anchor="ctr"/>
          <a:lstStyle/>
          <a:p>
            <a:pPr algn="ctr" indent="0" marL="0">
              <a:buNone/>
            </a:pPr>
            <a:r>
              <a:rPr lang="en-US" sz="1100" dirty="0">
                <a:solidFill>
                  <a:srgbClr val="D8F6FB"/>
                </a:solidFill>
                <a:latin typeface="Arial" pitchFamily="34" charset="0"/>
                <a:ea typeface="Arial" pitchFamily="34" charset="-122"/>
                <a:cs typeface="Arial" pitchFamily="34" charset="-120"/>
              </a:rPr>
              <a:t>/speckit-</a:t>
            </a:r>
            <a:endParaRPr lang="en-US" sz="1100" dirty="0"/>
          </a:p>
          <a:p>
            <a:pPr algn="ctr" indent="0" marL="0">
              <a:buNone/>
            </a:pPr>
            <a:r>
              <a:rPr lang="en-US" sz="1100" dirty="0">
                <a:solidFill>
                  <a:srgbClr val="D8F6FB"/>
                </a:solidFill>
                <a:latin typeface="Arial" pitchFamily="34" charset="0"/>
                <a:ea typeface="Arial" pitchFamily="34" charset="-122"/>
                <a:cs typeface="Arial" pitchFamily="34" charset="-120"/>
              </a:rPr>
              <a:t>specify</a:t>
            </a:r>
            <a:endParaRPr lang="en-US" sz="1100" dirty="0"/>
          </a:p>
          <a:p>
            <a:pPr algn="ctr" indent="0" marL="0">
              <a:buNone/>
            </a:pPr>
            <a:r>
              <a:rPr lang="en-US" sz="1100" dirty="0">
                <a:solidFill>
                  <a:srgbClr val="D8F6FB"/>
                </a:solidFill>
                <a:latin typeface="Arial" pitchFamily="34" charset="0"/>
                <a:ea typeface="Arial" pitchFamily="34" charset="-122"/>
                <a:cs typeface="Arial" pitchFamily="34" charset="-120"/>
              </a:rPr>
              <a:t>spec.md</a:t>
            </a:r>
            <a:endParaRPr lang="en-US" sz="1100" dirty="0"/>
          </a:p>
        </p:txBody>
      </p:sp>
      <p:sp>
        <p:nvSpPr>
          <p:cNvPr id="14" name="Text 12"/>
          <p:cNvSpPr/>
          <p:nvPr/>
        </p:nvSpPr>
        <p:spPr>
          <a:xfrm>
            <a:off x="5920740" y="2052828"/>
            <a:ext cx="347472" cy="1143000"/>
          </a:xfrm>
          <a:prstGeom prst="rect">
            <a:avLst/>
          </a:prstGeom>
          <a:noFill/>
          <a:ln/>
        </p:spPr>
        <p:txBody>
          <a:bodyPr wrap="square" rtlCol="0" anchor="ctr"/>
          <a:lstStyle/>
          <a:p>
            <a:pPr algn="ctr" indent="0" marL="0">
              <a:buNone/>
            </a:pPr>
            <a:r>
              <a:rPr lang="en-US" sz="2200" dirty="0">
                <a:solidFill>
                  <a:srgbClr val="00DFFC"/>
                </a:solidFill>
                <a:latin typeface="Arial" pitchFamily="34" charset="0"/>
                <a:ea typeface="Arial" pitchFamily="34" charset="-122"/>
                <a:cs typeface="Arial" pitchFamily="34" charset="-120"/>
              </a:rPr>
              <a:t>→</a:t>
            </a:r>
            <a:endParaRPr lang="en-US" sz="2200" dirty="0"/>
          </a:p>
        </p:txBody>
      </p:sp>
      <p:sp>
        <p:nvSpPr>
          <p:cNvPr id="15" name="Shape 13"/>
          <p:cNvSpPr/>
          <p:nvPr/>
        </p:nvSpPr>
        <p:spPr>
          <a:xfrm>
            <a:off x="6268212" y="2052828"/>
            <a:ext cx="1589532" cy="1143000"/>
          </a:xfrm>
          <a:prstGeom prst="roundRect">
            <a:avLst>
              <a:gd name="adj" fmla="val 8000"/>
            </a:avLst>
          </a:prstGeom>
          <a:solidFill>
            <a:srgbClr val="003A47"/>
          </a:solidFill>
          <a:ln w="19050">
            <a:solidFill>
              <a:srgbClr val="00B4CC"/>
            </a:solidFill>
            <a:prstDash val="solid"/>
          </a:ln>
        </p:spPr>
      </p:sp>
      <p:sp>
        <p:nvSpPr>
          <p:cNvPr id="16" name="Text 14"/>
          <p:cNvSpPr/>
          <p:nvPr/>
        </p:nvSpPr>
        <p:spPr>
          <a:xfrm>
            <a:off x="6268212" y="2052828"/>
            <a:ext cx="1589532" cy="1143000"/>
          </a:xfrm>
          <a:prstGeom prst="rect">
            <a:avLst/>
          </a:prstGeom>
          <a:noFill/>
          <a:ln/>
        </p:spPr>
        <p:txBody>
          <a:bodyPr wrap="square" rtlCol="0" anchor="ctr"/>
          <a:lstStyle/>
          <a:p>
            <a:pPr algn="ctr" indent="0" marL="0">
              <a:buNone/>
            </a:pPr>
            <a:r>
              <a:rPr lang="en-US" sz="1100" dirty="0">
                <a:solidFill>
                  <a:srgbClr val="D8F6FB"/>
                </a:solidFill>
                <a:latin typeface="Arial" pitchFamily="34" charset="0"/>
                <a:ea typeface="Arial" pitchFamily="34" charset="-122"/>
                <a:cs typeface="Arial" pitchFamily="34" charset="-120"/>
              </a:rPr>
              <a:t>/speckit-plan</a:t>
            </a:r>
            <a:endParaRPr lang="en-US" sz="1100" dirty="0"/>
          </a:p>
          <a:p>
            <a:pPr algn="ctr" indent="0" marL="0">
              <a:buNone/>
            </a:pPr>
            <a:r>
              <a:rPr lang="en-US" sz="1100" dirty="0">
                <a:solidFill>
                  <a:srgbClr val="D8F6FB"/>
                </a:solidFill>
                <a:latin typeface="Arial" pitchFamily="34" charset="0"/>
                <a:ea typeface="Arial" pitchFamily="34" charset="-122"/>
                <a:cs typeface="Arial" pitchFamily="34" charset="-120"/>
              </a:rPr>
              <a:t>plan.md, research.md,</a:t>
            </a:r>
            <a:endParaRPr lang="en-US" sz="1100" dirty="0"/>
          </a:p>
          <a:p>
            <a:pPr algn="ctr" indent="0" marL="0">
              <a:buNone/>
            </a:pPr>
            <a:r>
              <a:rPr lang="en-US" sz="1100" dirty="0">
                <a:solidFill>
                  <a:srgbClr val="D8F6FB"/>
                </a:solidFill>
                <a:latin typeface="Arial" pitchFamily="34" charset="0"/>
                <a:ea typeface="Arial" pitchFamily="34" charset="-122"/>
                <a:cs typeface="Arial" pitchFamily="34" charset="-120"/>
              </a:rPr>
              <a:t>data-model.md, contracts/</a:t>
            </a:r>
            <a:endParaRPr lang="en-US" sz="1100" dirty="0"/>
          </a:p>
        </p:txBody>
      </p:sp>
      <p:sp>
        <p:nvSpPr>
          <p:cNvPr id="17" name="Text 15"/>
          <p:cNvSpPr/>
          <p:nvPr/>
        </p:nvSpPr>
        <p:spPr>
          <a:xfrm>
            <a:off x="7857744" y="2052828"/>
            <a:ext cx="347472" cy="1143000"/>
          </a:xfrm>
          <a:prstGeom prst="rect">
            <a:avLst/>
          </a:prstGeom>
          <a:noFill/>
          <a:ln/>
        </p:spPr>
        <p:txBody>
          <a:bodyPr wrap="square" rtlCol="0" anchor="ctr"/>
          <a:lstStyle/>
          <a:p>
            <a:pPr algn="ctr" indent="0" marL="0">
              <a:buNone/>
            </a:pPr>
            <a:r>
              <a:rPr lang="en-US" sz="2200" dirty="0">
                <a:solidFill>
                  <a:srgbClr val="00DFFC"/>
                </a:solidFill>
                <a:latin typeface="Arial" pitchFamily="34" charset="0"/>
                <a:ea typeface="Arial" pitchFamily="34" charset="-122"/>
                <a:cs typeface="Arial" pitchFamily="34" charset="-120"/>
              </a:rPr>
              <a:t>→</a:t>
            </a:r>
            <a:endParaRPr lang="en-US" sz="2200" dirty="0"/>
          </a:p>
        </p:txBody>
      </p:sp>
      <p:sp>
        <p:nvSpPr>
          <p:cNvPr id="18" name="Shape 16"/>
          <p:cNvSpPr/>
          <p:nvPr/>
        </p:nvSpPr>
        <p:spPr>
          <a:xfrm>
            <a:off x="8205216" y="2052828"/>
            <a:ext cx="1589532" cy="1143000"/>
          </a:xfrm>
          <a:prstGeom prst="roundRect">
            <a:avLst>
              <a:gd name="adj" fmla="val 8000"/>
            </a:avLst>
          </a:prstGeom>
          <a:solidFill>
            <a:srgbClr val="003A47"/>
          </a:solidFill>
          <a:ln w="19050">
            <a:solidFill>
              <a:srgbClr val="00B4CC"/>
            </a:solidFill>
            <a:prstDash val="solid"/>
          </a:ln>
        </p:spPr>
      </p:sp>
      <p:sp>
        <p:nvSpPr>
          <p:cNvPr id="19" name="Text 17"/>
          <p:cNvSpPr/>
          <p:nvPr/>
        </p:nvSpPr>
        <p:spPr>
          <a:xfrm>
            <a:off x="8205216" y="2052828"/>
            <a:ext cx="1589532" cy="1143000"/>
          </a:xfrm>
          <a:prstGeom prst="rect">
            <a:avLst/>
          </a:prstGeom>
          <a:noFill/>
          <a:ln/>
        </p:spPr>
        <p:txBody>
          <a:bodyPr wrap="square" rtlCol="0" anchor="ctr"/>
          <a:lstStyle/>
          <a:p>
            <a:pPr algn="ctr" indent="0" marL="0">
              <a:buNone/>
            </a:pPr>
            <a:r>
              <a:rPr lang="en-US" sz="1100" dirty="0">
                <a:solidFill>
                  <a:srgbClr val="D8F6FB"/>
                </a:solidFill>
                <a:latin typeface="Arial" pitchFamily="34" charset="0"/>
                <a:ea typeface="Arial" pitchFamily="34" charset="-122"/>
                <a:cs typeface="Arial" pitchFamily="34" charset="-120"/>
              </a:rPr>
              <a:t>/speckit-tasks</a:t>
            </a:r>
            <a:endParaRPr lang="en-US" sz="1100" dirty="0"/>
          </a:p>
          <a:p>
            <a:pPr algn="ctr" indent="0" marL="0">
              <a:buNone/>
            </a:pPr>
            <a:r>
              <a:rPr lang="en-US" sz="1100" dirty="0">
                <a:solidFill>
                  <a:srgbClr val="D8F6FB"/>
                </a:solidFill>
                <a:latin typeface="Arial" pitchFamily="34" charset="0"/>
                <a:ea typeface="Arial" pitchFamily="34" charset="-122"/>
                <a:cs typeface="Arial" pitchFamily="34" charset="-120"/>
              </a:rPr>
              <a:t>tasks.md</a:t>
            </a:r>
            <a:endParaRPr lang="en-US" sz="1100" dirty="0"/>
          </a:p>
        </p:txBody>
      </p:sp>
      <p:sp>
        <p:nvSpPr>
          <p:cNvPr id="20" name="Text 18"/>
          <p:cNvSpPr/>
          <p:nvPr/>
        </p:nvSpPr>
        <p:spPr>
          <a:xfrm>
            <a:off x="9794748" y="2052828"/>
            <a:ext cx="347472" cy="1143000"/>
          </a:xfrm>
          <a:prstGeom prst="rect">
            <a:avLst/>
          </a:prstGeom>
          <a:noFill/>
          <a:ln/>
        </p:spPr>
        <p:txBody>
          <a:bodyPr wrap="square" rtlCol="0" anchor="ctr"/>
          <a:lstStyle/>
          <a:p>
            <a:pPr algn="ctr" indent="0" marL="0">
              <a:buNone/>
            </a:pPr>
            <a:r>
              <a:rPr lang="en-US" sz="2200" dirty="0">
                <a:solidFill>
                  <a:srgbClr val="00DFFC"/>
                </a:solidFill>
                <a:latin typeface="Arial" pitchFamily="34" charset="0"/>
                <a:ea typeface="Arial" pitchFamily="34" charset="-122"/>
                <a:cs typeface="Arial" pitchFamily="34" charset="-120"/>
              </a:rPr>
              <a:t>→</a:t>
            </a:r>
            <a:endParaRPr lang="en-US" sz="2200" dirty="0"/>
          </a:p>
        </p:txBody>
      </p:sp>
      <p:sp>
        <p:nvSpPr>
          <p:cNvPr id="21" name="Shape 19"/>
          <p:cNvSpPr/>
          <p:nvPr/>
        </p:nvSpPr>
        <p:spPr>
          <a:xfrm>
            <a:off x="10142220" y="2052828"/>
            <a:ext cx="1589532" cy="1143000"/>
          </a:xfrm>
          <a:prstGeom prst="roundRect">
            <a:avLst>
              <a:gd name="adj" fmla="val 8000"/>
            </a:avLst>
          </a:prstGeom>
          <a:solidFill>
            <a:srgbClr val="003A47"/>
          </a:solidFill>
          <a:ln w="19050">
            <a:solidFill>
              <a:srgbClr val="00B4CC"/>
            </a:solidFill>
            <a:prstDash val="solid"/>
          </a:ln>
        </p:spPr>
      </p:sp>
      <p:sp>
        <p:nvSpPr>
          <p:cNvPr id="22" name="Text 20"/>
          <p:cNvSpPr/>
          <p:nvPr/>
        </p:nvSpPr>
        <p:spPr>
          <a:xfrm>
            <a:off x="10142220" y="2052828"/>
            <a:ext cx="1589532" cy="1143000"/>
          </a:xfrm>
          <a:prstGeom prst="rect">
            <a:avLst/>
          </a:prstGeom>
          <a:noFill/>
          <a:ln/>
        </p:spPr>
        <p:txBody>
          <a:bodyPr wrap="square" rtlCol="0" anchor="ctr"/>
          <a:lstStyle/>
          <a:p>
            <a:pPr algn="ctr" indent="0" marL="0">
              <a:buNone/>
            </a:pPr>
            <a:r>
              <a:rPr lang="en-US" sz="1100" b="1" dirty="0">
                <a:solidFill>
                  <a:srgbClr val="D8F6FB"/>
                </a:solidFill>
                <a:latin typeface="Arial" pitchFamily="34" charset="0"/>
                <a:ea typeface="Arial" pitchFamily="34" charset="-122"/>
                <a:cs typeface="Arial" pitchFamily="34" charset="-120"/>
              </a:rPr>
              <a:t>/speckit-</a:t>
            </a:r>
            <a:endParaRPr lang="en-US" sz="1100" dirty="0"/>
          </a:p>
          <a:p>
            <a:pPr algn="ctr" indent="0" marL="0">
              <a:buNone/>
            </a:pPr>
            <a:r>
              <a:rPr lang="en-US" sz="1100" b="1" dirty="0">
                <a:solidFill>
                  <a:srgbClr val="D8F6FB"/>
                </a:solidFill>
                <a:latin typeface="Arial" pitchFamily="34" charset="0"/>
                <a:ea typeface="Arial" pitchFamily="34" charset="-122"/>
                <a:cs typeface="Arial" pitchFamily="34" charset="-120"/>
              </a:rPr>
              <a:t>implement</a:t>
            </a:r>
            <a:endParaRPr lang="en-US" sz="1100" dirty="0"/>
          </a:p>
          <a:p>
            <a:pPr algn="ctr" indent="0" marL="0">
              <a:buNone/>
            </a:pPr>
            <a:r>
              <a:rPr lang="en-US" sz="1100" b="1" dirty="0">
                <a:solidFill>
                  <a:srgbClr val="D8F6FB"/>
                </a:solidFill>
                <a:latin typeface="Arial" pitchFamily="34" charset="0"/>
                <a:ea typeface="Arial" pitchFamily="34" charset="-122"/>
                <a:cs typeface="Arial" pitchFamily="34" charset="-120"/>
              </a:rPr>
              <a:t>working code</a:t>
            </a:r>
            <a:endParaRPr lang="en-US" sz="1100" dirty="0"/>
          </a:p>
        </p:txBody>
      </p:sp>
      <p:sp>
        <p:nvSpPr>
          <p:cNvPr id="23" name="Text 21"/>
          <p:cNvSpPr/>
          <p:nvPr/>
        </p:nvSpPr>
        <p:spPr>
          <a:xfrm>
            <a:off x="457200" y="3904488"/>
            <a:ext cx="11274552" cy="893064"/>
          </a:xfrm>
          <a:prstGeom prst="rect">
            <a:avLst/>
          </a:prstGeom>
          <a:noFill/>
          <a:ln/>
        </p:spPr>
        <p:txBody>
          <a:bodyPr wrap="square" rtlCol="0" anchor="ctr"/>
          <a:lstStyle/>
          <a:p>
            <a:pPr marL="254000" indent="-254000">
              <a:buSzPct val="100000"/>
              <a:buChar char="•"/>
            </a:pPr>
            <a:r>
              <a:rPr lang="en-US" sz="1800" dirty="0">
                <a:solidFill>
                  <a:srgbClr val="D8F6FB"/>
                </a:solidFill>
                <a:latin typeface="Arial" pitchFamily="34" charset="0"/>
                <a:ea typeface="Arial" pitchFamily="34" charset="-122"/>
                <a:cs typeface="Arial" pitchFamily="34" charset="-120"/>
              </a:rPr>
              <a:t>One direction only — plan can't contradict constitution, tasks can't invent scope the spec didn't authorize</a:t>
            </a:r>
            <a:endParaRPr lang="en-US" sz="1800" dirty="0"/>
          </a:p>
        </p:txBody>
      </p:sp>
      <p:sp>
        <p:nvSpPr>
          <p:cNvPr id="24" name="Text 22"/>
          <p:cNvSpPr/>
          <p:nvPr/>
        </p:nvSpPr>
        <p:spPr>
          <a:xfrm>
            <a:off x="457200" y="4797552"/>
            <a:ext cx="11274552" cy="893064"/>
          </a:xfrm>
          <a:prstGeom prst="rect">
            <a:avLst/>
          </a:prstGeom>
          <a:noFill/>
          <a:ln/>
        </p:spPr>
        <p:txBody>
          <a:bodyPr wrap="square" rtlCol="0" anchor="ctr"/>
          <a:lstStyle/>
          <a:p>
            <a:pPr marL="254000" indent="-254000">
              <a:buSzPct val="100000"/>
              <a:buChar char="•"/>
            </a:pPr>
            <a:r>
              <a:rPr lang="en-US" sz="1800" dirty="0">
                <a:solidFill>
                  <a:srgbClr val="D8F6FB"/>
                </a:solidFill>
                <a:latin typeface="Arial" pitchFamily="34" charset="0"/>
                <a:ea typeface="Arial" pitchFamily="34" charset="-122"/>
                <a:cs typeface="Arial" pitchFamily="34" charset="-120"/>
              </a:rPr>
              <a:t>Each arrow is a real file dependency, not just a suggested order</a:t>
            </a:r>
            <a:endParaRPr lang="en-US" sz="1800" dirty="0"/>
          </a:p>
        </p:txBody>
      </p:sp>
      <p:sp>
        <p:nvSpPr>
          <p:cNvPr id="25" name="Text 23"/>
          <p:cNvSpPr/>
          <p:nvPr/>
        </p:nvSpPr>
        <p:spPr>
          <a:xfrm>
            <a:off x="457200" y="5690616"/>
            <a:ext cx="11274552" cy="893064"/>
          </a:xfrm>
          <a:prstGeom prst="rect">
            <a:avLst/>
          </a:prstGeom>
          <a:noFill/>
          <a:ln/>
        </p:spPr>
        <p:txBody>
          <a:bodyPr wrap="square" rtlCol="0" anchor="ctr"/>
          <a:lstStyle/>
          <a:p>
            <a:pPr marL="254000" indent="-254000">
              <a:buSzPct val="100000"/>
              <a:buChar char="•"/>
            </a:pPr>
            <a:r>
              <a:rPr lang="en-US" sz="1800" dirty="0">
                <a:solidFill>
                  <a:srgbClr val="D8F6FB"/>
                </a:solidFill>
                <a:latin typeface="Arial" pitchFamily="34" charset="0"/>
                <a:ea typeface="Arial" pitchFamily="34" charset="-122"/>
                <a:cs typeface="Arial" pitchFamily="34" charset="-120"/>
              </a:rPr>
              <a:t>By the time /speckit-implement runs, every decision has already been made and written down upstream</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/speckit-constitution — Why, First and Non-Negotiable</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Text 4"/>
          <p:cNvSpPr/>
          <p:nvPr/>
        </p:nvSpPr>
        <p:spPr>
          <a:xfrm>
            <a:off x="457200" y="1572768"/>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Reads: nothing — this is the first command run, typically against a near-empty repo</a:t>
            </a:r>
            <a:endParaRPr lang="en-US" sz="2200" dirty="0"/>
          </a:p>
        </p:txBody>
      </p:sp>
      <p:sp>
        <p:nvSpPr>
          <p:cNvPr id="7" name="Text 5"/>
          <p:cNvSpPr/>
          <p:nvPr/>
        </p:nvSpPr>
        <p:spPr>
          <a:xfrm>
            <a:off x="457200" y="2825496"/>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Writes: constitution.md — the project's non-negotiable principles</a:t>
            </a:r>
            <a:endParaRPr lang="en-US" sz="2200" dirty="0"/>
          </a:p>
        </p:txBody>
      </p:sp>
      <p:sp>
        <p:nvSpPr>
          <p:cNvPr id="8" name="Text 6"/>
          <p:cNvSpPr/>
          <p:nvPr/>
        </p:nvSpPr>
        <p:spPr>
          <a:xfrm>
            <a:off x="457200" y="4078224"/>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Example principles: Simplicity First (smallest implementation that satisfies the spec), Testable Requirements (every requirement can pass or fail), Illustrative Not Production (in-memory storage is fine — this is a teaching example)</a:t>
            </a:r>
            <a:endParaRPr lang="en-US" sz="2200" dirty="0"/>
          </a:p>
        </p:txBody>
      </p:sp>
      <p:sp>
        <p:nvSpPr>
          <p:cNvPr id="9" name="Text 7"/>
          <p:cNvSpPr/>
          <p:nvPr/>
        </p:nvSpPr>
        <p:spPr>
          <a:xfrm>
            <a:off x="457200" y="5330952"/>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Why it exists: it's the fixed point everything downstream is checked against</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/speckit-specify — What, in Testable Language</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Text 4"/>
          <p:cNvSpPr/>
          <p:nvPr/>
        </p:nvSpPr>
        <p:spPr>
          <a:xfrm>
            <a:off x="457200" y="1572768"/>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Reads: constitution.md</a:t>
            </a:r>
            <a:endParaRPr lang="en-US" sz="2200" dirty="0"/>
          </a:p>
        </p:txBody>
      </p:sp>
      <p:sp>
        <p:nvSpPr>
          <p:cNvPr id="7" name="Text 5"/>
          <p:cNvSpPr/>
          <p:nvPr/>
        </p:nvSpPr>
        <p:spPr>
          <a:xfrm>
            <a:off x="457200" y="2825496"/>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Writes: spec.md — user stories (each with priority P1/P2/P3 and an Independent Test), FR-### functional requirements, SC-### success criteria</a:t>
            </a:r>
            <a:endParaRPr lang="en-US" sz="2200" dirty="0"/>
          </a:p>
        </p:txBody>
      </p:sp>
      <p:sp>
        <p:nvSpPr>
          <p:cNvPr id="8" name="Text 6"/>
          <p:cNvSpPr/>
          <p:nvPr/>
        </p:nvSpPr>
        <p:spPr>
          <a:xfrm>
            <a:off x="457200" y="4078224"/>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Why: forces the "what" into testable, numbered language before anyone touches "how"</a:t>
            </a:r>
            <a:endParaRPr lang="en-US" sz="2200" dirty="0"/>
          </a:p>
        </p:txBody>
      </p:sp>
      <p:sp>
        <p:nvSpPr>
          <p:cNvPr id="9" name="Text 7"/>
          <p:cNvSpPr/>
          <p:nvPr/>
        </p:nvSpPr>
        <p:spPr>
          <a:xfrm>
            <a:off x="457200" y="5330952"/>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FR-### IDs get assigned the instant a requirement is written — that ID reappears in the plan, the tasks, and eventually a code comment</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/speckit-plan — How, Gated by the Constitution</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Text 4"/>
          <p:cNvSpPr/>
          <p:nvPr/>
        </p:nvSpPr>
        <p:spPr>
          <a:xfrm>
            <a:off x="457200" y="1572768"/>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Reads: spec.md, constitution.md</a:t>
            </a:r>
            <a:endParaRPr lang="en-US" sz="2200" dirty="0"/>
          </a:p>
        </p:txBody>
      </p:sp>
      <p:sp>
        <p:nvSpPr>
          <p:cNvPr id="7" name="Text 5"/>
          <p:cNvSpPr/>
          <p:nvPr/>
        </p:nvSpPr>
        <p:spPr>
          <a:xfrm>
            <a:off x="457200" y="2825496"/>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Writes: plan.md (Constitution Check table — every principle gets a PASS/FAIL verdict), research.md (Decision / Rationale / Alternatives), data-model.md, contracts/</a:t>
            </a:r>
            <a:endParaRPr lang="en-US" sz="2200" dirty="0"/>
          </a:p>
        </p:txBody>
      </p:sp>
      <p:sp>
        <p:nvSpPr>
          <p:cNvPr id="8" name="Text 6"/>
          <p:cNvSpPr/>
          <p:nvPr/>
        </p:nvSpPr>
        <p:spPr>
          <a:xfrm>
            <a:off x="457200" y="4078224"/>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Why: this is where "how" gets decided — and justified, in writing, before a line of code exists</a:t>
            </a:r>
            <a:endParaRPr lang="en-US" sz="2200" dirty="0"/>
          </a:p>
        </p:txBody>
      </p:sp>
      <p:sp>
        <p:nvSpPr>
          <p:cNvPr id="9" name="Text 7"/>
          <p:cNvSpPr/>
          <p:nvPr/>
        </p:nvSpPr>
        <p:spPr>
          <a:xfrm>
            <a:off x="457200" y="5330952"/>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Technology choices get made once, here, not improvised per-route later</a:t>
            </a:r>
            <a:endParaRPr lang="en-US" sz="2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/speckit-tasks — Order, Dependency-Mapped</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Text 4"/>
          <p:cNvSpPr/>
          <p:nvPr/>
        </p:nvSpPr>
        <p:spPr>
          <a:xfrm>
            <a:off x="457200" y="1572768"/>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Reads: plan.md, spec.md</a:t>
            </a:r>
            <a:endParaRPr lang="en-US" sz="2200" dirty="0"/>
          </a:p>
        </p:txBody>
      </p:sp>
      <p:sp>
        <p:nvSpPr>
          <p:cNvPr id="7" name="Text 5"/>
          <p:cNvSpPr/>
          <p:nvPr/>
        </p:nvSpPr>
        <p:spPr>
          <a:xfrm>
            <a:off x="457200" y="2825496"/>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Writes: tasks.md — phased (Setup, Foundational, one phase per user story, Polish), dependency-ordered checklist</a:t>
            </a:r>
            <a:endParaRPr lang="en-US" sz="2200" dirty="0"/>
          </a:p>
        </p:txBody>
      </p:sp>
      <p:sp>
        <p:nvSpPr>
          <p:cNvPr id="8" name="Text 6"/>
          <p:cNvSpPr/>
          <p:nvPr/>
        </p:nvSpPr>
        <p:spPr>
          <a:xfrm>
            <a:off x="457200" y="4078224"/>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[P] marks tasks that are parallelizable; [US1] / [US2] labels tie every task back to the story it satisfies</a:t>
            </a:r>
            <a:endParaRPr lang="en-US" sz="2200" dirty="0"/>
          </a:p>
        </p:txBody>
      </p:sp>
      <p:sp>
        <p:nvSpPr>
          <p:cNvPr id="9" name="Text 7"/>
          <p:cNvSpPr/>
          <p:nvPr/>
        </p:nvSpPr>
        <p:spPr>
          <a:xfrm>
            <a:off x="457200" y="5330952"/>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Why: turns "how" into an explicit, ordered execution plan an agent — or a human — can just follow top to bottom</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/speckit-implement — Execute, Top to Bottom</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Text 4"/>
          <p:cNvSpPr/>
          <p:nvPr/>
        </p:nvSpPr>
        <p:spPr>
          <a:xfrm>
            <a:off x="457200" y="1572768"/>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Reads: tasks.md (and everything upstream, by reference)</a:t>
            </a:r>
            <a:endParaRPr lang="en-US" sz="2200" dirty="0"/>
          </a:p>
        </p:txBody>
      </p:sp>
      <p:sp>
        <p:nvSpPr>
          <p:cNvPr id="7" name="Text 5"/>
          <p:cNvSpPr/>
          <p:nvPr/>
        </p:nvSpPr>
        <p:spPr>
          <a:xfrm>
            <a:off x="457200" y="2825496"/>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Writes: the actual source code</a:t>
            </a:r>
            <a:endParaRPr lang="en-US" sz="2200" dirty="0"/>
          </a:p>
        </p:txBody>
      </p:sp>
      <p:sp>
        <p:nvSpPr>
          <p:cNvPr id="8" name="Text 6"/>
          <p:cNvSpPr/>
          <p:nvPr/>
        </p:nvSpPr>
        <p:spPr>
          <a:xfrm>
            <a:off x="457200" y="4078224"/>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Executes tasks.md phase by phase, checking off each box — [ ] becomes [X] — as it completes it, from a passing check right now</a:t>
            </a:r>
            <a:endParaRPr lang="en-US" sz="2200" dirty="0"/>
          </a:p>
        </p:txBody>
      </p:sp>
      <p:sp>
        <p:nvSpPr>
          <p:cNvPr id="9" name="Text 7"/>
          <p:cNvSpPr/>
          <p:nvPr/>
        </p:nvSpPr>
        <p:spPr>
          <a:xfrm>
            <a:off x="457200" y="5330952"/>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Why it's boring on purpose: every naming decision, every error shape, every technology choice was already made and written down before this command ever ran</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Traceability: IDs That Don't Die at Handoff</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Shape 4"/>
          <p:cNvSpPr/>
          <p:nvPr/>
        </p:nvSpPr>
        <p:spPr>
          <a:xfrm>
            <a:off x="457200" y="1572768"/>
            <a:ext cx="5477256" cy="5010912"/>
          </a:xfrm>
          <a:prstGeom prst="rect">
            <a:avLst/>
          </a:prstGeom>
          <a:solidFill>
            <a:srgbClr val="060E10"/>
          </a:solidFill>
          <a:ln w="9525">
            <a:solidFill>
              <a:srgbClr val="00B4CC"/>
            </a:solidFill>
            <a:prstDash val="solid"/>
          </a:ln>
        </p:spPr>
      </p:sp>
      <p:sp>
        <p:nvSpPr>
          <p:cNvPr id="7" name="Text 5"/>
          <p:cNvSpPr/>
          <p:nvPr/>
        </p:nvSpPr>
        <p:spPr>
          <a:xfrm>
            <a:off x="640080" y="1709928"/>
            <a:ext cx="5111496" cy="4736592"/>
          </a:xfrm>
          <a:prstGeom prst="rect">
            <a:avLst/>
          </a:prstGeom>
          <a:noFill/>
          <a:ln/>
        </p:spPr>
        <p:txBody>
          <a:bodyPr wrap="none" rtlCol="0" anchor="t"/>
          <a:lstStyle/>
          <a:p>
            <a:pPr indent="0" marL="0">
              <a:buNone/>
            </a:pPr>
            <a:r>
              <a:rPr lang="en-US" sz="1400" dirty="0">
                <a:solidFill>
                  <a:srgbClr val="7EE8F5"/>
                </a:solidFill>
                <a:latin typeface="Consolas" pitchFamily="34" charset="0"/>
                <a:ea typeface="Consolas" pitchFamily="34" charset="-122"/>
                <a:cs typeface="Consolas" pitchFamily="34" charset="-120"/>
              </a:rPr>
              <a:t>spec.md -&gt; plan.md -&gt; tasks.md -&gt; src/</a:t>
            </a:r>
            <a:endParaRPr lang="en-US" sz="1400" dirty="0"/>
          </a:p>
          <a:p>
            <a:pPr indent="0" marL="0">
              <a:buNone/>
            </a:pPr>
            <a:endParaRPr lang="en-US" sz="1400" dirty="0"/>
          </a:p>
          <a:p>
            <a:pPr indent="0" marL="0">
              <a:buNone/>
            </a:pPr>
            <a:r>
              <a:rPr lang="en-US" sz="1400" dirty="0">
                <a:solidFill>
                  <a:srgbClr val="7EE8F5"/>
                </a:solidFill>
                <a:latin typeface="Consolas" pitchFamily="34" charset="0"/>
                <a:ea typeface="Consolas" pitchFamily="34" charset="-122"/>
                <a:cs typeface="Consolas" pitchFamily="34" charset="-120"/>
              </a:rPr>
              <a:t>US1, FR-001, SC-001</a:t>
            </a:r>
            <a:endParaRPr lang="en-US" sz="1400" dirty="0"/>
          </a:p>
          <a:p>
            <a:pPr indent="0" marL="0">
              <a:buNone/>
            </a:pPr>
            <a:r>
              <a:rPr lang="en-US" sz="1400" dirty="0">
                <a:solidFill>
                  <a:srgbClr val="7EE8F5"/>
                </a:solidFill>
                <a:latin typeface="Consolas" pitchFamily="34" charset="0"/>
                <a:ea typeface="Consolas" pitchFamily="34" charset="-122"/>
                <a:cs typeface="Consolas" pitchFamily="34" charset="-120"/>
              </a:rPr>
              <a:t>  -&gt; data-model.md refs FR-001</a:t>
            </a:r>
            <a:endParaRPr lang="en-US" sz="1400" dirty="0"/>
          </a:p>
          <a:p>
            <a:pPr indent="0" marL="0">
              <a:buNone/>
            </a:pPr>
            <a:r>
              <a:rPr lang="en-US" sz="1400" dirty="0">
                <a:solidFill>
                  <a:srgbClr val="7EE8F5"/>
                </a:solidFill>
                <a:latin typeface="Consolas" pitchFamily="34" charset="0"/>
                <a:ea typeface="Consolas" pitchFamily="34" charset="-122"/>
                <a:cs typeface="Consolas" pitchFamily="34" charset="-120"/>
              </a:rPr>
              <a:t>  -&gt; T003 [US1] in tasks.md</a:t>
            </a:r>
            <a:endParaRPr lang="en-US" sz="1400" dirty="0"/>
          </a:p>
          <a:p>
            <a:pPr indent="0" marL="0">
              <a:buNone/>
            </a:pPr>
            <a:r>
              <a:rPr lang="en-US" sz="1400" dirty="0">
                <a:solidFill>
                  <a:srgbClr val="7EE8F5"/>
                </a:solidFill>
                <a:latin typeface="Consolas" pitchFamily="34" charset="0"/>
                <a:ea typeface="Consolas" pitchFamily="34" charset="-122"/>
                <a:cs typeface="Consolas" pitchFamily="34" charset="-120"/>
              </a:rPr>
              <a:t>  -&gt; // FR-001: ... (real code</a:t>
            </a:r>
            <a:endParaRPr lang="en-US" sz="1400" dirty="0"/>
          </a:p>
          <a:p>
            <a:pPr indent="0" marL="0">
              <a:buNone/>
            </a:pPr>
            <a:r>
              <a:rPr lang="en-US" sz="1400" dirty="0">
                <a:solidFill>
                  <a:srgbClr val="7EE8F5"/>
                </a:solidFill>
                <a:latin typeface="Consolas" pitchFamily="34" charset="0"/>
                <a:ea typeface="Consolas" pitchFamily="34" charset="-122"/>
                <a:cs typeface="Consolas" pitchFamily="34" charset="-120"/>
              </a:rPr>
              <a:t>     comment, not added after)</a:t>
            </a:r>
            <a:endParaRPr lang="en-US" sz="1400" dirty="0"/>
          </a:p>
        </p:txBody>
      </p:sp>
      <p:sp>
        <p:nvSpPr>
          <p:cNvPr id="8" name="Shape 6"/>
          <p:cNvSpPr/>
          <p:nvPr/>
        </p:nvSpPr>
        <p:spPr>
          <a:xfrm>
            <a:off x="6254496" y="1572768"/>
            <a:ext cx="5477256" cy="1463040"/>
          </a:xfrm>
          <a:prstGeom prst="rect">
            <a:avLst/>
          </a:prstGeom>
          <a:solidFill>
            <a:srgbClr val="060E10"/>
          </a:solidFill>
          <a:ln w="9525">
            <a:solidFill>
              <a:srgbClr val="00B4CC"/>
            </a:solidFill>
            <a:prstDash val="solid"/>
          </a:ln>
        </p:spPr>
      </p:sp>
      <p:sp>
        <p:nvSpPr>
          <p:cNvPr id="9" name="Text 7"/>
          <p:cNvSpPr/>
          <p:nvPr/>
        </p:nvSpPr>
        <p:spPr>
          <a:xfrm>
            <a:off x="6437376" y="1709928"/>
            <a:ext cx="5111496" cy="1188720"/>
          </a:xfrm>
          <a:prstGeom prst="rect">
            <a:avLst/>
          </a:prstGeom>
          <a:noFill/>
          <a:ln/>
        </p:spPr>
        <p:txBody>
          <a:bodyPr wrap="none" rtlCol="0" anchor="t"/>
          <a:lstStyle/>
          <a:p>
            <a:pPr indent="0" marL="0">
              <a:buNone/>
            </a:pPr>
            <a:r>
              <a:rPr lang="en-US" sz="1400" dirty="0">
                <a:solidFill>
                  <a:srgbClr val="7EE8F5"/>
                </a:solidFill>
                <a:latin typeface="Consolas" pitchFamily="34" charset="0"/>
                <a:ea typeface="Consolas" pitchFamily="34" charset="-122"/>
                <a:cs typeface="Consolas" pitchFamily="34" charset="-120"/>
              </a:rPr>
              <a:t>grep -rn "FR-" src/</a:t>
            </a:r>
            <a:endParaRPr lang="en-US" sz="1400" dirty="0"/>
          </a:p>
          <a:p>
            <a:pPr indent="0" marL="0">
              <a:buNone/>
            </a:pPr>
            <a:r>
              <a:rPr lang="en-US" sz="1400" dirty="0">
                <a:solidFill>
                  <a:srgbClr val="7EE8F5"/>
                </a:solidFill>
                <a:latin typeface="Consolas" pitchFamily="34" charset="0"/>
                <a:ea typeface="Consolas" pitchFamily="34" charset="-122"/>
                <a:cs typeface="Consolas" pitchFamily="34" charset="-120"/>
              </a:rPr>
              <a:t># -&gt; every requirement ID sitting</a:t>
            </a:r>
            <a:endParaRPr lang="en-US" sz="1400" dirty="0"/>
          </a:p>
          <a:p>
            <a:pPr indent="0" marL="0">
              <a:buNone/>
            </a:pPr>
            <a:r>
              <a:rPr lang="en-US" sz="1400" dirty="0">
                <a:solidFill>
                  <a:srgbClr val="7EE8F5"/>
                </a:solidFill>
                <a:latin typeface="Consolas" pitchFamily="34" charset="0"/>
                <a:ea typeface="Consolas" pitchFamily="34" charset="-122"/>
                <a:cs typeface="Consolas" pitchFamily="34" charset="-120"/>
              </a:rPr>
              <a:t>#    in a code comment at the</a:t>
            </a:r>
            <a:endParaRPr lang="en-US" sz="1400" dirty="0"/>
          </a:p>
          <a:p>
            <a:pPr indent="0" marL="0">
              <a:buNone/>
            </a:pPr>
            <a:r>
              <a:rPr lang="en-US" sz="1400" dirty="0">
                <a:solidFill>
                  <a:srgbClr val="7EE8F5"/>
                </a:solidFill>
                <a:latin typeface="Consolas" pitchFamily="34" charset="0"/>
                <a:ea typeface="Consolas" pitchFamily="34" charset="-122"/>
                <a:cs typeface="Consolas" pitchFamily="34" charset="-120"/>
              </a:rPr>
              <a:t>#    exact line that satisfies it</a:t>
            </a:r>
            <a:endParaRPr lang="en-US" sz="1400" dirty="0"/>
          </a:p>
        </p:txBody>
      </p:sp>
      <p:sp>
        <p:nvSpPr>
          <p:cNvPr id="10" name="Text 8"/>
          <p:cNvSpPr/>
          <p:nvPr/>
        </p:nvSpPr>
        <p:spPr>
          <a:xfrm>
            <a:off x="6254496" y="3218688"/>
            <a:ext cx="5477256" cy="1121664"/>
          </a:xfrm>
          <a:prstGeom prst="rect">
            <a:avLst/>
          </a:prstGeom>
          <a:noFill/>
          <a:ln/>
        </p:spPr>
        <p:txBody>
          <a:bodyPr wrap="square" rtlCol="0" anchor="ctr"/>
          <a:lstStyle/>
          <a:p>
            <a:pPr marL="254000" indent="-254000">
              <a:buSzPct val="100000"/>
              <a:buChar char="•"/>
            </a:pPr>
            <a:r>
              <a:rPr lang="en-US" sz="1600" dirty="0">
                <a:solidFill>
                  <a:srgbClr val="D8F6FB"/>
                </a:solidFill>
                <a:latin typeface="Arial" pitchFamily="34" charset="0"/>
                <a:ea typeface="Arial" pitchFamily="34" charset="-122"/>
                <a:cs typeface="Arial" pitchFamily="34" charset="-120"/>
              </a:rPr>
              <a:t>FR-### and SC-### are born in spec.md; US# tags a user story; T### tags a task</a:t>
            </a:r>
            <a:endParaRPr lang="en-US" sz="1600" dirty="0"/>
          </a:p>
        </p:txBody>
      </p:sp>
      <p:sp>
        <p:nvSpPr>
          <p:cNvPr id="11" name="Text 9"/>
          <p:cNvSpPr/>
          <p:nvPr/>
        </p:nvSpPr>
        <p:spPr>
          <a:xfrm>
            <a:off x="6254496" y="4340352"/>
            <a:ext cx="5477256" cy="1121664"/>
          </a:xfrm>
          <a:prstGeom prst="rect">
            <a:avLst/>
          </a:prstGeom>
          <a:noFill/>
          <a:ln/>
        </p:spPr>
        <p:txBody>
          <a:bodyPr wrap="square" rtlCol="0" anchor="ctr"/>
          <a:lstStyle/>
          <a:p>
            <a:pPr marL="254000" indent="-254000">
              <a:buSzPct val="100000"/>
              <a:buChar char="•"/>
            </a:pPr>
            <a:r>
              <a:rPr lang="en-US" sz="1600" dirty="0">
                <a:solidFill>
                  <a:srgbClr val="D8F6FB"/>
                </a:solidFill>
                <a:latin typeface="Arial" pitchFamily="34" charset="0"/>
                <a:ea typeface="Arial" pitchFamily="34" charset="-122"/>
                <a:cs typeface="Arial" pitchFamily="34" charset="-120"/>
              </a:rPr>
              <a:t>Every ID threads spec → plan → tasks → a literal code comment at the line that satisfies it</a:t>
            </a:r>
            <a:endParaRPr lang="en-US" sz="1600" dirty="0"/>
          </a:p>
        </p:txBody>
      </p:sp>
      <p:sp>
        <p:nvSpPr>
          <p:cNvPr id="12" name="Text 10"/>
          <p:cNvSpPr/>
          <p:nvPr/>
        </p:nvSpPr>
        <p:spPr>
          <a:xfrm>
            <a:off x="6254496" y="5462016"/>
            <a:ext cx="5477256" cy="1121664"/>
          </a:xfrm>
          <a:prstGeom prst="rect">
            <a:avLst/>
          </a:prstGeom>
          <a:noFill/>
          <a:ln/>
        </p:spPr>
        <p:txBody>
          <a:bodyPr wrap="square" rtlCol="0" anchor="ctr"/>
          <a:lstStyle/>
          <a:p>
            <a:pPr marL="254000" indent="-254000">
              <a:buSzPct val="100000"/>
              <a:buChar char="•"/>
            </a:pPr>
            <a:r>
              <a:rPr lang="en-US" sz="1600" dirty="0">
                <a:solidFill>
                  <a:srgbClr val="D8F6FB"/>
                </a:solidFill>
                <a:latin typeface="Arial" pitchFamily="34" charset="0"/>
                <a:ea typeface="Arial" pitchFamily="34" charset="-122"/>
                <a:cs typeface="Arial" pitchFamily="34" charset="-120"/>
              </a:rPr>
              <a:t>Concretely, once implementation is done: this grep is the cheapest possible demo of "the code traces back to a decision" — real output, not a diagram</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Key Insight</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Shape 4"/>
          <p:cNvSpPr/>
          <p:nvPr/>
        </p:nvSpPr>
        <p:spPr>
          <a:xfrm>
            <a:off x="457200" y="2029968"/>
            <a:ext cx="11274552" cy="4096512"/>
          </a:xfrm>
          <a:prstGeom prst="rect">
            <a:avLst/>
          </a:prstGeom>
          <a:solidFill>
            <a:srgbClr val="003A47"/>
          </a:solidFill>
          <a:ln w="25400">
            <a:solidFill>
              <a:srgbClr val="00B4CC"/>
            </a:solidFill>
            <a:prstDash val="solid"/>
          </a:ln>
        </p:spPr>
      </p:sp>
      <p:sp>
        <p:nvSpPr>
          <p:cNvPr id="7" name="Shape 5"/>
          <p:cNvSpPr/>
          <p:nvPr/>
        </p:nvSpPr>
        <p:spPr>
          <a:xfrm>
            <a:off x="457200" y="2029968"/>
            <a:ext cx="73152" cy="4096512"/>
          </a:xfrm>
          <a:prstGeom prst="rect">
            <a:avLst/>
          </a:prstGeom>
          <a:solidFill>
            <a:srgbClr val="00B4CC"/>
          </a:solidFill>
          <a:ln w="12700">
            <a:solidFill>
              <a:srgbClr val="00B4CC"/>
            </a:solidFill>
            <a:prstDash val="solid"/>
          </a:ln>
        </p:spPr>
      </p:sp>
      <p:sp>
        <p:nvSpPr>
          <p:cNvPr id="8" name="Text 6"/>
          <p:cNvSpPr/>
          <p:nvPr/>
        </p:nvSpPr>
        <p:spPr>
          <a:xfrm>
            <a:off x="685800" y="2167128"/>
            <a:ext cx="10954512" cy="3822192"/>
          </a:xfrm>
          <a:prstGeom prst="rect">
            <a:avLst/>
          </a:prstGeom>
          <a:noFill/>
          <a:ln/>
        </p:spPr>
        <p:txBody>
          <a:bodyPr wrap="square" rtlCol="0" anchor="ctr"/>
          <a:lstStyle/>
          <a:p>
            <a:pPr indent="0" marL="0">
              <a:buNone/>
            </a:pPr>
            <a:r>
              <a:rPr lang="en-US" sz="2200" b="1" dirty="0">
                <a:solidFill>
                  <a:srgbClr val="D8F6FB"/>
                </a:solidFill>
                <a:latin typeface="Arial" pitchFamily="34" charset="0"/>
                <a:ea typeface="Arial" pitchFamily="34" charset="-122"/>
                <a:cs typeface="Arial" pitchFamily="34" charset="-120"/>
              </a:rPr>
              <a:t>The traceability IDs are the load-bearing wall.</a:t>
            </a:r>
            <a:endParaRPr lang="en-US" sz="2200" dirty="0"/>
          </a:p>
          <a:p>
            <a:pPr indent="0" marL="0">
              <a:buNone/>
            </a:pPr>
            <a:r>
              <a:rPr lang="en-US" sz="2200" dirty="0">
                <a:solidFill>
                  <a:srgbClr val="D8F6FB"/>
                </a:solidFill>
                <a:latin typeface="Arial" pitchFamily="34" charset="0"/>
                <a:ea typeface="Arial" pitchFamily="34" charset="-122"/>
                <a:cs typeface="Arial" pitchFamily="34" charset="-120"/>
              </a:rPr>
              <a:t>Constitution, spec, plan, and tasks are scaffolding built to make sure an FR-### number means the same thing in the requirement, the design, the checklist, and the code.</a:t>
            </a:r>
            <a:endParaRPr lang="en-US" sz="2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3A47"/>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00B4CC"/>
          </a:solidFill>
          <a:ln w="12700">
            <a:solidFill>
              <a:srgbClr val="00B4CC"/>
            </a:solidFill>
            <a:prstDash val="solid"/>
          </a:ln>
        </p:spPr>
      </p:sp>
      <p:sp>
        <p:nvSpPr>
          <p:cNvPr id="3" name="Text 1"/>
          <p:cNvSpPr/>
          <p:nvPr/>
        </p:nvSpPr>
        <p:spPr>
          <a:xfrm>
            <a:off x="457200" y="2103120"/>
            <a:ext cx="11274552" cy="1463040"/>
          </a:xfrm>
          <a:prstGeom prst="rect">
            <a:avLst/>
          </a:prstGeom>
          <a:noFill/>
          <a:ln/>
        </p:spPr>
        <p:txBody>
          <a:bodyPr wrap="square" rtlCol="0" anchor="ctr"/>
          <a:lstStyle/>
          <a:p>
            <a:pPr algn="ctr" indent="0" marL="0">
              <a:buNone/>
            </a:pPr>
            <a:r>
              <a:rPr lang="en-US" sz="4800" b="1" dirty="0">
                <a:solidFill>
                  <a:srgbClr val="D8F6FB"/>
                </a:solidFill>
                <a:latin typeface="Arial" pitchFamily="34" charset="0"/>
                <a:ea typeface="Arial" pitchFamily="34" charset="-122"/>
                <a:cs typeface="Arial" pitchFamily="34" charset="-120"/>
              </a:rPr>
              <a:t>Optional Rigor &amp; Team Scale</a:t>
            </a:r>
            <a:endParaRPr lang="en-US" sz="4800" dirty="0"/>
          </a:p>
        </p:txBody>
      </p:sp>
      <p:sp>
        <p:nvSpPr>
          <p:cNvPr id="4" name="Text 2"/>
          <p:cNvSpPr/>
          <p:nvPr/>
        </p:nvSpPr>
        <p:spPr>
          <a:xfrm>
            <a:off x="457200" y="3749040"/>
            <a:ext cx="11274552" cy="640080"/>
          </a:xfrm>
          <a:prstGeom prst="rect">
            <a:avLst/>
          </a:prstGeom>
          <a:noFill/>
          <a:ln/>
        </p:spPr>
        <p:txBody>
          <a:bodyPr wrap="square" rtlCol="0" anchor="ctr"/>
          <a:lstStyle/>
          <a:p>
            <a:pPr algn="ctr" indent="0" marL="0">
              <a:buNone/>
            </a:pPr>
            <a:r>
              <a:rPr lang="en-US" sz="2200" dirty="0">
                <a:solidFill>
                  <a:srgbClr val="5098A8"/>
                </a:solidFill>
                <a:latin typeface="Arial" pitchFamily="34" charset="0"/>
                <a:ea typeface="Arial" pitchFamily="34" charset="-122"/>
                <a:cs typeface="Arial" pitchFamily="34" charset="-120"/>
              </a:rPr>
              <a:t>Five more commands, and what happens past one person</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Five Enhancement Commands, One Line Each</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572768"/>
          <a:ext cx="11274552" cy="914400"/>
        </p:xfrm>
        <a:graphic>
          <a:graphicData uri="http://schemas.openxmlformats.org/drawingml/2006/table">
            <a:tbl>
              <a:tblPr/>
              <a:tblGrid>
                <a:gridCol w="2743200"/>
                <a:gridCol w="7616952"/>
              </a:tblGrid>
              <a:tr h="835152">
                <a:tc>
                  <a:txBody>
                    <a:bodyPr/>
                    <a:lstStyle/>
                    <a:p>
                      <a:pPr algn="l" indent="0" marL="0">
                        <a:buNone/>
                      </a:pPr>
                      <a:r>
                        <a:rPr lang="en-US" sz="1800" b="1" dirty="0">
                          <a:solidFill>
                            <a:srgbClr val="00DFFC"/>
                          </a:solidFill>
                          <a:latin typeface="Arial" pitchFamily="34" charset="0"/>
                          <a:ea typeface="Arial" pitchFamily="34" charset="-122"/>
                          <a:cs typeface="Arial" pitchFamily="34" charset="-120"/>
                        </a:rPr>
                        <a:t>Command</a:t>
                      </a:r>
                      <a:endParaRPr lang="en-US" sz="1800" dirty="0">
                        <a:latin typeface="Arial" charset="0"/>
                        <a:ea typeface="Arial" charset="0"/>
                        <a:cs typeface="Arial" charset="0"/>
                      </a:endParaRPr>
                    </a:p>
                  </a:txBody>
                  <a:tcPr marL="91440" marR="91440" marT="45720" marB="45720" anchor="ctr">
                    <a:lnL w="9525" cap="flat" cmpd="sng" algn="ctr">
                      <a:solidFill>
                        <a:srgbClr val="00B4CC"/>
                      </a:solidFill>
                      <a:prstDash val="solid"/>
                      <a:round/>
                      <a:headEnd type="none" w="med" len="med"/>
                      <a:tailEnd type="none" w="med" len="med"/>
                    </a:lnL>
                    <a:lnR w="9525" cap="flat" cmpd="sng" algn="ctr">
                      <a:solidFill>
                        <a:srgbClr val="00B4CC"/>
                      </a:solidFill>
                      <a:prstDash val="solid"/>
                      <a:round/>
                      <a:headEnd type="none" w="med" len="med"/>
                      <a:tailEnd type="none" w="med" len="med"/>
                    </a:lnR>
                    <a:lnT w="9525" cap="flat" cmpd="sng" algn="ctr">
                      <a:solidFill>
                        <a:srgbClr val="00B4CC"/>
                      </a:solidFill>
                      <a:prstDash val="solid"/>
                      <a:round/>
                      <a:headEnd type="none" w="med" len="med"/>
                      <a:tailEnd type="none" w="med" len="med"/>
                    </a:lnT>
                    <a:lnB w="9525" cap="flat" cmpd="sng" algn="ctr">
                      <a:solidFill>
                        <a:srgbClr val="00B4CC"/>
                      </a:solidFill>
                      <a:prstDash val="solid"/>
                      <a:round/>
                      <a:headEnd type="none" w="med" len="med"/>
                      <a:tailEnd type="none" w="med" len="med"/>
                    </a:lnB>
                    <a:solidFill>
                      <a:srgbClr val="003A47"/>
                    </a:solidFill>
                  </a:tcPr>
                </a:tc>
                <a:tc>
                  <a:txBody>
                    <a:bodyPr/>
                    <a:lstStyle/>
                    <a:p>
                      <a:pPr algn="l" indent="0" marL="0">
                        <a:buNone/>
                      </a:pPr>
                      <a:r>
                        <a:rPr lang="en-US" sz="1800" b="1" dirty="0">
                          <a:solidFill>
                            <a:srgbClr val="00DFFC"/>
                          </a:solidFill>
                          <a:latin typeface="Arial" pitchFamily="34" charset="0"/>
                          <a:ea typeface="Arial" pitchFamily="34" charset="-122"/>
                          <a:cs typeface="Arial" pitchFamily="34" charset="-120"/>
                        </a:rPr>
                        <a:t>Purpose</a:t>
                      </a:r>
                      <a:endParaRPr lang="en-US" sz="1800" dirty="0">
                        <a:latin typeface="Arial" charset="0"/>
                        <a:ea typeface="Arial" charset="0"/>
                        <a:cs typeface="Arial" charset="0"/>
                      </a:endParaRPr>
                    </a:p>
                  </a:txBody>
                  <a:tcPr marL="91440" marR="91440" marT="45720" marB="45720" anchor="ctr">
                    <a:lnL w="9525" cap="flat" cmpd="sng" algn="ctr">
                      <a:solidFill>
                        <a:srgbClr val="00B4CC"/>
                      </a:solidFill>
                      <a:prstDash val="solid"/>
                      <a:round/>
                      <a:headEnd type="none" w="med" len="med"/>
                      <a:tailEnd type="none" w="med" len="med"/>
                    </a:lnL>
                    <a:lnR w="9525" cap="flat" cmpd="sng" algn="ctr">
                      <a:solidFill>
                        <a:srgbClr val="00B4CC"/>
                      </a:solidFill>
                      <a:prstDash val="solid"/>
                      <a:round/>
                      <a:headEnd type="none" w="med" len="med"/>
                      <a:tailEnd type="none" w="med" len="med"/>
                    </a:lnR>
                    <a:lnT w="9525" cap="flat" cmpd="sng" algn="ctr">
                      <a:solidFill>
                        <a:srgbClr val="00B4CC"/>
                      </a:solidFill>
                      <a:prstDash val="solid"/>
                      <a:round/>
                      <a:headEnd type="none" w="med" len="med"/>
                      <a:tailEnd type="none" w="med" len="med"/>
                    </a:lnT>
                    <a:lnB w="9525" cap="flat" cmpd="sng" algn="ctr">
                      <a:solidFill>
                        <a:srgbClr val="00B4CC"/>
                      </a:solidFill>
                      <a:prstDash val="solid"/>
                      <a:round/>
                      <a:headEnd type="none" w="med" len="med"/>
                      <a:tailEnd type="none" w="med" len="med"/>
                    </a:lnB>
                    <a:solidFill>
                      <a:srgbClr val="003A47"/>
                    </a:solidFill>
                  </a:tcPr>
                </a:tc>
              </a:tr>
              <a:tr h="835152">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/speckit-clarify</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Asks up to five targeted questions and writes the answers directly back into spec.md — part of the permanent record</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r>
              <a:tr h="835152">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/speckit-checklist</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A1A1C"/>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A unit test for the spec's writing: checks for unquantified terms before ambiguity becomes a coding decision made under pressure</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A1A1C"/>
                    </a:solidFill>
                  </a:tcPr>
                </a:tc>
              </a:tr>
              <a:tr h="835152">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/speckit-analyze</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Read-only; cross-checks spec, plan, and tasks against each other and against the constitution before any code exists</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r>
              <a:tr h="835152">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/speckit-converge</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A1A1C"/>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Compares what spec/plan/tasks call for against what the code actually does right now, and appends a task if it finds drift</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A1A1C"/>
                    </a:solidFill>
                  </a:tcPr>
                </a:tc>
              </a:tr>
              <a:tr h="835152">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/speckit-taskstoissues</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Exports tasks.md into tracked issues for teams that live in an issue tracker rather than a checklist file</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Teaser: This Doesn't Stay Solo</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Text 4"/>
          <p:cNvSpPr/>
          <p:nvPr/>
        </p:nvSpPr>
        <p:spPr>
          <a:xfrm>
            <a:off x="457200" y="1572768"/>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Everything up to this slide assumes one person, one branch, one pass through the pipeline</a:t>
            </a:r>
            <a:endParaRPr lang="en-US" sz="2200" dirty="0"/>
          </a:p>
        </p:txBody>
      </p:sp>
      <p:sp>
        <p:nvSpPr>
          <p:cNvPr id="7" name="Text 5"/>
          <p:cNvSpPr/>
          <p:nvPr/>
        </p:nvSpPr>
        <p:spPr>
          <a:xfrm>
            <a:off x="457200" y="2825496"/>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At team scale: concurrent branches each running their own spec-kit pipeline, a constitution amendment rippling into specs already in flight, real merge conflicts — in plan.md and tasks.md, not just source code</a:t>
            </a:r>
            <a:endParaRPr lang="en-US" sz="2200" dirty="0"/>
          </a:p>
        </p:txBody>
      </p:sp>
      <p:sp>
        <p:nvSpPr>
          <p:cNvPr id="8" name="Text 6"/>
          <p:cNvSpPr/>
          <p:nvPr/>
        </p:nvSpPr>
        <p:spPr>
          <a:xfrm>
            <a:off x="457200" y="4078224"/>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Not covered in depth here — that's a separate repo, speckit-complex-demo: three contributors, concurrent branches, a mid-project constitution amendment, two real merge conflicts</a:t>
            </a:r>
            <a:endParaRPr lang="en-US" sz="2200" dirty="0"/>
          </a:p>
        </p:txBody>
      </p:sp>
      <p:sp>
        <p:nvSpPr>
          <p:cNvPr id="9" name="Text 7"/>
          <p:cNvSpPr/>
          <p:nvPr/>
        </p:nvSpPr>
        <p:spPr>
          <a:xfrm>
            <a:off x="457200" y="5330952"/>
            <a:ext cx="11274552" cy="125272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Today's demo is the on-ramp version — worth running once solo before you watch the team-scale one</a:t>
            </a:r>
            <a:endParaRPr lang="en-US" sz="2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When to Use / When Not to Use</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Text 4"/>
          <p:cNvSpPr/>
          <p:nvPr/>
        </p:nvSpPr>
        <p:spPr>
          <a:xfrm>
            <a:off x="457200" y="1572768"/>
            <a:ext cx="5477256" cy="457200"/>
          </a:xfrm>
          <a:prstGeom prst="rect">
            <a:avLst/>
          </a:prstGeom>
          <a:noFill/>
          <a:ln/>
        </p:spPr>
        <p:txBody>
          <a:bodyPr wrap="square" rtlCol="0" anchor="ctr"/>
          <a:lstStyle/>
          <a:p>
            <a:pPr indent="0" marL="0">
              <a:buNone/>
            </a:pPr>
            <a:r>
              <a:rPr lang="en-US" sz="2200" b="1" dirty="0">
                <a:solidFill>
                  <a:srgbClr val="00DFFC"/>
                </a:solidFill>
                <a:latin typeface="Arial" pitchFamily="34" charset="0"/>
                <a:ea typeface="Arial" pitchFamily="34" charset="-122"/>
                <a:cs typeface="Arial" pitchFamily="34" charset="-120"/>
              </a:rPr>
              <a:t>When to Use</a:t>
            </a:r>
            <a:endParaRPr lang="en-US" sz="2200" dirty="0"/>
          </a:p>
        </p:txBody>
      </p:sp>
      <p:sp>
        <p:nvSpPr>
          <p:cNvPr id="7" name="Text 5"/>
          <p:cNvSpPr/>
          <p:nvPr/>
        </p:nvSpPr>
        <p:spPr>
          <a:xfrm>
            <a:off x="457200" y="2167128"/>
            <a:ext cx="5477256" cy="1104138"/>
          </a:xfrm>
          <a:prstGeom prst="rect">
            <a:avLst/>
          </a:prstGeom>
          <a:noFill/>
          <a:ln/>
        </p:spPr>
        <p:txBody>
          <a:bodyPr wrap="square" rtlCol="0" anchor="ctr"/>
          <a:lstStyle/>
          <a:p>
            <a:pPr marL="254000" indent="-254000">
              <a:buSzPct val="100000"/>
              <a:buChar char="•"/>
            </a:pPr>
            <a:r>
              <a:rPr lang="en-US" sz="1800" dirty="0">
                <a:solidFill>
                  <a:srgbClr val="D8F6FB"/>
                </a:solidFill>
                <a:latin typeface="Arial" pitchFamily="34" charset="0"/>
                <a:ea typeface="Arial" pitchFamily="34" charset="-122"/>
                <a:cs typeface="Arial" pitchFamily="34" charset="-120"/>
              </a:rPr>
              <a:t>Production features with real stakeholders</a:t>
            </a:r>
            <a:endParaRPr lang="en-US" sz="1800" dirty="0"/>
          </a:p>
        </p:txBody>
      </p:sp>
      <p:sp>
        <p:nvSpPr>
          <p:cNvPr id="8" name="Text 6"/>
          <p:cNvSpPr/>
          <p:nvPr/>
        </p:nvSpPr>
        <p:spPr>
          <a:xfrm>
            <a:off x="457200" y="3271266"/>
            <a:ext cx="5477256" cy="1104138"/>
          </a:xfrm>
          <a:prstGeom prst="rect">
            <a:avLst/>
          </a:prstGeom>
          <a:noFill/>
          <a:ln/>
        </p:spPr>
        <p:txBody>
          <a:bodyPr wrap="square" rtlCol="0" anchor="ctr"/>
          <a:lstStyle/>
          <a:p>
            <a:pPr marL="254000" indent="-254000">
              <a:buSzPct val="100000"/>
              <a:buChar char="•"/>
            </a:pPr>
            <a:r>
              <a:rPr lang="en-US" sz="1800" dirty="0">
                <a:solidFill>
                  <a:srgbClr val="D8F6FB"/>
                </a:solidFill>
                <a:latin typeface="Arial" pitchFamily="34" charset="0"/>
                <a:ea typeface="Arial" pitchFamily="34" charset="-122"/>
                <a:cs typeface="Arial" pitchFamily="34" charset="-120"/>
              </a:rPr>
              <a:t>Cross-team surfaces where naming and contracts matter</a:t>
            </a:r>
            <a:endParaRPr lang="en-US" sz="1800" dirty="0"/>
          </a:p>
        </p:txBody>
      </p:sp>
      <p:sp>
        <p:nvSpPr>
          <p:cNvPr id="9" name="Text 7"/>
          <p:cNvSpPr/>
          <p:nvPr/>
        </p:nvSpPr>
        <p:spPr>
          <a:xfrm>
            <a:off x="457200" y="4375404"/>
            <a:ext cx="5477256" cy="1104138"/>
          </a:xfrm>
          <a:prstGeom prst="rect">
            <a:avLst/>
          </a:prstGeom>
          <a:noFill/>
          <a:ln/>
        </p:spPr>
        <p:txBody>
          <a:bodyPr wrap="square" rtlCol="0" anchor="ctr"/>
          <a:lstStyle/>
          <a:p>
            <a:pPr marL="254000" indent="-254000">
              <a:buSzPct val="100000"/>
              <a:buChar char="•"/>
            </a:pPr>
            <a:r>
              <a:rPr lang="en-US" sz="1800" dirty="0">
                <a:solidFill>
                  <a:srgbClr val="D8F6FB"/>
                </a:solidFill>
                <a:latin typeface="Arial" pitchFamily="34" charset="0"/>
                <a:ea typeface="Arial" pitchFamily="34" charset="-122"/>
                <a:cs typeface="Arial" pitchFamily="34" charset="-120"/>
              </a:rPr>
              <a:t>Anything you'll have to explain to someone else in six months</a:t>
            </a:r>
            <a:endParaRPr lang="en-US" sz="1800" dirty="0"/>
          </a:p>
        </p:txBody>
      </p:sp>
      <p:sp>
        <p:nvSpPr>
          <p:cNvPr id="10" name="Text 8"/>
          <p:cNvSpPr/>
          <p:nvPr/>
        </p:nvSpPr>
        <p:spPr>
          <a:xfrm>
            <a:off x="457200" y="5479542"/>
            <a:ext cx="5477256" cy="1104138"/>
          </a:xfrm>
          <a:prstGeom prst="rect">
            <a:avLst/>
          </a:prstGeom>
          <a:noFill/>
          <a:ln/>
        </p:spPr>
        <p:txBody>
          <a:bodyPr wrap="square" rtlCol="0" anchor="ctr"/>
          <a:lstStyle/>
          <a:p>
            <a:pPr marL="254000" indent="-254000">
              <a:buSzPct val="100000"/>
              <a:buChar char="•"/>
            </a:pPr>
            <a:r>
              <a:rPr lang="en-US" sz="1800" dirty="0">
                <a:solidFill>
                  <a:srgbClr val="D8F6FB"/>
                </a:solidFill>
                <a:latin typeface="Arial" pitchFamily="34" charset="0"/>
                <a:ea typeface="Arial" pitchFamily="34" charset="-122"/>
                <a:cs typeface="Arial" pitchFamily="34" charset="-120"/>
              </a:rPr>
              <a:t>Features where "why did we do it this way" will get asked in a postmortem — or an interview</a:t>
            </a:r>
            <a:endParaRPr lang="en-US" sz="1800" dirty="0"/>
          </a:p>
        </p:txBody>
      </p:sp>
      <p:sp>
        <p:nvSpPr>
          <p:cNvPr id="11" name="Text 9"/>
          <p:cNvSpPr/>
          <p:nvPr/>
        </p:nvSpPr>
        <p:spPr>
          <a:xfrm>
            <a:off x="6254496" y="1572768"/>
            <a:ext cx="5477256" cy="457200"/>
          </a:xfrm>
          <a:prstGeom prst="rect">
            <a:avLst/>
          </a:prstGeom>
          <a:noFill/>
          <a:ln/>
        </p:spPr>
        <p:txBody>
          <a:bodyPr wrap="square" rtlCol="0" anchor="ctr"/>
          <a:lstStyle/>
          <a:p>
            <a:pPr indent="0" marL="0">
              <a:buNone/>
            </a:pPr>
            <a:r>
              <a:rPr lang="en-US" sz="2200" b="1" dirty="0">
                <a:solidFill>
                  <a:srgbClr val="5098A8"/>
                </a:solidFill>
                <a:latin typeface="Arial" pitchFamily="34" charset="0"/>
                <a:ea typeface="Arial" pitchFamily="34" charset="-122"/>
                <a:cs typeface="Arial" pitchFamily="34" charset="-120"/>
              </a:rPr>
              <a:t>When Not To</a:t>
            </a:r>
            <a:endParaRPr lang="en-US" sz="2200" dirty="0"/>
          </a:p>
        </p:txBody>
      </p:sp>
      <p:sp>
        <p:nvSpPr>
          <p:cNvPr id="12" name="Text 10"/>
          <p:cNvSpPr/>
          <p:nvPr/>
        </p:nvSpPr>
        <p:spPr>
          <a:xfrm>
            <a:off x="6254496" y="2167128"/>
            <a:ext cx="5477256" cy="1104138"/>
          </a:xfrm>
          <a:prstGeom prst="rect">
            <a:avLst/>
          </a:prstGeom>
          <a:noFill/>
          <a:ln/>
        </p:spPr>
        <p:txBody>
          <a:bodyPr wrap="square" rtlCol="0" anchor="ctr"/>
          <a:lstStyle/>
          <a:p>
            <a:pPr marL="254000" indent="-254000">
              <a:buSzPct val="100000"/>
              <a:buChar char="•"/>
            </a:pPr>
            <a:r>
              <a:rPr lang="en-US" sz="1800" dirty="0">
                <a:solidFill>
                  <a:srgbClr val="D8F6FB"/>
                </a:solidFill>
                <a:latin typeface="Arial" pitchFamily="34" charset="0"/>
                <a:ea typeface="Arial" pitchFamily="34" charset="-122"/>
                <a:cs typeface="Arial" pitchFamily="34" charset="-120"/>
              </a:rPr>
              <a:t>True throwaway prototypes and spikes</a:t>
            </a:r>
            <a:endParaRPr lang="en-US" sz="1800" dirty="0"/>
          </a:p>
        </p:txBody>
      </p:sp>
      <p:sp>
        <p:nvSpPr>
          <p:cNvPr id="13" name="Text 11"/>
          <p:cNvSpPr/>
          <p:nvPr/>
        </p:nvSpPr>
        <p:spPr>
          <a:xfrm>
            <a:off x="6254496" y="3271266"/>
            <a:ext cx="5477256" cy="1104138"/>
          </a:xfrm>
          <a:prstGeom prst="rect">
            <a:avLst/>
          </a:prstGeom>
          <a:noFill/>
          <a:ln/>
        </p:spPr>
        <p:txBody>
          <a:bodyPr wrap="square" rtlCol="0" anchor="ctr"/>
          <a:lstStyle/>
          <a:p>
            <a:pPr marL="254000" indent="-254000">
              <a:buSzPct val="100000"/>
              <a:buChar char="•"/>
            </a:pPr>
            <a:r>
              <a:rPr lang="en-US" sz="1800" dirty="0">
                <a:solidFill>
                  <a:srgbClr val="D8F6FB"/>
                </a:solidFill>
                <a:latin typeface="Arial" pitchFamily="34" charset="0"/>
                <a:ea typeface="Arial" pitchFamily="34" charset="-122"/>
                <a:cs typeface="Arial" pitchFamily="34" charset="-120"/>
              </a:rPr>
              <a:t>Single-file scripts nobody else will ever touch</a:t>
            </a:r>
            <a:endParaRPr lang="en-US" sz="1800" dirty="0"/>
          </a:p>
        </p:txBody>
      </p:sp>
      <p:sp>
        <p:nvSpPr>
          <p:cNvPr id="14" name="Text 12"/>
          <p:cNvSpPr/>
          <p:nvPr/>
        </p:nvSpPr>
        <p:spPr>
          <a:xfrm>
            <a:off x="6254496" y="4375404"/>
            <a:ext cx="5477256" cy="1104138"/>
          </a:xfrm>
          <a:prstGeom prst="rect">
            <a:avLst/>
          </a:prstGeom>
          <a:noFill/>
          <a:ln/>
        </p:spPr>
        <p:txBody>
          <a:bodyPr wrap="square" rtlCol="0" anchor="ctr"/>
          <a:lstStyle/>
          <a:p>
            <a:pPr marL="254000" indent="-254000">
              <a:buSzPct val="100000"/>
              <a:buChar char="•"/>
            </a:pPr>
            <a:r>
              <a:rPr lang="en-US" sz="1800" dirty="0">
                <a:solidFill>
                  <a:srgbClr val="D8F6FB"/>
                </a:solidFill>
                <a:latin typeface="Arial" pitchFamily="34" charset="0"/>
                <a:ea typeface="Arial" pitchFamily="34" charset="-122"/>
                <a:cs typeface="Arial" pitchFamily="34" charset="-120"/>
              </a:rPr>
              <a:t>Exploratory work where you genuinely don't know yet if you're keeping it</a:t>
            </a:r>
            <a:endParaRPr lang="en-US" sz="1800" dirty="0"/>
          </a:p>
        </p:txBody>
      </p:sp>
      <p:sp>
        <p:nvSpPr>
          <p:cNvPr id="15" name="Text 13"/>
          <p:cNvSpPr/>
          <p:nvPr/>
        </p:nvSpPr>
        <p:spPr>
          <a:xfrm>
            <a:off x="6254496" y="5479542"/>
            <a:ext cx="5477256" cy="1104138"/>
          </a:xfrm>
          <a:prstGeom prst="rect">
            <a:avLst/>
          </a:prstGeom>
          <a:noFill/>
          <a:ln/>
        </p:spPr>
        <p:txBody>
          <a:bodyPr wrap="square" rtlCol="0" anchor="ctr"/>
          <a:lstStyle/>
          <a:p>
            <a:pPr marL="254000" indent="-254000">
              <a:buSzPct val="100000"/>
              <a:buChar char="•"/>
            </a:pPr>
            <a:r>
              <a:rPr lang="en-US" sz="1800" dirty="0">
                <a:solidFill>
                  <a:srgbClr val="D8F6FB"/>
                </a:solidFill>
                <a:latin typeface="Arial" pitchFamily="34" charset="0"/>
                <a:ea typeface="Arial" pitchFamily="34" charset="-122"/>
                <a:cs typeface="Arial" pitchFamily="34" charset="-120"/>
              </a:rPr>
              <a:t>Situations where the ceremony costs more than the wrong shortcut would</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Spec-Driven Dev vs. Vibe-Coding</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72768"/>
          <a:ext cx="11274552" cy="914400"/>
        </p:xfrm>
        <a:graphic>
          <a:graphicData uri="http://schemas.openxmlformats.org/drawingml/2006/table">
            <a:tbl>
              <a:tblPr/>
              <a:tblGrid>
                <a:gridCol w="2560320"/>
                <a:gridCol w="4206240"/>
                <a:gridCol w="4507992"/>
              </a:tblGrid>
              <a:tr h="835152">
                <a:tc>
                  <a:txBody>
                    <a:bodyPr/>
                    <a:lstStyle/>
                    <a:p>
                      <a:pPr algn="l" indent="0" marL="0">
                        <a:buNone/>
                      </a:pPr>
                      <a:r>
                        <a:rPr lang="en-US" sz="1800" b="1" dirty="0">
                          <a:solidFill>
                            <a:srgbClr val="00DFFC"/>
                          </a:solidFill>
                          <a:latin typeface="Arial" pitchFamily="34" charset="0"/>
                          <a:ea typeface="Arial" pitchFamily="34" charset="-122"/>
                          <a:cs typeface="Arial" pitchFamily="34" charset="-120"/>
                        </a:rPr>
                        <a:t>Dimension</a:t>
                      </a:r>
                      <a:endParaRPr lang="en-US" sz="1800" dirty="0">
                        <a:latin typeface="Arial" charset="0"/>
                        <a:ea typeface="Arial" charset="0"/>
                        <a:cs typeface="Arial" charset="0"/>
                      </a:endParaRPr>
                    </a:p>
                  </a:txBody>
                  <a:tcPr marL="91440" marR="91440" marT="45720" marB="45720" anchor="ctr">
                    <a:lnL w="9525" cap="flat" cmpd="sng" algn="ctr">
                      <a:solidFill>
                        <a:srgbClr val="00B4CC"/>
                      </a:solidFill>
                      <a:prstDash val="solid"/>
                      <a:round/>
                      <a:headEnd type="none" w="med" len="med"/>
                      <a:tailEnd type="none" w="med" len="med"/>
                    </a:lnL>
                    <a:lnR w="9525" cap="flat" cmpd="sng" algn="ctr">
                      <a:solidFill>
                        <a:srgbClr val="00B4CC"/>
                      </a:solidFill>
                      <a:prstDash val="solid"/>
                      <a:round/>
                      <a:headEnd type="none" w="med" len="med"/>
                      <a:tailEnd type="none" w="med" len="med"/>
                    </a:lnR>
                    <a:lnT w="9525" cap="flat" cmpd="sng" algn="ctr">
                      <a:solidFill>
                        <a:srgbClr val="00B4CC"/>
                      </a:solidFill>
                      <a:prstDash val="solid"/>
                      <a:round/>
                      <a:headEnd type="none" w="med" len="med"/>
                      <a:tailEnd type="none" w="med" len="med"/>
                    </a:lnT>
                    <a:lnB w="9525" cap="flat" cmpd="sng" algn="ctr">
                      <a:solidFill>
                        <a:srgbClr val="00B4CC"/>
                      </a:solidFill>
                      <a:prstDash val="solid"/>
                      <a:round/>
                      <a:headEnd type="none" w="med" len="med"/>
                      <a:tailEnd type="none" w="med" len="med"/>
                    </a:lnB>
                    <a:solidFill>
                      <a:srgbClr val="003A47"/>
                    </a:solidFill>
                  </a:tcPr>
                </a:tc>
                <a:tc>
                  <a:txBody>
                    <a:bodyPr/>
                    <a:lstStyle/>
                    <a:p>
                      <a:pPr algn="l" indent="0" marL="0">
                        <a:buNone/>
                      </a:pPr>
                      <a:r>
                        <a:rPr lang="en-US" sz="1800" b="1" dirty="0">
                          <a:solidFill>
                            <a:srgbClr val="00DFFC"/>
                          </a:solidFill>
                          <a:latin typeface="Arial" pitchFamily="34" charset="0"/>
                          <a:ea typeface="Arial" pitchFamily="34" charset="-122"/>
                          <a:cs typeface="Arial" pitchFamily="34" charset="-120"/>
                        </a:rPr>
                        <a:t>Vibe-Coding</a:t>
                      </a:r>
                      <a:endParaRPr lang="en-US" sz="1800" dirty="0">
                        <a:latin typeface="Arial" charset="0"/>
                        <a:ea typeface="Arial" charset="0"/>
                        <a:cs typeface="Arial" charset="0"/>
                      </a:endParaRPr>
                    </a:p>
                  </a:txBody>
                  <a:tcPr marL="91440" marR="91440" marT="45720" marB="45720" anchor="ctr">
                    <a:lnL w="9525" cap="flat" cmpd="sng" algn="ctr">
                      <a:solidFill>
                        <a:srgbClr val="00B4CC"/>
                      </a:solidFill>
                      <a:prstDash val="solid"/>
                      <a:round/>
                      <a:headEnd type="none" w="med" len="med"/>
                      <a:tailEnd type="none" w="med" len="med"/>
                    </a:lnL>
                    <a:lnR w="9525" cap="flat" cmpd="sng" algn="ctr">
                      <a:solidFill>
                        <a:srgbClr val="00B4CC"/>
                      </a:solidFill>
                      <a:prstDash val="solid"/>
                      <a:round/>
                      <a:headEnd type="none" w="med" len="med"/>
                      <a:tailEnd type="none" w="med" len="med"/>
                    </a:lnR>
                    <a:lnT w="9525" cap="flat" cmpd="sng" algn="ctr">
                      <a:solidFill>
                        <a:srgbClr val="00B4CC"/>
                      </a:solidFill>
                      <a:prstDash val="solid"/>
                      <a:round/>
                      <a:headEnd type="none" w="med" len="med"/>
                      <a:tailEnd type="none" w="med" len="med"/>
                    </a:lnT>
                    <a:lnB w="9525" cap="flat" cmpd="sng" algn="ctr">
                      <a:solidFill>
                        <a:srgbClr val="00B4CC"/>
                      </a:solidFill>
                      <a:prstDash val="solid"/>
                      <a:round/>
                      <a:headEnd type="none" w="med" len="med"/>
                      <a:tailEnd type="none" w="med" len="med"/>
                    </a:lnB>
                    <a:solidFill>
                      <a:srgbClr val="003A47"/>
                    </a:solidFill>
                  </a:tcPr>
                </a:tc>
                <a:tc>
                  <a:txBody>
                    <a:bodyPr/>
                    <a:lstStyle/>
                    <a:p>
                      <a:pPr algn="l" indent="0" marL="0">
                        <a:buNone/>
                      </a:pPr>
                      <a:r>
                        <a:rPr lang="en-US" sz="1800" b="1" dirty="0">
                          <a:solidFill>
                            <a:srgbClr val="00DFFC"/>
                          </a:solidFill>
                          <a:latin typeface="Arial" pitchFamily="34" charset="0"/>
                          <a:ea typeface="Arial" pitchFamily="34" charset="-122"/>
                          <a:cs typeface="Arial" pitchFamily="34" charset="-120"/>
                        </a:rPr>
                        <a:t>Spec-Driven Development</a:t>
                      </a:r>
                      <a:endParaRPr lang="en-US" sz="1800" dirty="0">
                        <a:latin typeface="Arial" charset="0"/>
                        <a:ea typeface="Arial" charset="0"/>
                        <a:cs typeface="Arial" charset="0"/>
                      </a:endParaRPr>
                    </a:p>
                  </a:txBody>
                  <a:tcPr marL="91440" marR="91440" marT="45720" marB="45720" anchor="ctr">
                    <a:lnL w="9525" cap="flat" cmpd="sng" algn="ctr">
                      <a:solidFill>
                        <a:srgbClr val="00B4CC"/>
                      </a:solidFill>
                      <a:prstDash val="solid"/>
                      <a:round/>
                      <a:headEnd type="none" w="med" len="med"/>
                      <a:tailEnd type="none" w="med" len="med"/>
                    </a:lnL>
                    <a:lnR w="9525" cap="flat" cmpd="sng" algn="ctr">
                      <a:solidFill>
                        <a:srgbClr val="00B4CC"/>
                      </a:solidFill>
                      <a:prstDash val="solid"/>
                      <a:round/>
                      <a:headEnd type="none" w="med" len="med"/>
                      <a:tailEnd type="none" w="med" len="med"/>
                    </a:lnR>
                    <a:lnT w="9525" cap="flat" cmpd="sng" algn="ctr">
                      <a:solidFill>
                        <a:srgbClr val="00B4CC"/>
                      </a:solidFill>
                      <a:prstDash val="solid"/>
                      <a:round/>
                      <a:headEnd type="none" w="med" len="med"/>
                      <a:tailEnd type="none" w="med" len="med"/>
                    </a:lnT>
                    <a:lnB w="9525" cap="flat" cmpd="sng" algn="ctr">
                      <a:solidFill>
                        <a:srgbClr val="00B4CC"/>
                      </a:solidFill>
                      <a:prstDash val="solid"/>
                      <a:round/>
                      <a:headEnd type="none" w="med" len="med"/>
                      <a:tailEnd type="none" w="med" len="med"/>
                    </a:lnB>
                    <a:solidFill>
                      <a:srgbClr val="003A47"/>
                    </a:solidFill>
                  </a:tcPr>
                </a:tc>
              </a:tr>
              <a:tr h="835152">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Decision record</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None</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constitution.md, research.md</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r>
              <a:tr h="835152">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Requirement traceability</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A1A1C"/>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None</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A1A1C"/>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FR-###/SC-###/US#/T### → code comment</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A1A1C"/>
                    </a:solidFill>
                  </a:tcPr>
                </a:tc>
              </a:tr>
              <a:tr h="835152">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Time to first working code</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Fastest</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Slower up front</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r>
              <a:tr h="835152">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Consistency across the codebase</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A1A1C"/>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Depends entirely on the prompt</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A1A1C"/>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Enforced by the constitution gate</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A1A1C"/>
                    </a:solidFill>
                  </a:tcPr>
                </a:tc>
              </a:tr>
              <a:tr h="835152">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Auditability six weeks later</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Approximately none</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c>
                  <a:txBody>
                    <a:bodyPr/>
                    <a:lstStyle/>
                    <a:p>
                      <a:pPr algn="l" indent="0" marL="0">
                        <a:buNone/>
                      </a:pPr>
                      <a:r>
                        <a:rPr lang="en-US" sz="1700" dirty="0">
                          <a:solidFill>
                            <a:srgbClr val="D8F6FB"/>
                          </a:solidFill>
                          <a:latin typeface="Arial" pitchFamily="34" charset="0"/>
                          <a:ea typeface="Arial" pitchFamily="34" charset="-122"/>
                          <a:cs typeface="Arial" pitchFamily="34" charset="-120"/>
                        </a:rPr>
                        <a:t>Every decision has a written rationale</a:t>
                      </a:r>
                      <a:endParaRPr lang="en-US" sz="1700" dirty="0">
                        <a:latin typeface="Arial" charset="0"/>
                        <a:ea typeface="Arial" charset="0"/>
                        <a:cs typeface="Arial" charset="0"/>
                      </a:endParaRPr>
                    </a:p>
                  </a:txBody>
                  <a:tcPr marL="91440" marR="91440" marT="45720" marB="45720" anchor="ctr">
                    <a:lnL w="6350" cap="flat" cmpd="sng" algn="ctr">
                      <a:solidFill>
                        <a:srgbClr val="00B4CC"/>
                      </a:solidFill>
                      <a:prstDash val="solid"/>
                      <a:round/>
                      <a:headEnd type="none" w="med" len="med"/>
                      <a:tailEnd type="none" w="med" len="med"/>
                    </a:lnL>
                    <a:lnR w="6350" cap="flat" cmpd="sng" algn="ctr">
                      <a:solidFill>
                        <a:srgbClr val="00B4CC"/>
                      </a:solidFill>
                      <a:prstDash val="solid"/>
                      <a:round/>
                      <a:headEnd type="none" w="med" len="med"/>
                      <a:tailEnd type="none" w="med" len="med"/>
                    </a:lnR>
                    <a:lnT w="6350" cap="flat" cmpd="sng" algn="ctr">
                      <a:solidFill>
                        <a:srgbClr val="00B4CC"/>
                      </a:solidFill>
                      <a:prstDash val="solid"/>
                      <a:round/>
                      <a:headEnd type="none" w="med" len="med"/>
                      <a:tailEnd type="none" w="med" len="med"/>
                    </a:lnT>
                    <a:lnB w="6350" cap="flat" cmpd="sng" algn="ctr">
                      <a:solidFill>
                        <a:srgbClr val="00B4CC"/>
                      </a:solidFill>
                      <a:prstDash val="solid"/>
                      <a:round/>
                      <a:headEnd type="none" w="med" len="med"/>
                      <a:tailEnd type="none" w="med" len="med"/>
                    </a:lnB>
                    <a:solidFill>
                      <a:srgbClr val="0E2428"/>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Real-World Analogies</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Text 4"/>
          <p:cNvSpPr/>
          <p:nvPr/>
        </p:nvSpPr>
        <p:spPr>
          <a:xfrm>
            <a:off x="457200" y="1572768"/>
            <a:ext cx="11274552" cy="1670304"/>
          </a:xfrm>
          <a:prstGeom prst="rect">
            <a:avLst/>
          </a:prstGeom>
          <a:noFill/>
          <a:ln/>
        </p:spPr>
        <p:txBody>
          <a:bodyPr wrap="square" rtlCol="0" anchor="ctr"/>
          <a:lstStyle/>
          <a:p>
            <a:pPr marL="254000" indent="-254000">
              <a:buSzPct val="100000"/>
              <a:buChar char="•"/>
            </a:pPr>
            <a:r>
              <a:rPr lang="en-US" sz="2300" dirty="0">
                <a:solidFill>
                  <a:srgbClr val="D8F6FB"/>
                </a:solidFill>
                <a:latin typeface="Arial" pitchFamily="34" charset="0"/>
                <a:ea typeface="Arial" pitchFamily="34" charset="-122"/>
                <a:cs typeface="Arial" pitchFamily="34" charset="-120"/>
              </a:rPr>
              <a:t>A building's code (fire code, load limits) is the constitution — nobody argues with it mid-construction, the whole design is drawn to satisfy it first</a:t>
            </a:r>
            <a:endParaRPr lang="en-US" sz="2300" dirty="0"/>
          </a:p>
        </p:txBody>
      </p:sp>
      <p:sp>
        <p:nvSpPr>
          <p:cNvPr id="7" name="Text 5"/>
          <p:cNvSpPr/>
          <p:nvPr/>
        </p:nvSpPr>
        <p:spPr>
          <a:xfrm>
            <a:off x="457200" y="3243072"/>
            <a:ext cx="11274552" cy="1670304"/>
          </a:xfrm>
          <a:prstGeom prst="rect">
            <a:avLst/>
          </a:prstGeom>
          <a:noFill/>
          <a:ln/>
        </p:spPr>
        <p:txBody>
          <a:bodyPr wrap="square" rtlCol="0" anchor="ctr"/>
          <a:lstStyle/>
          <a:p>
            <a:pPr marL="254000" indent="-254000">
              <a:buSzPct val="100000"/>
              <a:buChar char="•"/>
            </a:pPr>
            <a:r>
              <a:rPr lang="en-US" sz="2300" dirty="0">
                <a:solidFill>
                  <a:srgbClr val="D8F6FB"/>
                </a:solidFill>
                <a:latin typeface="Arial" pitchFamily="34" charset="0"/>
                <a:ea typeface="Arial" pitchFamily="34" charset="-122"/>
                <a:cs typeface="Arial" pitchFamily="34" charset="-120"/>
              </a:rPr>
              <a:t>A negotiated contract's terms are the spec — everyone agreed to them, in writing, before anyone signed</a:t>
            </a:r>
            <a:endParaRPr lang="en-US" sz="2300" dirty="0"/>
          </a:p>
        </p:txBody>
      </p:sp>
      <p:sp>
        <p:nvSpPr>
          <p:cNvPr id="8" name="Text 6"/>
          <p:cNvSpPr/>
          <p:nvPr/>
        </p:nvSpPr>
        <p:spPr>
          <a:xfrm>
            <a:off x="457200" y="4913376"/>
            <a:ext cx="11274552" cy="1670304"/>
          </a:xfrm>
          <a:prstGeom prst="rect">
            <a:avLst/>
          </a:prstGeom>
          <a:noFill/>
          <a:ln/>
        </p:spPr>
        <p:txBody>
          <a:bodyPr wrap="square" rtlCol="0" anchor="ctr"/>
          <a:lstStyle/>
          <a:p>
            <a:pPr marL="254000" indent="-254000">
              <a:buSzPct val="100000"/>
              <a:buChar char="•"/>
            </a:pPr>
            <a:r>
              <a:rPr lang="en-US" sz="2300" dirty="0">
                <a:solidFill>
                  <a:srgbClr val="D8F6FB"/>
                </a:solidFill>
                <a:latin typeface="Arial" pitchFamily="34" charset="0"/>
                <a:ea typeface="Arial" pitchFamily="34" charset="-122"/>
                <a:cs typeface="Arial" pitchFamily="34" charset="-120"/>
              </a:rPr>
              <a:t>An assembly line's work-instruction sheet is tasks.md — order and dependencies already resolved before anyone picks up a tool</a:t>
            </a:r>
            <a:endParaRPr lang="en-US" sz="2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Summary: Three Takeaways</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Shape 4"/>
          <p:cNvSpPr/>
          <p:nvPr/>
        </p:nvSpPr>
        <p:spPr>
          <a:xfrm>
            <a:off x="457200" y="1847088"/>
            <a:ext cx="11274552" cy="4462272"/>
          </a:xfrm>
          <a:prstGeom prst="rect">
            <a:avLst/>
          </a:prstGeom>
          <a:solidFill>
            <a:srgbClr val="003A47"/>
          </a:solidFill>
          <a:ln w="25400">
            <a:solidFill>
              <a:srgbClr val="00B4CC"/>
            </a:solidFill>
            <a:prstDash val="solid"/>
          </a:ln>
        </p:spPr>
      </p:sp>
      <p:sp>
        <p:nvSpPr>
          <p:cNvPr id="7" name="Shape 5"/>
          <p:cNvSpPr/>
          <p:nvPr/>
        </p:nvSpPr>
        <p:spPr>
          <a:xfrm>
            <a:off x="457200" y="1847088"/>
            <a:ext cx="73152" cy="4462272"/>
          </a:xfrm>
          <a:prstGeom prst="rect">
            <a:avLst/>
          </a:prstGeom>
          <a:solidFill>
            <a:srgbClr val="00B4CC"/>
          </a:solidFill>
          <a:ln w="12700">
            <a:solidFill>
              <a:srgbClr val="00B4CC"/>
            </a:solidFill>
            <a:prstDash val="solid"/>
          </a:ln>
        </p:spPr>
      </p:sp>
      <p:sp>
        <p:nvSpPr>
          <p:cNvPr id="8" name="Text 6"/>
          <p:cNvSpPr/>
          <p:nvPr/>
        </p:nvSpPr>
        <p:spPr>
          <a:xfrm>
            <a:off x="685800" y="1984248"/>
            <a:ext cx="10954512" cy="4187952"/>
          </a:xfrm>
          <a:prstGeom prst="rect">
            <a:avLst/>
          </a:prstGeom>
          <a:noFill/>
          <a:ln/>
        </p:spPr>
        <p:txBody>
          <a:bodyPr wrap="square" rtlCol="0" anchor="ctr"/>
          <a:lstStyle/>
          <a:p>
            <a:pPr indent="0" marL="0">
              <a:buNone/>
            </a:pPr>
            <a:r>
              <a:rPr lang="en-US" sz="1900" b="1" dirty="0">
                <a:solidFill>
                  <a:srgbClr val="D8F6FB"/>
                </a:solidFill>
                <a:latin typeface="Arial" pitchFamily="34" charset="0"/>
                <a:ea typeface="Arial" pitchFamily="34" charset="-122"/>
                <a:cs typeface="Arial" pitchFamily="34" charset="-120"/>
              </a:rPr>
              <a:t>1. Decide once, in writing, before you type a single line of code — why, what, how, and order each gate the next</a:t>
            </a:r>
            <a:endParaRPr lang="en-US" sz="1900" dirty="0"/>
          </a:p>
          <a:p>
            <a:pPr indent="0" marL="0">
              <a:buNone/>
            </a:pPr>
            <a:r>
              <a:rPr lang="en-US" sz="1900" dirty="0">
                <a:solidFill>
                  <a:srgbClr val="D8F6FB"/>
                </a:solidFill>
                <a:latin typeface="Arial" pitchFamily="34" charset="0"/>
                <a:ea typeface="Arial" pitchFamily="34" charset="-122"/>
                <a:cs typeface="Arial" pitchFamily="34" charset="-120"/>
              </a:rPr>
              <a:t>2. Traceability IDs aren't documentation-as-an-afterthought — they're a literal, greppable line in the code that closes the loop back to a requirement</a:t>
            </a:r>
            <a:endParaRPr lang="en-US" sz="1900" dirty="0"/>
          </a:p>
          <a:p>
            <a:pPr indent="0" marL="0">
              <a:buNone/>
            </a:pPr>
            <a:r>
              <a:rPr lang="en-US" sz="1900" dirty="0">
                <a:solidFill>
                  <a:srgbClr val="D8F6FB"/>
                </a:solidFill>
                <a:latin typeface="Arial" pitchFamily="34" charset="0"/>
                <a:ea typeface="Arial" pitchFamily="34" charset="-122"/>
                <a:cs typeface="Arial" pitchFamily="34" charset="-120"/>
              </a:rPr>
              <a:t>3. Solo usage is the on-ramp — team-scale usage (concurrent branches, mid-project constitution amendments, real merge conflicts) is what speckit-complex-demo covers next</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Live Demo: The Numbers</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Shape 4"/>
          <p:cNvSpPr/>
          <p:nvPr/>
        </p:nvSpPr>
        <p:spPr>
          <a:xfrm>
            <a:off x="457200" y="2798064"/>
            <a:ext cx="2612898" cy="2560320"/>
          </a:xfrm>
          <a:prstGeom prst="roundRect">
            <a:avLst>
              <a:gd name="adj" fmla="val 4286"/>
            </a:avLst>
          </a:prstGeom>
          <a:solidFill>
            <a:srgbClr val="0E2428"/>
          </a:solidFill>
          <a:ln w="12700">
            <a:solidFill>
              <a:srgbClr val="00B4CC"/>
            </a:solidFill>
            <a:prstDash val="solid"/>
          </a:ln>
        </p:spPr>
      </p:sp>
      <p:sp>
        <p:nvSpPr>
          <p:cNvPr id="7" name="Text 5"/>
          <p:cNvSpPr/>
          <p:nvPr/>
        </p:nvSpPr>
        <p:spPr>
          <a:xfrm>
            <a:off x="457200" y="2889504"/>
            <a:ext cx="2612898" cy="1484986"/>
          </a:xfrm>
          <a:prstGeom prst="rect">
            <a:avLst/>
          </a:prstGeom>
          <a:noFill/>
          <a:ln/>
        </p:spPr>
        <p:txBody>
          <a:bodyPr wrap="square" rtlCol="0" anchor="b"/>
          <a:lstStyle/>
          <a:p>
            <a:pPr algn="ctr" indent="0" marL="0">
              <a:buNone/>
            </a:pPr>
            <a:r>
              <a:rPr lang="en-US" sz="4400" b="1" dirty="0">
                <a:solidFill>
                  <a:srgbClr val="00DFFC"/>
                </a:solidFill>
                <a:latin typeface="Arial" pitchFamily="34" charset="0"/>
                <a:ea typeface="Arial" pitchFamily="34" charset="-122"/>
                <a:cs typeface="Arial" pitchFamily="34" charset="-120"/>
              </a:rPr>
              <a:t>~40 min</a:t>
            </a:r>
            <a:endParaRPr lang="en-US" sz="4400" dirty="0"/>
          </a:p>
        </p:txBody>
      </p:sp>
      <p:sp>
        <p:nvSpPr>
          <p:cNvPr id="8" name="Text 6"/>
          <p:cNvSpPr/>
          <p:nvPr/>
        </p:nvSpPr>
        <p:spPr>
          <a:xfrm>
            <a:off x="457200" y="4334256"/>
            <a:ext cx="2612898" cy="896112"/>
          </a:xfrm>
          <a:prstGeom prst="rect">
            <a:avLst/>
          </a:prstGeom>
          <a:noFill/>
          <a:ln/>
        </p:spPr>
        <p:txBody>
          <a:bodyPr wrap="square" rtlCol="0" anchor="t"/>
          <a:lstStyle/>
          <a:p>
            <a:pPr algn="ctr" indent="0" marL="0">
              <a:buNone/>
            </a:pPr>
            <a:r>
              <a:rPr lang="en-US" sz="1500" dirty="0">
                <a:solidFill>
                  <a:srgbClr val="5098A8"/>
                </a:solidFill>
                <a:latin typeface="Arial" pitchFamily="34" charset="0"/>
                <a:ea typeface="Arial" pitchFamily="34" charset="-122"/>
                <a:cs typeface="Arial" pitchFamily="34" charset="-120"/>
              </a:rPr>
              <a:t>Full pipeline, comfortable pace, incl. optional steps</a:t>
            </a:r>
            <a:endParaRPr lang="en-US" sz="1500" dirty="0"/>
          </a:p>
        </p:txBody>
      </p:sp>
      <p:sp>
        <p:nvSpPr>
          <p:cNvPr id="9" name="Shape 7"/>
          <p:cNvSpPr/>
          <p:nvPr/>
        </p:nvSpPr>
        <p:spPr>
          <a:xfrm>
            <a:off x="3344418" y="2798064"/>
            <a:ext cx="2612898" cy="2560320"/>
          </a:xfrm>
          <a:prstGeom prst="roundRect">
            <a:avLst>
              <a:gd name="adj" fmla="val 4286"/>
            </a:avLst>
          </a:prstGeom>
          <a:solidFill>
            <a:srgbClr val="0E2428"/>
          </a:solidFill>
          <a:ln w="12700">
            <a:solidFill>
              <a:srgbClr val="00B4CC"/>
            </a:solidFill>
            <a:prstDash val="solid"/>
          </a:ln>
        </p:spPr>
      </p:sp>
      <p:sp>
        <p:nvSpPr>
          <p:cNvPr id="10" name="Text 8"/>
          <p:cNvSpPr/>
          <p:nvPr/>
        </p:nvSpPr>
        <p:spPr>
          <a:xfrm>
            <a:off x="3344418" y="2889504"/>
            <a:ext cx="2612898" cy="1484986"/>
          </a:xfrm>
          <a:prstGeom prst="rect">
            <a:avLst/>
          </a:prstGeom>
          <a:noFill/>
          <a:ln/>
        </p:spPr>
        <p:txBody>
          <a:bodyPr wrap="square" rtlCol="0" anchor="b"/>
          <a:lstStyle/>
          <a:p>
            <a:pPr algn="ctr" indent="0" marL="0">
              <a:buNone/>
            </a:pPr>
            <a:r>
              <a:rPr lang="en-US" sz="4400" b="1" dirty="0">
                <a:solidFill>
                  <a:srgbClr val="00DFFC"/>
                </a:solidFill>
                <a:latin typeface="Arial" pitchFamily="34" charset="0"/>
                <a:ea typeface="Arial" pitchFamily="34" charset="-122"/>
                <a:cs typeface="Arial" pitchFamily="34" charset="-120"/>
              </a:rPr>
              <a:t>~25 min</a:t>
            </a:r>
            <a:endParaRPr lang="en-US" sz="4400" dirty="0"/>
          </a:p>
        </p:txBody>
      </p:sp>
      <p:sp>
        <p:nvSpPr>
          <p:cNvPr id="11" name="Text 9"/>
          <p:cNvSpPr/>
          <p:nvPr/>
        </p:nvSpPr>
        <p:spPr>
          <a:xfrm>
            <a:off x="3344418" y="4334256"/>
            <a:ext cx="2612898" cy="896112"/>
          </a:xfrm>
          <a:prstGeom prst="rect">
            <a:avLst/>
          </a:prstGeom>
          <a:noFill/>
          <a:ln/>
        </p:spPr>
        <p:txBody>
          <a:bodyPr wrap="square" rtlCol="0" anchor="t"/>
          <a:lstStyle/>
          <a:p>
            <a:pPr algn="ctr" indent="0" marL="0">
              <a:buNone/>
            </a:pPr>
            <a:r>
              <a:rPr lang="en-US" sz="1500" dirty="0">
                <a:solidFill>
                  <a:srgbClr val="5098A8"/>
                </a:solidFill>
                <a:latin typeface="Arial" pitchFamily="34" charset="0"/>
                <a:ea typeface="Arial" pitchFamily="34" charset="-122"/>
                <a:cs typeface="Arial" pitchFamily="34" charset="-120"/>
              </a:rPr>
              <a:t>Required-only fast path (init → constitution → specify → plan → tasks → implement)</a:t>
            </a:r>
            <a:endParaRPr lang="en-US" sz="1500" dirty="0"/>
          </a:p>
        </p:txBody>
      </p:sp>
      <p:sp>
        <p:nvSpPr>
          <p:cNvPr id="12" name="Shape 10"/>
          <p:cNvSpPr/>
          <p:nvPr/>
        </p:nvSpPr>
        <p:spPr>
          <a:xfrm>
            <a:off x="6231636" y="2798064"/>
            <a:ext cx="2612898" cy="2560320"/>
          </a:xfrm>
          <a:prstGeom prst="roundRect">
            <a:avLst>
              <a:gd name="adj" fmla="val 4286"/>
            </a:avLst>
          </a:prstGeom>
          <a:solidFill>
            <a:srgbClr val="0E2428"/>
          </a:solidFill>
          <a:ln w="12700">
            <a:solidFill>
              <a:srgbClr val="00B4CC"/>
            </a:solidFill>
            <a:prstDash val="solid"/>
          </a:ln>
        </p:spPr>
      </p:sp>
      <p:sp>
        <p:nvSpPr>
          <p:cNvPr id="13" name="Text 11"/>
          <p:cNvSpPr/>
          <p:nvPr/>
        </p:nvSpPr>
        <p:spPr>
          <a:xfrm>
            <a:off x="6231636" y="2889504"/>
            <a:ext cx="2612898" cy="1484986"/>
          </a:xfrm>
          <a:prstGeom prst="rect">
            <a:avLst/>
          </a:prstGeom>
          <a:noFill/>
          <a:ln/>
        </p:spPr>
        <p:txBody>
          <a:bodyPr wrap="square" rtlCol="0" anchor="b"/>
          <a:lstStyle/>
          <a:p>
            <a:pPr algn="ctr" indent="0" marL="0">
              <a:buNone/>
            </a:pPr>
            <a:r>
              <a:rPr lang="en-US" sz="4400" b="1" dirty="0">
                <a:solidFill>
                  <a:srgbClr val="00DFFC"/>
                </a:solidFill>
                <a:latin typeface="Arial" pitchFamily="34" charset="0"/>
                <a:ea typeface="Arial" pitchFamily="34" charset="-122"/>
                <a:cs typeface="Arial" pitchFamily="34" charset="-120"/>
              </a:rPr>
              <a:t>4</a:t>
            </a:r>
            <a:endParaRPr lang="en-US" sz="4400" dirty="0"/>
          </a:p>
        </p:txBody>
      </p:sp>
      <p:sp>
        <p:nvSpPr>
          <p:cNvPr id="14" name="Text 12"/>
          <p:cNvSpPr/>
          <p:nvPr/>
        </p:nvSpPr>
        <p:spPr>
          <a:xfrm>
            <a:off x="6231636" y="4334256"/>
            <a:ext cx="2612898" cy="896112"/>
          </a:xfrm>
          <a:prstGeom prst="rect">
            <a:avLst/>
          </a:prstGeom>
          <a:noFill/>
          <a:ln/>
        </p:spPr>
        <p:txBody>
          <a:bodyPr wrap="square" rtlCol="0" anchor="t"/>
          <a:lstStyle/>
          <a:p>
            <a:pPr algn="ctr" indent="0" marL="0">
              <a:buNone/>
            </a:pPr>
            <a:r>
              <a:rPr lang="en-US" sz="1500" dirty="0">
                <a:solidFill>
                  <a:srgbClr val="5098A8"/>
                </a:solidFill>
                <a:latin typeface="Arial" pitchFamily="34" charset="0"/>
                <a:ea typeface="Arial" pitchFamily="34" charset="-122"/>
                <a:cs typeface="Arial" pitchFamily="34" charset="-120"/>
              </a:rPr>
              <a:t>Optional commands on top (clarify, checklist, analyze, converge)</a:t>
            </a:r>
            <a:endParaRPr lang="en-US" sz="1500" dirty="0"/>
          </a:p>
        </p:txBody>
      </p:sp>
      <p:sp>
        <p:nvSpPr>
          <p:cNvPr id="15" name="Shape 13"/>
          <p:cNvSpPr/>
          <p:nvPr/>
        </p:nvSpPr>
        <p:spPr>
          <a:xfrm>
            <a:off x="9118854" y="2798064"/>
            <a:ext cx="2612898" cy="2560320"/>
          </a:xfrm>
          <a:prstGeom prst="roundRect">
            <a:avLst>
              <a:gd name="adj" fmla="val 4286"/>
            </a:avLst>
          </a:prstGeom>
          <a:solidFill>
            <a:srgbClr val="0E2428"/>
          </a:solidFill>
          <a:ln w="12700">
            <a:solidFill>
              <a:srgbClr val="00B4CC"/>
            </a:solidFill>
            <a:prstDash val="solid"/>
          </a:ln>
        </p:spPr>
      </p:sp>
      <p:sp>
        <p:nvSpPr>
          <p:cNvPr id="16" name="Text 14"/>
          <p:cNvSpPr/>
          <p:nvPr/>
        </p:nvSpPr>
        <p:spPr>
          <a:xfrm>
            <a:off x="9118854" y="2889504"/>
            <a:ext cx="2612898" cy="1484986"/>
          </a:xfrm>
          <a:prstGeom prst="rect">
            <a:avLst/>
          </a:prstGeom>
          <a:noFill/>
          <a:ln/>
        </p:spPr>
        <p:txBody>
          <a:bodyPr wrap="square" rtlCol="0" anchor="b"/>
          <a:lstStyle/>
          <a:p>
            <a:pPr algn="ctr" indent="0" marL="0">
              <a:buNone/>
            </a:pPr>
            <a:r>
              <a:rPr lang="en-US" sz="4400" b="1" dirty="0">
                <a:solidFill>
                  <a:srgbClr val="00DFFC"/>
                </a:solidFill>
                <a:latin typeface="Arial" pitchFamily="34" charset="0"/>
                <a:ea typeface="Arial" pitchFamily="34" charset="-122"/>
                <a:cs typeface="Arial" pitchFamily="34" charset="-120"/>
              </a:rPr>
              <a:t>1 / 2</a:t>
            </a:r>
            <a:endParaRPr lang="en-US" sz="4400" dirty="0"/>
          </a:p>
        </p:txBody>
      </p:sp>
      <p:sp>
        <p:nvSpPr>
          <p:cNvPr id="17" name="Text 15"/>
          <p:cNvSpPr/>
          <p:nvPr/>
        </p:nvSpPr>
        <p:spPr>
          <a:xfrm>
            <a:off x="9118854" y="4334256"/>
            <a:ext cx="2612898" cy="896112"/>
          </a:xfrm>
          <a:prstGeom prst="rect">
            <a:avLst/>
          </a:prstGeom>
          <a:noFill/>
          <a:ln/>
        </p:spPr>
        <p:txBody>
          <a:bodyPr wrap="square" rtlCol="0" anchor="t"/>
          <a:lstStyle/>
          <a:p>
            <a:pPr algn="ctr" indent="0" marL="0">
              <a:buNone/>
            </a:pPr>
            <a:r>
              <a:rPr lang="en-US" sz="1500" dirty="0">
                <a:solidFill>
                  <a:srgbClr val="5098A8"/>
                </a:solidFill>
                <a:latin typeface="Arial" pitchFamily="34" charset="0"/>
                <a:ea typeface="Arial" pitchFamily="34" charset="-122"/>
                <a:cs typeface="Arial" pitchFamily="34" charset="-120"/>
              </a:rPr>
              <a:t>Entity / endpoints — the entire scope of the demo feature</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1A1C"/>
        </a:solidFill>
      </p:bgPr>
    </p:bg>
    <p:spTree>
      <p:nvGrpSpPr>
        <p:cNvPr id="1" name=""/>
        <p:cNvGrpSpPr/>
        <p:nvPr/>
      </p:nvGrpSpPr>
      <p:grpSpPr>
        <a:xfrm>
          <a:off x="0" y="0"/>
          <a:ext cx="0" cy="0"/>
          <a:chOff x="0" y="0"/>
          <a:chExt cx="0" cy="0"/>
        </a:xfrm>
      </p:grpSpPr>
      <p:sp>
        <p:nvSpPr>
          <p:cNvPr id="2" name="Shape 0"/>
          <p:cNvSpPr/>
          <p:nvPr/>
        </p:nvSpPr>
        <p:spPr>
          <a:xfrm>
            <a:off x="457200" y="201168"/>
            <a:ext cx="1828800" cy="347472"/>
          </a:xfrm>
          <a:prstGeom prst="rect">
            <a:avLst/>
          </a:prstGeom>
          <a:solidFill>
            <a:srgbClr val="003A47"/>
          </a:solidFill>
          <a:ln w="9525">
            <a:solidFill>
              <a:srgbClr val="00B4CC"/>
            </a:solidFill>
            <a:prstDash val="solid"/>
          </a:ln>
        </p:spPr>
      </p:sp>
      <p:sp>
        <p:nvSpPr>
          <p:cNvPr id="3" name="Text 1"/>
          <p:cNvSpPr/>
          <p:nvPr/>
        </p:nvSpPr>
        <p:spPr>
          <a:xfrm>
            <a:off x="457200" y="201168"/>
            <a:ext cx="1828800" cy="347472"/>
          </a:xfrm>
          <a:prstGeom prst="rect">
            <a:avLst/>
          </a:prstGeom>
          <a:noFill/>
          <a:ln/>
        </p:spPr>
        <p:txBody>
          <a:bodyPr wrap="square" rtlCol="0" anchor="ctr"/>
          <a:lstStyle/>
          <a:p>
            <a:pPr algn="ctr" indent="0" marL="0">
              <a:buNone/>
            </a:pPr>
            <a:r>
              <a:rPr lang="en-US" sz="1200" b="1" dirty="0">
                <a:solidFill>
                  <a:srgbClr val="00DFFC"/>
                </a:solidFill>
                <a:latin typeface="Arial" pitchFamily="34" charset="0"/>
                <a:ea typeface="Arial" pitchFamily="34" charset="-122"/>
                <a:cs typeface="Arial" pitchFamily="34" charset="-120"/>
              </a:rPr>
              <a:t>SPEC-DRIVEN DEV</a:t>
            </a:r>
            <a:endParaRPr lang="en-US" sz="1200" dirty="0"/>
          </a:p>
        </p:txBody>
      </p:sp>
      <p:sp>
        <p:nvSpPr>
          <p:cNvPr id="4" name="Text 2"/>
          <p:cNvSpPr/>
          <p:nvPr/>
        </p:nvSpPr>
        <p:spPr>
          <a:xfrm>
            <a:off x="457200" y="658368"/>
            <a:ext cx="11274552" cy="685800"/>
          </a:xfrm>
          <a:prstGeom prst="rect">
            <a:avLst/>
          </a:prstGeom>
          <a:noFill/>
          <a:ln/>
        </p:spPr>
        <p:txBody>
          <a:bodyPr wrap="square" rtlCol="0" anchor="ctr"/>
          <a:lstStyle/>
          <a:p>
            <a:pPr indent="0" marL="0">
              <a:buNone/>
            </a:pPr>
            <a:r>
              <a:rPr lang="en-US" sz="3000" b="1" dirty="0">
                <a:solidFill>
                  <a:srgbClr val="D8F6FB"/>
                </a:solidFill>
                <a:latin typeface="Arial" pitchFamily="34" charset="0"/>
                <a:ea typeface="Arial" pitchFamily="34" charset="-122"/>
                <a:cs typeface="Arial" pitchFamily="34" charset="-120"/>
              </a:rPr>
              <a:t>Up Next: Live Demo</a:t>
            </a:r>
            <a:endParaRPr lang="en-US" sz="3000" dirty="0"/>
          </a:p>
        </p:txBody>
      </p:sp>
      <p:sp>
        <p:nvSpPr>
          <p:cNvPr id="5" name="Shape 3"/>
          <p:cNvSpPr/>
          <p:nvPr/>
        </p:nvSpPr>
        <p:spPr>
          <a:xfrm>
            <a:off x="457200" y="1417320"/>
            <a:ext cx="11274552" cy="27432"/>
          </a:xfrm>
          <a:prstGeom prst="rect">
            <a:avLst/>
          </a:prstGeom>
          <a:solidFill>
            <a:srgbClr val="00B4CC"/>
          </a:solidFill>
          <a:ln w="12700">
            <a:solidFill>
              <a:srgbClr val="00B4CC"/>
            </a:solidFill>
            <a:prstDash val="solid"/>
          </a:ln>
        </p:spPr>
      </p:sp>
      <p:sp>
        <p:nvSpPr>
          <p:cNvPr id="6" name="Text 4"/>
          <p:cNvSpPr/>
          <p:nvPr/>
        </p:nvSpPr>
        <p:spPr>
          <a:xfrm>
            <a:off x="457200" y="1572768"/>
            <a:ext cx="11274552" cy="74980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Feature: URL shortener — long URL in, short code back; visiting it redirects. In-memory only, no auth or analytics for v1.</a:t>
            </a:r>
            <a:endParaRPr lang="en-US" sz="2200" dirty="0"/>
          </a:p>
        </p:txBody>
      </p:sp>
      <p:sp>
        <p:nvSpPr>
          <p:cNvPr id="7" name="Text 5"/>
          <p:cNvSpPr/>
          <p:nvPr/>
        </p:nvSpPr>
        <p:spPr>
          <a:xfrm>
            <a:off x="457200" y="2322576"/>
            <a:ext cx="11274552" cy="74980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Starting point: this repo, intentionally almost empty — a starting line, not a finished demo</a:t>
            </a:r>
            <a:endParaRPr lang="en-US" sz="2200" dirty="0"/>
          </a:p>
        </p:txBody>
      </p:sp>
      <p:sp>
        <p:nvSpPr>
          <p:cNvPr id="8" name="Text 6"/>
          <p:cNvSpPr/>
          <p:nvPr/>
        </p:nvSpPr>
        <p:spPr>
          <a:xfrm>
            <a:off x="457200" y="3072384"/>
            <a:ext cx="11274552" cy="74980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Reference repos: speckit-demo (vibe vs. spec-driven, side-by-side), speckit-complex-demo (team scale, merge conflicts)</a:t>
            </a:r>
            <a:endParaRPr lang="en-US" sz="2200" dirty="0"/>
          </a:p>
        </p:txBody>
      </p:sp>
      <p:sp>
        <p:nvSpPr>
          <p:cNvPr id="9" name="Text 7"/>
          <p:cNvSpPr/>
          <p:nvPr/>
        </p:nvSpPr>
        <p:spPr>
          <a:xfrm>
            <a:off x="457200" y="3822192"/>
            <a:ext cx="11274552" cy="749808"/>
          </a:xfrm>
          <a:prstGeom prst="rect">
            <a:avLst/>
          </a:prstGeom>
          <a:noFill/>
          <a:ln/>
        </p:spPr>
        <p:txBody>
          <a:bodyPr wrap="square" rtlCol="0" anchor="ctr"/>
          <a:lstStyle/>
          <a:p>
            <a:pPr marL="254000" indent="-254000">
              <a:buSzPct val="100000"/>
              <a:buChar char="•"/>
            </a:pPr>
            <a:r>
              <a:rPr lang="en-US" sz="2200" dirty="0">
                <a:solidFill>
                  <a:srgbClr val="D8F6FB"/>
                </a:solidFill>
                <a:latin typeface="Arial" pitchFamily="34" charset="0"/>
                <a:ea typeface="Arial" pitchFamily="34" charset="-122"/>
                <a:cs typeface="Arial" pitchFamily="34" charset="-120"/>
              </a:rPr>
              <a:t>Payoff moment: a live curl against the running service — proof the checked boxes in tasks.md are real</a:t>
            </a:r>
            <a:endParaRPr lang="en-US" sz="2200" dirty="0"/>
          </a:p>
        </p:txBody>
      </p:sp>
      <p:sp>
        <p:nvSpPr>
          <p:cNvPr id="10" name="Shape 8"/>
          <p:cNvSpPr/>
          <p:nvPr/>
        </p:nvSpPr>
        <p:spPr>
          <a:xfrm>
            <a:off x="457200" y="4709160"/>
            <a:ext cx="11274552" cy="1874520"/>
          </a:xfrm>
          <a:prstGeom prst="rect">
            <a:avLst/>
          </a:prstGeom>
          <a:solidFill>
            <a:srgbClr val="060E10"/>
          </a:solidFill>
          <a:ln w="9525">
            <a:solidFill>
              <a:srgbClr val="00B4CC"/>
            </a:solidFill>
            <a:prstDash val="solid"/>
          </a:ln>
        </p:spPr>
      </p:sp>
      <p:sp>
        <p:nvSpPr>
          <p:cNvPr id="11" name="Text 9"/>
          <p:cNvSpPr/>
          <p:nvPr/>
        </p:nvSpPr>
        <p:spPr>
          <a:xfrm>
            <a:off x="640080" y="4846320"/>
            <a:ext cx="10908792" cy="1600200"/>
          </a:xfrm>
          <a:prstGeom prst="rect">
            <a:avLst/>
          </a:prstGeom>
          <a:noFill/>
          <a:ln/>
        </p:spPr>
        <p:txBody>
          <a:bodyPr wrap="none" rtlCol="0" anchor="t"/>
          <a:lstStyle/>
          <a:p>
            <a:pPr indent="0" marL="0">
              <a:buNone/>
            </a:pPr>
            <a:r>
              <a:rPr lang="en-US" sz="1400" dirty="0">
                <a:solidFill>
                  <a:srgbClr val="7EE8F5"/>
                </a:solidFill>
                <a:latin typeface="Consolas" pitchFamily="34" charset="0"/>
                <a:ea typeface="Consolas" pitchFamily="34" charset="-122"/>
                <a:cs typeface="Consolas" pitchFamily="34" charset="-120"/>
              </a:rPr>
              <a:t>specify init</a:t>
            </a:r>
            <a:endParaRPr lang="en-US" sz="1400" dirty="0"/>
          </a:p>
          <a:p>
            <a:pPr indent="0" marL="0">
              <a:buNone/>
            </a:pPr>
            <a:r>
              <a:rPr lang="en-US" sz="1400" dirty="0">
                <a:solidFill>
                  <a:srgbClr val="7EE8F5"/>
                </a:solidFill>
                <a:latin typeface="Consolas" pitchFamily="34" charset="0"/>
                <a:ea typeface="Consolas" pitchFamily="34" charset="-122"/>
                <a:cs typeface="Consolas" pitchFamily="34" charset="-120"/>
              </a:rPr>
              <a:t>/speckit-constitution</a:t>
            </a:r>
            <a:endParaRPr lang="en-US" sz="1400" dirty="0"/>
          </a:p>
          <a:p>
            <a:pPr indent="0" marL="0">
              <a:buNone/>
            </a:pPr>
            <a:r>
              <a:rPr lang="en-US" sz="1400" dirty="0">
                <a:solidFill>
                  <a:srgbClr val="7EE8F5"/>
                </a:solidFill>
                <a:latin typeface="Consolas" pitchFamily="34" charset="0"/>
                <a:ea typeface="Consolas" pitchFamily="34" charset="-122"/>
                <a:cs typeface="Consolas" pitchFamily="34" charset="-120"/>
              </a:rPr>
              <a:t>/speckit-specify</a:t>
            </a:r>
            <a:endParaRPr lang="en-US" sz="1400" dirty="0"/>
          </a:p>
          <a:p>
            <a:pPr indent="0" marL="0">
              <a:buNone/>
            </a:pPr>
            <a:r>
              <a:rPr lang="en-US" sz="1400" dirty="0">
                <a:solidFill>
                  <a:srgbClr val="7EE8F5"/>
                </a:solidFill>
                <a:latin typeface="Consolas" pitchFamily="34" charset="0"/>
                <a:ea typeface="Consolas" pitchFamily="34" charset="-122"/>
                <a:cs typeface="Consolas" pitchFamily="34" charset="-120"/>
              </a:rPr>
              <a:t>/speckit-plan</a:t>
            </a:r>
            <a:endParaRPr lang="en-US" sz="1400" dirty="0"/>
          </a:p>
          <a:p>
            <a:pPr indent="0" marL="0">
              <a:buNone/>
            </a:pPr>
            <a:r>
              <a:rPr lang="en-US" sz="1400" dirty="0">
                <a:solidFill>
                  <a:srgbClr val="7EE8F5"/>
                </a:solidFill>
                <a:latin typeface="Consolas" pitchFamily="34" charset="0"/>
                <a:ea typeface="Consolas" pitchFamily="34" charset="-122"/>
                <a:cs typeface="Consolas" pitchFamily="34" charset="-120"/>
              </a:rPr>
              <a:t>/speckit-tasks</a:t>
            </a:r>
            <a:endParaRPr lang="en-US" sz="1400" dirty="0"/>
          </a:p>
          <a:p>
            <a:pPr indent="0" marL="0">
              <a:buNone/>
            </a:pPr>
            <a:r>
              <a:rPr lang="en-US" sz="1400" dirty="0">
                <a:solidFill>
                  <a:srgbClr val="7EE8F5"/>
                </a:solidFill>
                <a:latin typeface="Consolas" pitchFamily="34" charset="0"/>
                <a:ea typeface="Consolas" pitchFamily="34" charset="-122"/>
                <a:cs typeface="Consolas" pitchFamily="34" charset="-120"/>
              </a:rPr>
              <a:t>/speckit-implement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Spec-Driven Development Presentation</dc:title>
  <dc:subject>PptxGenJS Presentation</dc:subject>
  <dc:creator>gen-presentation</dc:creator>
  <cp:lastModifiedBy>gen-presentation</cp:lastModifiedBy>
  <cp:revision>1</cp:revision>
  <dcterms:created xsi:type="dcterms:W3CDTF">2026-07-24T15:00:24Z</dcterms:created>
  <dcterms:modified xsi:type="dcterms:W3CDTF">2026-07-24T15:00:24Z</dcterms:modified>
</cp:coreProperties>
</file>