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0080625" cy="5670550"/>
  <p:notesSz cx="5670550" cy="10080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primer that runs before the six-command pipeline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pain before naming the solution. Everyone in a conference room has felt this: an AI agent that produces something plausible-looking with no way to explain a single choice it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audience the one-sentence definition they'll repeat later, then walk the table top to bottom — this is the single clearest map of the whole pipeline onto four questions. Mention the skill mechanic briefly — it lands better once the pipeline is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mechanics — how the six commands actually chain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The one thing worth pausing on: there is exactly one place a "go back and revise" branch can happen, and it's buried inside the plan step, not scattered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step is deliberately boring — it's worth saying out loud that nothing about the actual feature exists yet after this command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command that writes real content. It reads nothing — there's nothing upstream of it — and everything downstream reads it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clearest concept slide in this deck — worth slowing all the way down for, especially for anyone who's never opened a spec-kit repo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the concept: the concrete before/after from the actual demo repo's constitution.md and plan.md.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command — the constitution constrains what a requirement is even allowed to look like before this one gets typed.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command in the pipeline with a hard gate — worth pausing on, since it's the single branch point in an otherwise straight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Fifth command — turns a design into something an agent, or a human, can literally check off one box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command, and mechanically the simplest — by the time this runs, almost every real decision was already made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concept — the thing that turns "we wrote some docs" into "we can prove the code matches the docs." Walk this as one concrete story, not four abstract bullets: FR-001 is real content from speckit-demo's actual generated Task List API, not a hypothetical.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only lands if the audience remembers the opening problem — say it out loud again before revealing the punchline. This is the moment the whole talk has been building to: the opening complaint about vibe-coding gets an actual mechanical answer, not just a process that feels more organized.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Vibe-coding — prompt an AI once and hope — isn't a strawman, it's the default most people are already doing. This table is the honest trade-off, not a case for SDD always winning.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five are needed for a single solo pass like the one this talk has walked through — they're optional rigor that earns its keep once a team, a deadline, or an ambiguous spec is in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 audience somewhere concrete instead of ending on a slogan.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8713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D6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91662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916622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6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Spec-Kit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217353" y="3611880"/>
            <a:ext cx="1645920" cy="32004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0"/>
            <a:ext cx="916622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to code: six commands, zero improvisation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Prompt and Hope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9166225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one big prompt, the agent writes a feature, it runs — great, for about ten minutes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528634"/>
            <a:ext cx="9166225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later: why is storage a global mutable object? Why is the code 8 characters, not 6? Nobody knows — there's no artifact, only chat scrollback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84499"/>
            <a:ext cx="9166225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two different people to prompt the same agent for the same feature and you get two different implementations, with two different unwritten assumptions baked 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440365"/>
            <a:ext cx="9166225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isn't the AI — it's that nothing was decided before the code, so nothing can be checked after it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Spec-Driven Development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916622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(SDD): a discipline that separates why, what, how, and order into distinct, written artifacts — all produced before any implementation code exists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78608"/>
          <a:ext cx="9166225" cy="914400"/>
        </p:xfrm>
        <a:graphic>
          <a:graphicData uri="http://schemas.openxmlformats.org/drawingml/2006/table">
            <a:tbl>
              <a:tblPr/>
              <a:tblGrid>
                <a:gridCol w="1649920"/>
                <a:gridCol w="7516305"/>
              </a:tblGrid>
              <a:tr h="5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  <a:tr h="5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 — the non-negotiable principles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5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— the requirements and user stories, in testable language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  <a:tr h="5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— the technical design, gated against the constitution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5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— a dependency-ordered checklist the implementation just executes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6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67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03120"/>
            <a:ext cx="916622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916622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commands, one direction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Commands, One Direction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40230"/>
            <a:ext cx="1238144" cy="653796"/>
          </a:xfrm>
          <a:prstGeom prst="roundRect">
            <a:avLst>
              <a:gd name="adj" fmla="val 13986"/>
            </a:avLst>
          </a:prstGeom>
          <a:solidFill>
            <a:srgbClr val="DDE8F5"/>
          </a:solidFill>
          <a:ln w="19050">
            <a:solidFill>
              <a:srgbClr val="1D6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40230"/>
            <a:ext cx="1238144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init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5344" y="1840230"/>
            <a:ext cx="347472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6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42816" y="1840230"/>
            <a:ext cx="1238144" cy="653796"/>
          </a:xfrm>
          <a:prstGeom prst="roundRect">
            <a:avLst>
              <a:gd name="adj" fmla="val 13986"/>
            </a:avLst>
          </a:prstGeom>
          <a:solidFill>
            <a:srgbClr val="DDE8F5"/>
          </a:solidFill>
          <a:ln w="19050">
            <a:solidFill>
              <a:srgbClr val="1D6F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2816" y="1840230"/>
            <a:ext cx="1238144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80960" y="1840230"/>
            <a:ext cx="347472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6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28432" y="1840230"/>
            <a:ext cx="1238144" cy="653796"/>
          </a:xfrm>
          <a:prstGeom prst="roundRect">
            <a:avLst>
              <a:gd name="adj" fmla="val 13986"/>
            </a:avLst>
          </a:prstGeom>
          <a:solidFill>
            <a:srgbClr val="DDE8F5"/>
          </a:solidFill>
          <a:ln w="19050">
            <a:solidFill>
              <a:srgbClr val="1D6F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8432" y="1840230"/>
            <a:ext cx="1238144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6577" y="1840230"/>
            <a:ext cx="347472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6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214049" y="1840230"/>
            <a:ext cx="1238144" cy="653796"/>
          </a:xfrm>
          <a:prstGeom prst="roundRect">
            <a:avLst>
              <a:gd name="adj" fmla="val 13986"/>
            </a:avLst>
          </a:prstGeom>
          <a:solidFill>
            <a:srgbClr val="1D6FBC"/>
          </a:solidFill>
          <a:ln w="31750">
            <a:solidFill>
              <a:srgbClr val="1D6F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4049" y="1840230"/>
            <a:ext cx="1238144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52193" y="1840230"/>
            <a:ext cx="347472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6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799665" y="1840230"/>
            <a:ext cx="1238144" cy="653796"/>
          </a:xfrm>
          <a:prstGeom prst="roundRect">
            <a:avLst>
              <a:gd name="adj" fmla="val 13986"/>
            </a:avLst>
          </a:prstGeom>
          <a:solidFill>
            <a:srgbClr val="DDE8F5"/>
          </a:solidFill>
          <a:ln w="19050">
            <a:solidFill>
              <a:srgbClr val="1D6F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9665" y="1840230"/>
            <a:ext cx="1238144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37809" y="1840230"/>
            <a:ext cx="347472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6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385281" y="1840230"/>
            <a:ext cx="1238144" cy="653796"/>
          </a:xfrm>
          <a:prstGeom prst="roundRect">
            <a:avLst>
              <a:gd name="adj" fmla="val 13986"/>
            </a:avLst>
          </a:prstGeom>
          <a:solidFill>
            <a:srgbClr val="DDE8F5"/>
          </a:solidFill>
          <a:ln w="19050">
            <a:solidFill>
              <a:srgbClr val="1D6F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5281" y="1840230"/>
            <a:ext cx="1238144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944368"/>
            <a:ext cx="9166225" cy="612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init scaffolds a constitution template (full of [BRACKET_PLACEHOLDER] tokens) and a set of skills — writes zero feature content, pure setup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557334"/>
            <a:ext cx="9166225" cy="612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command is a Claude Code skill: a SKILL.md file of plain-language instructions the agent follows — "a playbook, not a program"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170299"/>
            <a:ext cx="9166225" cy="612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/speckit-plan has a hard gate — the filled-in box above; everything else just flows forward, file to file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783265"/>
            <a:ext cx="9166225" cy="612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URL-shortener example, the whole sequence — constitution through a working curl call — runs in about 35 minutes, start to finish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init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9166225" cy="483870"/>
          </a:xfrm>
          <a:prstGeom prst="rect">
            <a:avLst/>
          </a:prstGeom>
          <a:solidFill>
            <a:srgbClr val="E6F0FA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9928"/>
            <a:ext cx="8800465" cy="2095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uvx --from git+https://github.com/github/spec-kit.git specify init --here --integration claude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39518"/>
            <a:ext cx="9166225" cy="631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nothing — there's no prior artifact yet; this is the very first step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870860"/>
            <a:ext cx="9166225" cy="631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a .specify/ folder structure and a skill file for each of the six commands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02203"/>
            <a:ext cx="9166225" cy="631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writes a constitution template, full of [BRACKET_PLACEHOLDER] tokens — not real principles yet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133545"/>
            <a:ext cx="9166225" cy="631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zero feature content — no spec, no plan, no code; pure scaffolding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764888"/>
            <a:ext cx="9166225" cy="631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exists: every other command in this pipeline assumes this folder structure and these skills are already in place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/speckit-constitution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9166225" cy="2103120"/>
          </a:xfrm>
          <a:prstGeom prst="rect">
            <a:avLst/>
          </a:prstGeom>
          <a:solidFill>
            <a:srgbClr val="E6F0FA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9928"/>
            <a:ext cx="8800465" cy="1828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I. Simplicity &amp; Legibility (NON-NEGOTIABLE)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artifact in this repository — constitution, spec, plan, tasks, and code — MUST 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readable in a single pass by someone who has never seen spec-kit before.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IV. Traceability From Spec to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meaningful implementation decision in `spec-driven/` MUST be traceable back to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in `spec.md`, `plan.md`, or `tasks.md`. If code does something the specs don't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explain, either the code or the specs are wrong.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58768"/>
            <a:ext cx="9166225" cy="512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nothing — it's the first content-bearing command in the pipeline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371255"/>
            <a:ext cx="9166225" cy="512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constitution.md — the project's non-negotiable rules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4883743"/>
            <a:ext cx="9166225" cy="512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later command (spec, plan, tasks, implement) reads this exact file before doing anything else — it's the constraint every design gets checked against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Principle vs. an Implementation Choice? (1/2)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 is a non-negotiable, project-wide rule that constrains every later decision — it doesn't say what to build, it says what's off-limits or required, no matter what gets built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2847255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IMPLEMENTATION CHOICE is a specific technical decision made later that must satisfy the principles — but isn't itself a principle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200" y="4121743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the same rule could hold across ten totally different features, it's a principle; if it's the specific thing picked for this feature, it's an implementation choice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Principle vs. an Implementation Choice? (2/2)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contrast from this exact demo — constitution, Principle I: "MUST be readable in a single pass by someone who has never seen spec-kit before... prefer fewer files, fewer moving parts." ← the PRINCIPLE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2847255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plan.md, Constitution Check: "I. Simplicity &amp; Legibility: PASS — four small files total, plain Express routing, no framework magic." ← the IMPLEMENTATION CHOICE that satisfies it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200" y="4121743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principle never says "four files" or "Express" — it only says fewer and plainer. The plan is where that becomes one specific file count and one named framework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/speckit-specify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9166225" cy="1264920"/>
          </a:xfrm>
          <a:prstGeom prst="rect">
            <a:avLst/>
          </a:prstGeom>
          <a:solidFill>
            <a:srgbClr val="E6F0FA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9928"/>
            <a:ext cx="8800465" cy="9906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User Story 1 - Add a task and see it in the list (Priority: P1)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user wants to capture something they need to do, then confirm it was recorded.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**Independent Test**: Can be fully tested by adding a task and then retrieving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list, and confirming the new task appears with the description provided.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20568"/>
            <a:ext cx="9166225" cy="791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constitution.md — every requirement has to fit inside those non-negotiables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3812455"/>
            <a:ext cx="9166225" cy="791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spec.md — prioritized user stories (P1/P2/P3), each with acceptance scenarios and an Independent Test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4604343"/>
            <a:ext cx="9166225" cy="791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turns a one-line feature idea into a checkable, prioritized breakdown before anyone designs a single endpoint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9166225" cy="1607820"/>
          </a:xfrm>
          <a:prstGeom prst="rect">
            <a:avLst/>
          </a:prstGeom>
          <a:solidFill>
            <a:srgbClr val="E6F0FA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9928"/>
            <a:ext cx="8800465" cy="13335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Constitution Check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**I. Simplicity &amp; Legibility**: PASS — four small files total, plain Express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routing, no framework magic or generated boilerplate.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**V. Minimal Dependencies**: PASS — `express` is the only runtime dependency;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test framework, no build step, no TypeScript.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63468"/>
            <a:ext cx="9166225" cy="677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spec.md and constitution.md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4041055"/>
            <a:ext cx="9166225" cy="677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plan.md, plus supporting research.md, data-model.md, and contracts/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4718643"/>
            <a:ext cx="9166225" cy="677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principle gets graded PASS or FAIL against the actual design — once before research, once after — before anyone moves on to tasks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/speckit-tasks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9166225" cy="960120"/>
          </a:xfrm>
          <a:prstGeom prst="rect">
            <a:avLst/>
          </a:prstGeom>
          <a:solidFill>
            <a:srgbClr val="E6F0FA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9928"/>
            <a:ext cx="8800465" cy="685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Phase 1: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[X] T001 Create `spec-driven/` directory with a `src/` and `src/routes/` subfolder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[X] T002 Initialize `spec-driven/package.json` with `express` as the only dependency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15768"/>
            <a:ext cx="9166225" cy="893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plan.md and spec.md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3609255"/>
            <a:ext cx="9166225" cy="893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tasks.md — a phased, dependency-ordered checklist, grouped by user story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4502743"/>
            <a:ext cx="9166225" cy="893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9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it's the difference between "we designed something" and "here is the exact order to build it in"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/speckit-implement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9166225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tasks.md — and everything upstream by reference, since every task traces back to the plan, spec, and constitution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528634"/>
            <a:ext cx="9166225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the actual source code — the only command in this pipeline that produces working software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84499"/>
            <a:ext cx="9166225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tasks.md phase by phase, flipping each box from [ ] to [X] as the task completes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440365"/>
            <a:ext cx="9166225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2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there's almost nothing left to improvise at this point — every earlier command already decided what to build and why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The Traceability Spine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4423093" cy="3823462"/>
          </a:xfrm>
          <a:prstGeom prst="rect">
            <a:avLst/>
          </a:prstGeom>
          <a:solidFill>
            <a:srgbClr val="E6F0FA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9928"/>
            <a:ext cx="4057332" cy="354914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FR-001: System MUST allow a user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new task with a non-empty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T006 [US1] POST /tasks: reject 400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description is missing/empty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(FR-001, FR-006)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routes/tasks.js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FR-001, FR-002, FR-006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router.post('/',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(!description.trim())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res.status(400)...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00333" y="1572768"/>
            <a:ext cx="4423093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 is born in spec.md as one plain-English rule — nothing about HTTP or JavaScript yet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0333" y="2528634"/>
            <a:ext cx="4423093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tasks.md turns it into an actual build step, still citing FR-001 by name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00333" y="3484499"/>
            <a:ext cx="4423093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code carries the same FR-001 as a comment, directly above the code that enforces 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00333" y="4440365"/>
            <a:ext cx="4423093" cy="955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17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ID and you can point at the exact line of running code a one-sentence requirement became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Closing the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47088"/>
            <a:ext cx="9166225" cy="3274822"/>
          </a:xfrm>
          <a:prstGeom prst="rect">
            <a:avLst/>
          </a:prstGeom>
          <a:solidFill>
            <a:srgbClr val="DDE8F5"/>
          </a:solidFill>
          <a:ln w="25400">
            <a:solidFill>
              <a:srgbClr val="1D6F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47088"/>
            <a:ext cx="73152" cy="327482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84248"/>
            <a:ext cx="8846185" cy="3000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problem: nobody could check why the code was built this way — nothing was written down to check it against.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SDD's answer: an FR-### ID exists in three places at once — spec.md, tasks.md, and a comment in the code (previous slide) — so the link from decision to code is something you read directly, not something you take on faith.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Concretely: FR-001 promised a non-empty description is required, and the check enforcing that sits right under the // FR-001 comment in routes/tasks.js, exactly as shown one slide back. The proof is the code itself — nothing to run, nothing to trust secondhand.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vs. Vibe-Coding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9166225" cy="914400"/>
        </p:xfrm>
        <a:graphic>
          <a:graphicData uri="http://schemas.openxmlformats.org/drawingml/2006/table">
            <a:tbl>
              <a:tblPr/>
              <a:tblGrid>
                <a:gridCol w="1833245"/>
                <a:gridCol w="3666490"/>
                <a:gridCol w="3666490"/>
              </a:tblGrid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Vibe-Coding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to first line of code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— one prompt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— four artifacts come first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decisions live in chat scrollback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requirement carries an FR-### ID into the code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scale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down fast — every session reinvents assumptions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constitution + spec are the source of truth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Revisability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Re-prompt and hope it's consistent this time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 the constitution, re-run the plan's gate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Spikes, exploration, throwaway scripts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Long-lived features, multi-person or multi-session work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Enhancement Commands, One Line Each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9166225" cy="914400"/>
        </p:xfrm>
        <a:graphic>
          <a:graphicData uri="http://schemas.openxmlformats.org/drawingml/2006/table">
            <a:tbl>
              <a:tblPr/>
              <a:tblGrid>
                <a:gridCol w="2199894"/>
                <a:gridCol w="6966331"/>
              </a:tblGrid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C1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/speckit-clarify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up to five targeted questions; answers go straight into spec.md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C1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/speckit-checklist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spec's wording for unquantified terms before they become risky assumptions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C1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/speckit-analyze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cross-check of spec, plan, and tasks against each other and the constitution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C1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/speckit-converge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spec/plan/tasks against the actual code; appends a task if it finds drift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</a:tr>
              <a:tr h="637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C1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/speckit-taskstoissues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C1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tasks.md into tracked issues, for teams that live in an issue tracker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6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1D6FBC"/>
          </a:solidFill>
          <a:ln w="9525">
            <a:solidFill>
              <a:srgbClr val="1D6F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662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66225" cy="27432"/>
          </a:xfrm>
          <a:prstGeom prst="rect">
            <a:avLst/>
          </a:prstGeom>
          <a:solidFill>
            <a:srgbClr val="1D6FBC"/>
          </a:solidFill>
          <a:ln w="12700">
            <a:solidFill>
              <a:srgbClr val="1D6F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speckit-demo — one feature, one person, a vibe-coded/ vs. spec-driven/ side-by-side you can browse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57200" y="2847255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speckit-complex-demo — three contributors, concurrent branches, a mid-project constitution amendment, two real merge conflicts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200" y="4121743"/>
            <a:ext cx="9166225" cy="1274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0C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FACILITATION.md in this repo — the exact live run-of-show, every command typed out, if you want to run this pipeline yourself from zero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SpecDrivenDevelopment Presentation</dc:title>
  <dc:subject>PptxGenJS Presentation</dc:subject>
  <dc:creator>gen-presentation</dc:creator>
  <cp:lastModifiedBy>gen-presentation</cp:lastModifiedBy>
  <cp:revision>1</cp:revision>
  <dcterms:created xsi:type="dcterms:W3CDTF">2026-07-30T04:08:15Z</dcterms:created>
  <dcterms:modified xsi:type="dcterms:W3CDTF">2026-07-30T04:08:15Z</dcterms:modified>
</cp:coreProperties>
</file>