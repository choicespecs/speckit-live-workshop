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0080625" cy="5670550"/>
  <p:notesSz cx="5670550" cy="1008062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conceptual primer that runs before the six-command pipeline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pain before naming the solution. Everyone in a conference room has felt this: an AI agent that produces something plausible-looking with no way to explain a single choice it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audience the one-sentence definition they'll repeat later, then walk the table top to bottom — this is the single clearest map of the whole pipeline onto four questions. Mention the skill mechanic briefly — it lands better once the pipeline is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mechanics — how the six commands actually chain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pipeline left to right. The one thing worth pausing on: there is exactly one place a "go back and revise" branch can happen, and it's buried inside the plan step, not scattered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step is deliberately boring — it's worth saying out loud that nothing about the actual feature exists yet after this command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command that writes real content. It reads nothing — there's nothing upstream of it — and everything downstream reads it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clearest concept slide in this deck — worth slowing all the way down for, especially for anyone who's never opened a spec-kit repo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concept: the concrete before/after from the actual demo repo's constitution.md and plan.md.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command — the constitution constrains what a requirement is even allowed to look like before this one gets typed.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command in the pipeline with a hard gate — worth pausing on, since it's the single branch point in an otherwise straight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Fifth command — turns a design into something an agent, or a human, can literally check off one box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command, and mechanically the simplest — by the time this runs, almost every real decision was already made upstream.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concept — the thing that turns "we wrote some docs" into "we can prove the code matches the docs." Walk this as one concrete story, not four abstract bullets: FR-001 is real content from speckit-demo's actual generated Task List API, not a hypothetical.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only lands if the audience remembers the opening problem — say it out loud again before revealing the punchline. This is the moment the whole talk has been building to: the opening complaint about vibe-coding gets an actual mechanical answer, not just a process that feels more organized.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Vibe-coding — prompt an AI once and hope — isn't a strawman, it's the default most people are already doing. This table is the honest trade-off, not a case for SDD always winning.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five are needed for a single solo pass like the one this talk has walked through — they're optional rigor that earns its keep once a team, a deadline, or an ambiguous spec is in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Send the audience somewhere concrete instead of ending on a slogan.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0F6FF"/>
        </a:solidFill>
      </p:bgPr>
    </p:bg>
    <p:spTree>
      <p:nvGrpSpPr>
        <p:cNvPr id="1" name=""/>
        <p:cNvGrpSpPr/>
        <p:nvPr/>
      </p:nvGrpSpPr>
      <p:grpSpPr>
        <a:xfrm>
          <a:off x="0" y="0"/>
          <a:ext cx="0" cy="0"/>
          <a:chOff x="0" y="0"/>
          <a:chExt cx="0" cy="0"/>
        </a:xfrm>
      </p:grpSpPr>
      <p:sp>
        <p:nvSpPr>
          <p:cNvPr id="2" name="Text 0"/>
          <p:cNvSpPr/>
          <p:nvPr/>
        </p:nvSpPr>
        <p:spPr>
          <a:xfrm>
            <a:off x="3668713" y="1280160"/>
            <a:ext cx="2743200" cy="365760"/>
          </a:xfrm>
          <a:prstGeom prst="rect">
            <a:avLst/>
          </a:prstGeom>
          <a:noFill/>
          <a:ln/>
        </p:spPr>
        <p:txBody>
          <a:bodyPr wrap="square" rtlCol="0" anchor="ctr"/>
          <a:lstStyle/>
          <a:p>
            <a:pPr algn="ctr" indent="0" marL="0">
              <a:buNone/>
            </a:pPr>
            <a:r>
              <a:rPr lang="en-US" sz="1300" b="1" spc="150" kern="0" dirty="0">
                <a:solidFill>
                  <a:srgbClr val="1D6FBC"/>
                </a:solidFill>
                <a:latin typeface="Calibri" pitchFamily="34" charset="0"/>
                <a:ea typeface="Calibri" pitchFamily="34" charset="-122"/>
                <a:cs typeface="Calibri" pitchFamily="34" charset="-120"/>
              </a:rPr>
              <a:t>WORKFLOW</a:t>
            </a:r>
            <a:endParaRPr lang="en-US" sz="1300" dirty="0"/>
          </a:p>
        </p:txBody>
      </p:sp>
      <p:sp>
        <p:nvSpPr>
          <p:cNvPr id="3" name="Text 1"/>
          <p:cNvSpPr/>
          <p:nvPr/>
        </p:nvSpPr>
        <p:spPr>
          <a:xfrm>
            <a:off x="457200" y="1920240"/>
            <a:ext cx="9166225" cy="822960"/>
          </a:xfrm>
          <a:prstGeom prst="rect">
            <a:avLst/>
          </a:prstGeom>
          <a:noFill/>
          <a:ln/>
        </p:spPr>
        <p:txBody>
          <a:bodyPr wrap="square" rtlCol="0" anchor="ctr"/>
          <a:lstStyle/>
          <a:p>
            <a:pPr algn="ctr" indent="0" marL="0">
              <a:buNone/>
            </a:pPr>
            <a:r>
              <a:rPr lang="en-US" sz="4000" b="1" dirty="0">
                <a:solidFill>
                  <a:srgbClr val="0C1B35"/>
                </a:solidFill>
                <a:latin typeface="Calibri" pitchFamily="34" charset="0"/>
                <a:ea typeface="Calibri" pitchFamily="34" charset="-122"/>
                <a:cs typeface="Calibri" pitchFamily="34" charset="-120"/>
              </a:rPr>
              <a:t>Spec-Driven Development</a:t>
            </a:r>
            <a:endParaRPr lang="en-US" sz="4000" dirty="0"/>
          </a:p>
        </p:txBody>
      </p:sp>
      <p:sp>
        <p:nvSpPr>
          <p:cNvPr id="4" name="Text 2"/>
          <p:cNvSpPr/>
          <p:nvPr/>
        </p:nvSpPr>
        <p:spPr>
          <a:xfrm>
            <a:off x="457200" y="2697480"/>
            <a:ext cx="9166225" cy="640080"/>
          </a:xfrm>
          <a:prstGeom prst="rect">
            <a:avLst/>
          </a:prstGeom>
          <a:noFill/>
          <a:ln/>
        </p:spPr>
        <p:txBody>
          <a:bodyPr wrap="square" rtlCol="0" anchor="ctr"/>
          <a:lstStyle/>
          <a:p>
            <a:pPr algn="ctr" indent="0" marL="0">
              <a:buNone/>
            </a:pPr>
            <a:r>
              <a:rPr lang="en-US" sz="3000" b="1" dirty="0">
                <a:solidFill>
                  <a:srgbClr val="1D6FBC"/>
                </a:solidFill>
                <a:latin typeface="Calibri" pitchFamily="34" charset="0"/>
                <a:ea typeface="Calibri" pitchFamily="34" charset="-122"/>
                <a:cs typeface="Calibri" pitchFamily="34" charset="-120"/>
              </a:rPr>
              <a:t>with GitHub Spec-Kit</a:t>
            </a:r>
            <a:endParaRPr lang="en-US" sz="3000" dirty="0"/>
          </a:p>
        </p:txBody>
      </p:sp>
      <p:sp>
        <p:nvSpPr>
          <p:cNvPr id="5" name="Shape 3"/>
          <p:cNvSpPr/>
          <p:nvPr/>
        </p:nvSpPr>
        <p:spPr>
          <a:xfrm>
            <a:off x="4217353" y="3611880"/>
            <a:ext cx="1645920" cy="32004"/>
          </a:xfrm>
          <a:prstGeom prst="rect">
            <a:avLst/>
          </a:prstGeom>
          <a:solidFill>
            <a:srgbClr val="1D6FBC"/>
          </a:solidFill>
          <a:ln w="12700">
            <a:solidFill>
              <a:srgbClr val="1D6FBC"/>
            </a:solidFill>
            <a:prstDash val="solid"/>
          </a:ln>
        </p:spPr>
      </p:sp>
      <p:sp>
        <p:nvSpPr>
          <p:cNvPr id="6" name="Text 4"/>
          <p:cNvSpPr/>
          <p:nvPr/>
        </p:nvSpPr>
        <p:spPr>
          <a:xfrm>
            <a:off x="457200" y="3840480"/>
            <a:ext cx="9166225" cy="502920"/>
          </a:xfrm>
          <a:prstGeom prst="rect">
            <a:avLst/>
          </a:prstGeom>
          <a:noFill/>
          <a:ln/>
        </p:spPr>
        <p:txBody>
          <a:bodyPr wrap="square" rtlCol="0" anchor="ctr"/>
          <a:lstStyle/>
          <a:p>
            <a:pPr algn="ctr" indent="0" marL="0">
              <a:buNone/>
            </a:pPr>
            <a:r>
              <a:rPr lang="en-US" sz="1800" i="1" dirty="0">
                <a:solidFill>
                  <a:srgbClr val="4A6A8A"/>
                </a:solidFill>
                <a:latin typeface="Calibri" pitchFamily="34" charset="0"/>
                <a:ea typeface="Calibri" pitchFamily="34" charset="-122"/>
                <a:cs typeface="Calibri" pitchFamily="34" charset="-120"/>
              </a:rPr>
              <a:t>Constitution to code: six commands, zero improvisation</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6FF"/>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1D6FBC"/>
          </a:solidFill>
          <a:ln w="9525">
            <a:solidFill>
              <a:srgbClr val="1D6FB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WORKFLOW</a:t>
            </a:r>
            <a:endParaRPr lang="en-US" sz="1200" dirty="0"/>
          </a:p>
        </p:txBody>
      </p:sp>
      <p:sp>
        <p:nvSpPr>
          <p:cNvPr id="4" name="Text 2"/>
          <p:cNvSpPr/>
          <p:nvPr/>
        </p:nvSpPr>
        <p:spPr>
          <a:xfrm>
            <a:off x="457200" y="658368"/>
            <a:ext cx="9166225" cy="685800"/>
          </a:xfrm>
          <a:prstGeom prst="rect">
            <a:avLst/>
          </a:prstGeom>
          <a:noFill/>
          <a:ln/>
        </p:spPr>
        <p:txBody>
          <a:bodyPr wrap="square" rtlCol="0" anchor="ctr"/>
          <a:lstStyle/>
          <a:p>
            <a:pPr indent="0" marL="0">
              <a:buNone/>
            </a:pPr>
            <a:r>
              <a:rPr lang="en-US" sz="3000" b="1" dirty="0">
                <a:solidFill>
                  <a:srgbClr val="0C1B35"/>
                </a:solidFill>
                <a:latin typeface="Calibri" pitchFamily="34" charset="0"/>
                <a:ea typeface="Calibri" pitchFamily="34" charset="-122"/>
                <a:cs typeface="Calibri" pitchFamily="34" charset="-120"/>
              </a:rPr>
              <a:t>The Problem: Prompt and Hope</a:t>
            </a:r>
            <a:endParaRPr lang="en-US" sz="3000" dirty="0"/>
          </a:p>
        </p:txBody>
      </p:sp>
      <p:sp>
        <p:nvSpPr>
          <p:cNvPr id="5" name="Shape 3"/>
          <p:cNvSpPr/>
          <p:nvPr/>
        </p:nvSpPr>
        <p:spPr>
          <a:xfrm>
            <a:off x="457200" y="1417320"/>
            <a:ext cx="9166225" cy="27432"/>
          </a:xfrm>
          <a:prstGeom prst="rect">
            <a:avLst/>
          </a:prstGeom>
          <a:solidFill>
            <a:srgbClr val="1D6FBC"/>
          </a:solidFill>
          <a:ln w="12700">
            <a:solidFill>
              <a:srgbClr val="1D6FBC"/>
            </a:solidFill>
            <a:prstDash val="solid"/>
          </a:ln>
        </p:spPr>
      </p:sp>
      <p:sp>
        <p:nvSpPr>
          <p:cNvPr id="6" name="Text 4"/>
          <p:cNvSpPr/>
          <p:nvPr/>
        </p:nvSpPr>
        <p:spPr>
          <a:xfrm>
            <a:off x="457200" y="1572768"/>
            <a:ext cx="9166225" cy="955866"/>
          </a:xfrm>
          <a:prstGeom prst="rect">
            <a:avLst/>
          </a:prstGeom>
          <a:noFill/>
          <a:ln/>
        </p:spPr>
        <p:txBody>
          <a:bodyPr wrap="square" rtlCol="0" anchor="ctr"/>
          <a:lstStyle/>
          <a:p>
            <a:pPr marL="254000" indent="-254000">
              <a:buSzPct val="100000"/>
              <a:buChar char="•"/>
            </a:pPr>
            <a:r>
              <a:rPr lang="en-US" sz="2200" dirty="0">
                <a:solidFill>
                  <a:srgbClr val="0C1B35"/>
                </a:solidFill>
                <a:latin typeface="Calibri" pitchFamily="34" charset="0"/>
                <a:ea typeface="Calibri" pitchFamily="34" charset="-122"/>
                <a:cs typeface="Calibri" pitchFamily="34" charset="-120"/>
              </a:rPr>
              <a:t>You type one big prompt, the agent writes a feature, it runs — great, for about ten minutes</a:t>
            </a:r>
            <a:endParaRPr lang="en-US" sz="2200" dirty="0"/>
          </a:p>
        </p:txBody>
      </p:sp>
      <p:sp>
        <p:nvSpPr>
          <p:cNvPr id="7" name="Text 5"/>
          <p:cNvSpPr/>
          <p:nvPr/>
        </p:nvSpPr>
        <p:spPr>
          <a:xfrm>
            <a:off x="457200" y="2528634"/>
            <a:ext cx="9166225" cy="955866"/>
          </a:xfrm>
          <a:prstGeom prst="rect">
            <a:avLst/>
          </a:prstGeom>
          <a:noFill/>
          <a:ln/>
        </p:spPr>
        <p:txBody>
          <a:bodyPr wrap="square" rtlCol="0" anchor="ctr"/>
          <a:lstStyle/>
          <a:p>
            <a:pPr marL="254000" indent="-254000">
              <a:buSzPct val="100000"/>
              <a:buChar char="•"/>
            </a:pPr>
            <a:r>
              <a:rPr lang="en-US" sz="2200" dirty="0">
                <a:solidFill>
                  <a:srgbClr val="0C1B35"/>
                </a:solidFill>
                <a:latin typeface="Calibri" pitchFamily="34" charset="0"/>
                <a:ea typeface="Calibri" pitchFamily="34" charset="-122"/>
                <a:cs typeface="Calibri" pitchFamily="34" charset="-120"/>
              </a:rPr>
              <a:t>Two weeks later: why is storage a global mutable object? Why is the code 8 characters, not 6? Nobody knows — there's no artifact, only chat scrollback</a:t>
            </a:r>
            <a:endParaRPr lang="en-US" sz="2200" dirty="0"/>
          </a:p>
        </p:txBody>
      </p:sp>
      <p:sp>
        <p:nvSpPr>
          <p:cNvPr id="8" name="Text 6"/>
          <p:cNvSpPr/>
          <p:nvPr/>
        </p:nvSpPr>
        <p:spPr>
          <a:xfrm>
            <a:off x="457200" y="3484499"/>
            <a:ext cx="9166225" cy="955866"/>
          </a:xfrm>
          <a:prstGeom prst="rect">
            <a:avLst/>
          </a:prstGeom>
          <a:noFill/>
          <a:ln/>
        </p:spPr>
        <p:txBody>
          <a:bodyPr wrap="square" rtlCol="0" anchor="ctr"/>
          <a:lstStyle/>
          <a:p>
            <a:pPr marL="254000" indent="-254000">
              <a:buSzPct val="100000"/>
              <a:buChar char="•"/>
            </a:pPr>
            <a:r>
              <a:rPr lang="en-US" sz="2200" dirty="0">
                <a:solidFill>
                  <a:srgbClr val="0C1B35"/>
                </a:solidFill>
                <a:latin typeface="Calibri" pitchFamily="34" charset="0"/>
                <a:ea typeface="Calibri" pitchFamily="34" charset="-122"/>
                <a:cs typeface="Calibri" pitchFamily="34" charset="-120"/>
              </a:rPr>
              <a:t>Ask two different people to prompt the same agent for the same feature and you get two different implementations, with two different unwritten assumptions baked in</a:t>
            </a:r>
            <a:endParaRPr lang="en-US" sz="2200" dirty="0"/>
          </a:p>
        </p:txBody>
      </p:sp>
      <p:sp>
        <p:nvSpPr>
          <p:cNvPr id="9" name="Text 7"/>
          <p:cNvSpPr/>
          <p:nvPr/>
        </p:nvSpPr>
        <p:spPr>
          <a:xfrm>
            <a:off x="457200" y="4440365"/>
            <a:ext cx="9166225" cy="955866"/>
          </a:xfrm>
          <a:prstGeom prst="rect">
            <a:avLst/>
          </a:prstGeom>
          <a:noFill/>
          <a:ln/>
        </p:spPr>
        <p:txBody>
          <a:bodyPr wrap="square" rtlCol="0" anchor="ctr"/>
          <a:lstStyle/>
          <a:p>
            <a:pPr marL="254000" indent="-254000">
              <a:buSzPct val="100000"/>
              <a:buChar char="•"/>
            </a:pPr>
            <a:r>
              <a:rPr lang="en-US" sz="2200" dirty="0">
                <a:solidFill>
                  <a:srgbClr val="0C1B35"/>
                </a:solidFill>
                <a:latin typeface="Calibri" pitchFamily="34" charset="0"/>
                <a:ea typeface="Calibri" pitchFamily="34" charset="-122"/>
                <a:cs typeface="Calibri" pitchFamily="34" charset="-120"/>
              </a:rPr>
              <a:t>The problem isn't the AI — it's that nothing was decided before the code, so nothing can be checked after it</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F6FF"/>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1D6FBC"/>
          </a:solidFill>
          <a:ln w="9525">
            <a:solidFill>
              <a:srgbClr val="1D6FB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WORKFLOW</a:t>
            </a:r>
            <a:endParaRPr lang="en-US" sz="1200" dirty="0"/>
          </a:p>
        </p:txBody>
      </p:sp>
      <p:sp>
        <p:nvSpPr>
          <p:cNvPr id="4" name="Text 2"/>
          <p:cNvSpPr/>
          <p:nvPr/>
        </p:nvSpPr>
        <p:spPr>
          <a:xfrm>
            <a:off x="457200" y="658368"/>
            <a:ext cx="9166225" cy="685800"/>
          </a:xfrm>
          <a:prstGeom prst="rect">
            <a:avLst/>
          </a:prstGeom>
          <a:noFill/>
          <a:ln/>
        </p:spPr>
        <p:txBody>
          <a:bodyPr wrap="square" rtlCol="0" anchor="ctr"/>
          <a:lstStyle/>
          <a:p>
            <a:pPr indent="0" marL="0">
              <a:buNone/>
            </a:pPr>
            <a:r>
              <a:rPr lang="en-US" sz="3000" b="1" dirty="0">
                <a:solidFill>
                  <a:srgbClr val="0C1B35"/>
                </a:solidFill>
                <a:latin typeface="Calibri" pitchFamily="34" charset="0"/>
                <a:ea typeface="Calibri" pitchFamily="34" charset="-122"/>
                <a:cs typeface="Calibri" pitchFamily="34" charset="-120"/>
              </a:rPr>
              <a:t>What Spec-Driven Development Is</a:t>
            </a:r>
            <a:endParaRPr lang="en-US" sz="3000" dirty="0"/>
          </a:p>
        </p:txBody>
      </p:sp>
      <p:sp>
        <p:nvSpPr>
          <p:cNvPr id="5" name="Shape 3"/>
          <p:cNvSpPr/>
          <p:nvPr/>
        </p:nvSpPr>
        <p:spPr>
          <a:xfrm>
            <a:off x="457200" y="1417320"/>
            <a:ext cx="9166225" cy="27432"/>
          </a:xfrm>
          <a:prstGeom prst="rect">
            <a:avLst/>
          </a:prstGeom>
          <a:solidFill>
            <a:srgbClr val="1D6FBC"/>
          </a:solidFill>
          <a:ln w="12700">
            <a:solidFill>
              <a:srgbClr val="1D6FBC"/>
            </a:solidFill>
            <a:prstDash val="solid"/>
          </a:ln>
        </p:spPr>
      </p:sp>
      <p:sp>
        <p:nvSpPr>
          <p:cNvPr id="6" name="Text 4"/>
          <p:cNvSpPr/>
          <p:nvPr/>
        </p:nvSpPr>
        <p:spPr>
          <a:xfrm>
            <a:off x="457200" y="1572768"/>
            <a:ext cx="9166225" cy="914400"/>
          </a:xfrm>
          <a:prstGeom prst="rect">
            <a:avLst/>
          </a:prstGeom>
          <a:noFill/>
          <a:ln/>
        </p:spPr>
        <p:txBody>
          <a:bodyPr wrap="square" rtlCol="0" anchor="ctr"/>
          <a:lstStyle/>
          <a:p>
            <a:pPr marL="254000" indent="-254000">
              <a:buSzPct val="100000"/>
              <a:buChar char="•"/>
            </a:pPr>
            <a:r>
              <a:rPr lang="en-US" sz="2000" dirty="0">
                <a:solidFill>
                  <a:srgbClr val="0C1B35"/>
                </a:solidFill>
                <a:latin typeface="Calibri" pitchFamily="34" charset="0"/>
                <a:ea typeface="Calibri" pitchFamily="34" charset="-122"/>
                <a:cs typeface="Calibri" pitchFamily="34" charset="-120"/>
              </a:rPr>
              <a:t>Spec-Driven Development (SDD): a discipline that separates why, what, how, and order into distinct, written artifacts — all produced before any implementation code exists</a:t>
            </a:r>
            <a:endParaRPr lang="en-US" sz="2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2578608"/>
          <a:ext cx="9166225" cy="914400"/>
        </p:xfrm>
        <a:graphic>
          <a:graphicData uri="http://schemas.openxmlformats.org/drawingml/2006/table">
            <a:tbl>
              <a:tblPr/>
              <a:tblGrid>
                <a:gridCol w="1649920"/>
                <a:gridCol w="7516305"/>
              </a:tblGrid>
              <a:tr h="563524">
                <a:tc>
                  <a:txBody>
                    <a:bodyPr/>
                    <a:lstStyle/>
                    <a:p>
                      <a:pPr algn="l" indent="0" marL="0">
                        <a:buNone/>
                      </a:pPr>
                      <a:r>
                        <a:rPr lang="en-US" sz="1800" b="1" dirty="0">
                          <a:solidFill>
                            <a:srgbClr val="0C1B35"/>
                          </a:solidFill>
                          <a:latin typeface="Calibri" pitchFamily="34" charset="0"/>
                          <a:ea typeface="Calibri" pitchFamily="34" charset="-122"/>
                          <a:cs typeface="Calibri" pitchFamily="34" charset="-120"/>
                        </a:rPr>
                        <a:t>Question</a:t>
                      </a:r>
                      <a:endParaRPr lang="en-US" sz="18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DDE8F5"/>
                    </a:solidFill>
                  </a:tcPr>
                </a:tc>
                <a:tc>
                  <a:txBody>
                    <a:bodyPr/>
                    <a:lstStyle/>
                    <a:p>
                      <a:pPr algn="l" indent="0" marL="0">
                        <a:buNone/>
                      </a:pPr>
                      <a:r>
                        <a:rPr lang="en-US" sz="1800" b="1" dirty="0">
                          <a:solidFill>
                            <a:srgbClr val="0C1B35"/>
                          </a:solidFill>
                          <a:latin typeface="Calibri" pitchFamily="34" charset="0"/>
                          <a:ea typeface="Calibri" pitchFamily="34" charset="-122"/>
                          <a:cs typeface="Calibri" pitchFamily="34" charset="-120"/>
                        </a:rPr>
                        <a:t>Artifact</a:t>
                      </a:r>
                      <a:endParaRPr lang="en-US" sz="18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DDE8F5"/>
                    </a:solidFill>
                  </a:tcPr>
                </a:tc>
              </a:tr>
              <a:tr h="563524">
                <a:tc>
                  <a:txBody>
                    <a:bodyPr/>
                    <a:lstStyle/>
                    <a:p>
                      <a:pPr algn="l" indent="0" marL="0">
                        <a:buNone/>
                      </a:pPr>
                      <a:r>
                        <a:rPr lang="en-US" sz="1700" b="1" dirty="0">
                          <a:solidFill>
                            <a:srgbClr val="0C1B35"/>
                          </a:solidFill>
                          <a:latin typeface="Calibri" pitchFamily="34" charset="0"/>
                          <a:ea typeface="Calibri" pitchFamily="34" charset="-122"/>
                          <a:cs typeface="Calibri" pitchFamily="34" charset="-120"/>
                        </a:rPr>
                        <a:t>Why</a:t>
                      </a:r>
                      <a:endParaRPr lang="en-US" sz="17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F0F6FF"/>
                    </a:solidFill>
                  </a:tcPr>
                </a:tc>
                <a:tc>
                  <a:txBody>
                    <a:bodyPr/>
                    <a:lstStyle/>
                    <a:p>
                      <a:pPr algn="l" indent="0" marL="0">
                        <a:buNone/>
                      </a:pPr>
                      <a:r>
                        <a:rPr lang="en-US" sz="1700" dirty="0">
                          <a:solidFill>
                            <a:srgbClr val="0C1B35"/>
                          </a:solidFill>
                          <a:latin typeface="Calibri" pitchFamily="34" charset="0"/>
                          <a:ea typeface="Calibri" pitchFamily="34" charset="-122"/>
                          <a:cs typeface="Calibri" pitchFamily="34" charset="-120"/>
                        </a:rPr>
                        <a:t>constitution — the non-negotiable principles</a:t>
                      </a:r>
                      <a:endParaRPr lang="en-US" sz="17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F0F6FF"/>
                    </a:solidFill>
                  </a:tcPr>
                </a:tc>
              </a:tr>
              <a:tr h="563524">
                <a:tc>
                  <a:txBody>
                    <a:bodyPr/>
                    <a:lstStyle/>
                    <a:p>
                      <a:pPr algn="l" indent="0" marL="0">
                        <a:buNone/>
                      </a:pPr>
                      <a:r>
                        <a:rPr lang="en-US" sz="1700" b="1" dirty="0">
                          <a:solidFill>
                            <a:srgbClr val="0C1B35"/>
                          </a:solidFill>
                          <a:latin typeface="Calibri" pitchFamily="34" charset="0"/>
                          <a:ea typeface="Calibri" pitchFamily="34" charset="-122"/>
                          <a:cs typeface="Calibri" pitchFamily="34" charset="-120"/>
                        </a:rPr>
                        <a:t>What</a:t>
                      </a:r>
                      <a:endParaRPr lang="en-US" sz="17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DDE8F5"/>
                    </a:solidFill>
                  </a:tcPr>
                </a:tc>
                <a:tc>
                  <a:txBody>
                    <a:bodyPr/>
                    <a:lstStyle/>
                    <a:p>
                      <a:pPr algn="l" indent="0" marL="0">
                        <a:buNone/>
                      </a:pPr>
                      <a:r>
                        <a:rPr lang="en-US" sz="1700" dirty="0">
                          <a:solidFill>
                            <a:srgbClr val="0C1B35"/>
                          </a:solidFill>
                          <a:latin typeface="Calibri" pitchFamily="34" charset="0"/>
                          <a:ea typeface="Calibri" pitchFamily="34" charset="-122"/>
                          <a:cs typeface="Calibri" pitchFamily="34" charset="-120"/>
                        </a:rPr>
                        <a:t>spec — the requirements and user stories, in testable language</a:t>
                      </a:r>
                      <a:endParaRPr lang="en-US" sz="17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DDE8F5"/>
                    </a:solidFill>
                  </a:tcPr>
                </a:tc>
              </a:tr>
              <a:tr h="563524">
                <a:tc>
                  <a:txBody>
                    <a:bodyPr/>
                    <a:lstStyle/>
                    <a:p>
                      <a:pPr algn="l" indent="0" marL="0">
                        <a:buNone/>
                      </a:pPr>
                      <a:r>
                        <a:rPr lang="en-US" sz="1700" b="1" dirty="0">
                          <a:solidFill>
                            <a:srgbClr val="0C1B35"/>
                          </a:solidFill>
                          <a:latin typeface="Calibri" pitchFamily="34" charset="0"/>
                          <a:ea typeface="Calibri" pitchFamily="34" charset="-122"/>
                          <a:cs typeface="Calibri" pitchFamily="34" charset="-120"/>
                        </a:rPr>
                        <a:t>How</a:t>
                      </a:r>
                      <a:endParaRPr lang="en-US" sz="17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F0F6FF"/>
                    </a:solidFill>
                  </a:tcPr>
                </a:tc>
                <a:tc>
                  <a:txBody>
                    <a:bodyPr/>
                    <a:lstStyle/>
                    <a:p>
                      <a:pPr algn="l" indent="0" marL="0">
                        <a:buNone/>
                      </a:pPr>
                      <a:r>
                        <a:rPr lang="en-US" sz="1700" dirty="0">
                          <a:solidFill>
                            <a:srgbClr val="0C1B35"/>
                          </a:solidFill>
                          <a:latin typeface="Calibri" pitchFamily="34" charset="0"/>
                          <a:ea typeface="Calibri" pitchFamily="34" charset="-122"/>
                          <a:cs typeface="Calibri" pitchFamily="34" charset="-120"/>
                        </a:rPr>
                        <a:t>plan — the technical design, gated against the constitution</a:t>
                      </a:r>
                      <a:endParaRPr lang="en-US" sz="17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F0F6FF"/>
                    </a:solidFill>
                  </a:tcPr>
                </a:tc>
              </a:tr>
              <a:tr h="563524">
                <a:tc>
                  <a:txBody>
                    <a:bodyPr/>
                    <a:lstStyle/>
                    <a:p>
                      <a:pPr algn="l" indent="0" marL="0">
                        <a:buNone/>
                      </a:pPr>
                      <a:r>
                        <a:rPr lang="en-US" sz="1700" b="1" dirty="0">
                          <a:solidFill>
                            <a:srgbClr val="0C1B35"/>
                          </a:solidFill>
                          <a:latin typeface="Calibri" pitchFamily="34" charset="0"/>
                          <a:ea typeface="Calibri" pitchFamily="34" charset="-122"/>
                          <a:cs typeface="Calibri" pitchFamily="34" charset="-120"/>
                        </a:rPr>
                        <a:t>Order</a:t>
                      </a:r>
                      <a:endParaRPr lang="en-US" sz="17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DDE8F5"/>
                    </a:solidFill>
                  </a:tcPr>
                </a:tc>
                <a:tc>
                  <a:txBody>
                    <a:bodyPr/>
                    <a:lstStyle/>
                    <a:p>
                      <a:pPr algn="l" indent="0" marL="0">
                        <a:buNone/>
                      </a:pPr>
                      <a:r>
                        <a:rPr lang="en-US" sz="1700" dirty="0">
                          <a:solidFill>
                            <a:srgbClr val="0C1B35"/>
                          </a:solidFill>
                          <a:latin typeface="Calibri" pitchFamily="34" charset="0"/>
                          <a:ea typeface="Calibri" pitchFamily="34" charset="-122"/>
                          <a:cs typeface="Calibri" pitchFamily="34" charset="-120"/>
                        </a:rPr>
                        <a:t>tasks — a dependency-ordered checklist the implementation just executes</a:t>
                      </a:r>
                      <a:endParaRPr lang="en-US" sz="17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DDE8F5"/>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D6FBC"/>
        </a:solidFill>
      </p:bgPr>
    </p:bg>
    <p:spTree>
      <p:nvGrpSpPr>
        <p:cNvPr id="1" name=""/>
        <p:cNvGrpSpPr/>
        <p:nvPr/>
      </p:nvGrpSpPr>
      <p:grpSpPr>
        <a:xfrm>
          <a:off x="0" y="0"/>
          <a:ext cx="0" cy="0"/>
          <a:chOff x="0" y="0"/>
          <a:chExt cx="0" cy="0"/>
        </a:xfrm>
      </p:grpSpPr>
      <p:sp>
        <p:nvSpPr>
          <p:cNvPr id="2" name="Shape 0"/>
          <p:cNvSpPr/>
          <p:nvPr/>
        </p:nvSpPr>
        <p:spPr>
          <a:xfrm>
            <a:off x="0" y="0"/>
            <a:ext cx="164592" cy="5670550"/>
          </a:xfrm>
          <a:prstGeom prst="rect">
            <a:avLst/>
          </a:prstGeom>
          <a:solidFill>
            <a:srgbClr val="FFFFFF"/>
          </a:solidFill>
          <a:ln w="12700">
            <a:solidFill>
              <a:srgbClr val="FFFFFF"/>
            </a:solidFill>
            <a:prstDash val="solid"/>
          </a:ln>
        </p:spPr>
      </p:sp>
      <p:sp>
        <p:nvSpPr>
          <p:cNvPr id="3" name="Text 1"/>
          <p:cNvSpPr/>
          <p:nvPr/>
        </p:nvSpPr>
        <p:spPr>
          <a:xfrm>
            <a:off x="457200" y="2103120"/>
            <a:ext cx="9166225" cy="1463040"/>
          </a:xfrm>
          <a:prstGeom prst="rect">
            <a:avLst/>
          </a:prstGeom>
          <a:noFill/>
          <a:ln/>
        </p:spPr>
        <p:txBody>
          <a:bodyPr wrap="square" rtlCol="0" anchor="ctr"/>
          <a:lstStyle/>
          <a:p>
            <a:pPr algn="ctr" indent="0" marL="0">
              <a:buNone/>
            </a:pPr>
            <a:r>
              <a:rPr lang="en-US" sz="4800" b="1" dirty="0">
                <a:solidFill>
                  <a:srgbClr val="FFFFFF"/>
                </a:solidFill>
                <a:latin typeface="Calibri" pitchFamily="34" charset="0"/>
                <a:ea typeface="Calibri" pitchFamily="34" charset="-122"/>
                <a:cs typeface="Calibri" pitchFamily="34" charset="-120"/>
              </a:rPr>
              <a:t>The Pipeline</a:t>
            </a:r>
            <a:endParaRPr lang="en-US" sz="4800" dirty="0"/>
          </a:p>
        </p:txBody>
      </p:sp>
      <p:sp>
        <p:nvSpPr>
          <p:cNvPr id="4" name="Text 2"/>
          <p:cNvSpPr/>
          <p:nvPr/>
        </p:nvSpPr>
        <p:spPr>
          <a:xfrm>
            <a:off x="457200" y="3749040"/>
            <a:ext cx="9166225" cy="640080"/>
          </a:xfrm>
          <a:prstGeom prst="rect">
            <a:avLst/>
          </a:prstGeom>
          <a:noFill/>
          <a:ln/>
        </p:spPr>
        <p:txBody>
          <a:bodyPr wrap="square" rtlCol="0" anchor="ctr"/>
          <a:lstStyle/>
          <a:p>
            <a:pPr algn="ctr" indent="0" marL="0">
              <a:buNone/>
            </a:pPr>
            <a:r>
              <a:rPr lang="en-US" sz="2200" dirty="0">
                <a:solidFill>
                  <a:srgbClr val="FFFFFF">
                    <a:alpha val="80000"/>
                  </a:srgbClr>
                </a:solidFill>
                <a:latin typeface="Calibri" pitchFamily="34" charset="0"/>
                <a:ea typeface="Calibri" pitchFamily="34" charset="-122"/>
                <a:cs typeface="Calibri" pitchFamily="34" charset="-120"/>
              </a:rPr>
              <a:t>Six commands, one direction</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6FF"/>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1D6FBC"/>
          </a:solidFill>
          <a:ln w="9525">
            <a:solidFill>
              <a:srgbClr val="1D6FB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WORKFLOW</a:t>
            </a:r>
            <a:endParaRPr lang="en-US" sz="1200" dirty="0"/>
          </a:p>
        </p:txBody>
      </p:sp>
      <p:sp>
        <p:nvSpPr>
          <p:cNvPr id="4" name="Text 2"/>
          <p:cNvSpPr/>
          <p:nvPr/>
        </p:nvSpPr>
        <p:spPr>
          <a:xfrm>
            <a:off x="457200" y="658368"/>
            <a:ext cx="9166225" cy="685800"/>
          </a:xfrm>
          <a:prstGeom prst="rect">
            <a:avLst/>
          </a:prstGeom>
          <a:noFill/>
          <a:ln/>
        </p:spPr>
        <p:txBody>
          <a:bodyPr wrap="square" rtlCol="0" anchor="ctr"/>
          <a:lstStyle/>
          <a:p>
            <a:pPr indent="0" marL="0">
              <a:buNone/>
            </a:pPr>
            <a:r>
              <a:rPr lang="en-US" sz="3000" b="1" dirty="0">
                <a:solidFill>
                  <a:srgbClr val="0C1B35"/>
                </a:solidFill>
                <a:latin typeface="Calibri" pitchFamily="34" charset="0"/>
                <a:ea typeface="Calibri" pitchFamily="34" charset="-122"/>
                <a:cs typeface="Calibri" pitchFamily="34" charset="-120"/>
              </a:rPr>
              <a:t>Six Commands, One Direction</a:t>
            </a:r>
            <a:endParaRPr lang="en-US" sz="3000" dirty="0"/>
          </a:p>
        </p:txBody>
      </p:sp>
      <p:sp>
        <p:nvSpPr>
          <p:cNvPr id="5" name="Shape 3"/>
          <p:cNvSpPr/>
          <p:nvPr/>
        </p:nvSpPr>
        <p:spPr>
          <a:xfrm>
            <a:off x="457200" y="1417320"/>
            <a:ext cx="9166225" cy="27432"/>
          </a:xfrm>
          <a:prstGeom prst="rect">
            <a:avLst/>
          </a:prstGeom>
          <a:solidFill>
            <a:srgbClr val="1D6FBC"/>
          </a:solidFill>
          <a:ln w="12700">
            <a:solidFill>
              <a:srgbClr val="1D6FBC"/>
            </a:solidFill>
            <a:prstDash val="solid"/>
          </a:ln>
        </p:spPr>
      </p:sp>
      <p:sp>
        <p:nvSpPr>
          <p:cNvPr id="6" name="Shape 4"/>
          <p:cNvSpPr/>
          <p:nvPr/>
        </p:nvSpPr>
        <p:spPr>
          <a:xfrm>
            <a:off x="457200" y="1840230"/>
            <a:ext cx="1238144" cy="653796"/>
          </a:xfrm>
          <a:prstGeom prst="roundRect">
            <a:avLst>
              <a:gd name="adj" fmla="val 13986"/>
            </a:avLst>
          </a:prstGeom>
          <a:solidFill>
            <a:srgbClr val="DDE8F5"/>
          </a:solidFill>
          <a:ln w="19050">
            <a:solidFill>
              <a:srgbClr val="1D6FBC"/>
            </a:solidFill>
            <a:prstDash val="solid"/>
          </a:ln>
        </p:spPr>
      </p:sp>
      <p:sp>
        <p:nvSpPr>
          <p:cNvPr id="7" name="Text 5"/>
          <p:cNvSpPr/>
          <p:nvPr/>
        </p:nvSpPr>
        <p:spPr>
          <a:xfrm>
            <a:off x="457200" y="1840230"/>
            <a:ext cx="1238144" cy="653796"/>
          </a:xfrm>
          <a:prstGeom prst="rect">
            <a:avLst/>
          </a:prstGeom>
          <a:noFill/>
          <a:ln/>
        </p:spPr>
        <p:txBody>
          <a:bodyPr wrap="square" rtlCol="0" anchor="ctr"/>
          <a:lstStyle/>
          <a:p>
            <a:pPr algn="ctr" indent="0" marL="0">
              <a:buNone/>
            </a:pPr>
            <a:r>
              <a:rPr lang="en-US" sz="1100" b="1" dirty="0">
                <a:solidFill>
                  <a:srgbClr val="0C1B35"/>
                </a:solidFill>
                <a:latin typeface="Calibri" pitchFamily="34" charset="0"/>
                <a:ea typeface="Calibri" pitchFamily="34" charset="-122"/>
                <a:cs typeface="Calibri" pitchFamily="34" charset="-120"/>
              </a:rPr>
              <a:t>specify init</a:t>
            </a:r>
            <a:endParaRPr lang="en-US" sz="1100" dirty="0"/>
          </a:p>
        </p:txBody>
      </p:sp>
      <p:sp>
        <p:nvSpPr>
          <p:cNvPr id="8" name="Text 6"/>
          <p:cNvSpPr/>
          <p:nvPr/>
        </p:nvSpPr>
        <p:spPr>
          <a:xfrm>
            <a:off x="1695344" y="1840230"/>
            <a:ext cx="347472" cy="653796"/>
          </a:xfrm>
          <a:prstGeom prst="rect">
            <a:avLst/>
          </a:prstGeom>
          <a:noFill/>
          <a:ln/>
        </p:spPr>
        <p:txBody>
          <a:bodyPr wrap="square" rtlCol="0" anchor="ctr"/>
          <a:lstStyle/>
          <a:p>
            <a:pPr algn="ctr" indent="0" marL="0">
              <a:buNone/>
            </a:pPr>
            <a:r>
              <a:rPr lang="en-US" sz="2200" dirty="0">
                <a:solidFill>
                  <a:srgbClr val="1D6FBC"/>
                </a:solidFill>
                <a:latin typeface="Calibri" pitchFamily="34" charset="0"/>
                <a:ea typeface="Calibri" pitchFamily="34" charset="-122"/>
                <a:cs typeface="Calibri" pitchFamily="34" charset="-120"/>
              </a:rPr>
              <a:t>→</a:t>
            </a:r>
            <a:endParaRPr lang="en-US" sz="2200" dirty="0"/>
          </a:p>
        </p:txBody>
      </p:sp>
      <p:sp>
        <p:nvSpPr>
          <p:cNvPr id="9" name="Shape 7"/>
          <p:cNvSpPr/>
          <p:nvPr/>
        </p:nvSpPr>
        <p:spPr>
          <a:xfrm>
            <a:off x="2042816" y="1840230"/>
            <a:ext cx="1238144" cy="653796"/>
          </a:xfrm>
          <a:prstGeom prst="roundRect">
            <a:avLst>
              <a:gd name="adj" fmla="val 13986"/>
            </a:avLst>
          </a:prstGeom>
          <a:solidFill>
            <a:srgbClr val="DDE8F5"/>
          </a:solidFill>
          <a:ln w="19050">
            <a:solidFill>
              <a:srgbClr val="1D6FBC"/>
            </a:solidFill>
            <a:prstDash val="solid"/>
          </a:ln>
        </p:spPr>
      </p:sp>
      <p:sp>
        <p:nvSpPr>
          <p:cNvPr id="10" name="Text 8"/>
          <p:cNvSpPr/>
          <p:nvPr/>
        </p:nvSpPr>
        <p:spPr>
          <a:xfrm>
            <a:off x="2042816" y="1840230"/>
            <a:ext cx="1238144" cy="653796"/>
          </a:xfrm>
          <a:prstGeom prst="rect">
            <a:avLst/>
          </a:prstGeom>
          <a:noFill/>
          <a:ln/>
        </p:spPr>
        <p:txBody>
          <a:bodyPr wrap="square" rtlCol="0" anchor="ctr"/>
          <a:lstStyle/>
          <a:p>
            <a:pPr algn="ctr" indent="0" marL="0">
              <a:buNone/>
            </a:pPr>
            <a:r>
              <a:rPr lang="en-US" sz="1100" dirty="0">
                <a:solidFill>
                  <a:srgbClr val="0C1B35"/>
                </a:solidFill>
                <a:latin typeface="Calibri" pitchFamily="34" charset="0"/>
                <a:ea typeface="Calibri" pitchFamily="34" charset="-122"/>
                <a:cs typeface="Calibri" pitchFamily="34" charset="-120"/>
              </a:rPr>
              <a:t>/speckit-</a:t>
            </a:r>
            <a:endParaRPr lang="en-US" sz="1100" dirty="0"/>
          </a:p>
          <a:p>
            <a:pPr algn="ctr" indent="0" marL="0">
              <a:buNone/>
            </a:pPr>
            <a:r>
              <a:rPr lang="en-US" sz="1100" dirty="0">
                <a:solidFill>
                  <a:srgbClr val="0C1B35"/>
                </a:solidFill>
                <a:latin typeface="Calibri" pitchFamily="34" charset="0"/>
                <a:ea typeface="Calibri" pitchFamily="34" charset="-122"/>
                <a:cs typeface="Calibri" pitchFamily="34" charset="-120"/>
              </a:rPr>
              <a:t>constitution</a:t>
            </a:r>
            <a:endParaRPr lang="en-US" sz="1100" dirty="0"/>
          </a:p>
        </p:txBody>
      </p:sp>
      <p:sp>
        <p:nvSpPr>
          <p:cNvPr id="11" name="Text 9"/>
          <p:cNvSpPr/>
          <p:nvPr/>
        </p:nvSpPr>
        <p:spPr>
          <a:xfrm>
            <a:off x="3280960" y="1840230"/>
            <a:ext cx="347472" cy="653796"/>
          </a:xfrm>
          <a:prstGeom prst="rect">
            <a:avLst/>
          </a:prstGeom>
          <a:noFill/>
          <a:ln/>
        </p:spPr>
        <p:txBody>
          <a:bodyPr wrap="square" rtlCol="0" anchor="ctr"/>
          <a:lstStyle/>
          <a:p>
            <a:pPr algn="ctr" indent="0" marL="0">
              <a:buNone/>
            </a:pPr>
            <a:r>
              <a:rPr lang="en-US" sz="2200" dirty="0">
                <a:solidFill>
                  <a:srgbClr val="1D6FBC"/>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3628432" y="1840230"/>
            <a:ext cx="1238144" cy="653796"/>
          </a:xfrm>
          <a:prstGeom prst="roundRect">
            <a:avLst>
              <a:gd name="adj" fmla="val 13986"/>
            </a:avLst>
          </a:prstGeom>
          <a:solidFill>
            <a:srgbClr val="DDE8F5"/>
          </a:solidFill>
          <a:ln w="19050">
            <a:solidFill>
              <a:srgbClr val="1D6FBC"/>
            </a:solidFill>
            <a:prstDash val="solid"/>
          </a:ln>
        </p:spPr>
      </p:sp>
      <p:sp>
        <p:nvSpPr>
          <p:cNvPr id="13" name="Text 11"/>
          <p:cNvSpPr/>
          <p:nvPr/>
        </p:nvSpPr>
        <p:spPr>
          <a:xfrm>
            <a:off x="3628432" y="1840230"/>
            <a:ext cx="1238144" cy="653796"/>
          </a:xfrm>
          <a:prstGeom prst="rect">
            <a:avLst/>
          </a:prstGeom>
          <a:noFill/>
          <a:ln/>
        </p:spPr>
        <p:txBody>
          <a:bodyPr wrap="square" rtlCol="0" anchor="ctr"/>
          <a:lstStyle/>
          <a:p>
            <a:pPr algn="ctr" indent="0" marL="0">
              <a:buNone/>
            </a:pPr>
            <a:r>
              <a:rPr lang="en-US" sz="1100" dirty="0">
                <a:solidFill>
                  <a:srgbClr val="0C1B35"/>
                </a:solidFill>
                <a:latin typeface="Calibri" pitchFamily="34" charset="0"/>
                <a:ea typeface="Calibri" pitchFamily="34" charset="-122"/>
                <a:cs typeface="Calibri" pitchFamily="34" charset="-120"/>
              </a:rPr>
              <a:t>/speckit-</a:t>
            </a:r>
            <a:endParaRPr lang="en-US" sz="1100" dirty="0"/>
          </a:p>
          <a:p>
            <a:pPr algn="ctr" indent="0" marL="0">
              <a:buNone/>
            </a:pPr>
            <a:r>
              <a:rPr lang="en-US" sz="1100" dirty="0">
                <a:solidFill>
                  <a:srgbClr val="0C1B35"/>
                </a:solidFill>
                <a:latin typeface="Calibri" pitchFamily="34" charset="0"/>
                <a:ea typeface="Calibri" pitchFamily="34" charset="-122"/>
                <a:cs typeface="Calibri" pitchFamily="34" charset="-120"/>
              </a:rPr>
              <a:t>specify</a:t>
            </a:r>
            <a:endParaRPr lang="en-US" sz="1100" dirty="0"/>
          </a:p>
        </p:txBody>
      </p:sp>
      <p:sp>
        <p:nvSpPr>
          <p:cNvPr id="14" name="Text 12"/>
          <p:cNvSpPr/>
          <p:nvPr/>
        </p:nvSpPr>
        <p:spPr>
          <a:xfrm>
            <a:off x="4866577" y="1840230"/>
            <a:ext cx="347472" cy="653796"/>
          </a:xfrm>
          <a:prstGeom prst="rect">
            <a:avLst/>
          </a:prstGeom>
          <a:noFill/>
          <a:ln/>
        </p:spPr>
        <p:txBody>
          <a:bodyPr wrap="square" rtlCol="0" anchor="ctr"/>
          <a:lstStyle/>
          <a:p>
            <a:pPr algn="ctr" indent="0" marL="0">
              <a:buNone/>
            </a:pPr>
            <a:r>
              <a:rPr lang="en-US" sz="2200" dirty="0">
                <a:solidFill>
                  <a:srgbClr val="1D6FBC"/>
                </a:solidFill>
                <a:latin typeface="Calibri" pitchFamily="34" charset="0"/>
                <a:ea typeface="Calibri" pitchFamily="34" charset="-122"/>
                <a:cs typeface="Calibri" pitchFamily="34" charset="-120"/>
              </a:rPr>
              <a:t>→</a:t>
            </a:r>
            <a:endParaRPr lang="en-US" sz="2200" dirty="0"/>
          </a:p>
        </p:txBody>
      </p:sp>
      <p:sp>
        <p:nvSpPr>
          <p:cNvPr id="15" name="Shape 13"/>
          <p:cNvSpPr/>
          <p:nvPr/>
        </p:nvSpPr>
        <p:spPr>
          <a:xfrm>
            <a:off x="5214049" y="1840230"/>
            <a:ext cx="1238144" cy="653796"/>
          </a:xfrm>
          <a:prstGeom prst="roundRect">
            <a:avLst>
              <a:gd name="adj" fmla="val 13986"/>
            </a:avLst>
          </a:prstGeom>
          <a:solidFill>
            <a:srgbClr val="1D6FBC"/>
          </a:solidFill>
          <a:ln w="31750">
            <a:solidFill>
              <a:srgbClr val="1D6FBC"/>
            </a:solidFill>
            <a:prstDash val="solid"/>
          </a:ln>
        </p:spPr>
      </p:sp>
      <p:sp>
        <p:nvSpPr>
          <p:cNvPr id="16" name="Text 14"/>
          <p:cNvSpPr/>
          <p:nvPr/>
        </p:nvSpPr>
        <p:spPr>
          <a:xfrm>
            <a:off x="5214049" y="1840230"/>
            <a:ext cx="1238144" cy="653796"/>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/speckit-</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plan</a:t>
            </a:r>
            <a:endParaRPr lang="en-US" sz="1100" dirty="0"/>
          </a:p>
        </p:txBody>
      </p:sp>
      <p:sp>
        <p:nvSpPr>
          <p:cNvPr id="17" name="Text 15"/>
          <p:cNvSpPr/>
          <p:nvPr/>
        </p:nvSpPr>
        <p:spPr>
          <a:xfrm>
            <a:off x="6452193" y="1840230"/>
            <a:ext cx="347472" cy="653796"/>
          </a:xfrm>
          <a:prstGeom prst="rect">
            <a:avLst/>
          </a:prstGeom>
          <a:noFill/>
          <a:ln/>
        </p:spPr>
        <p:txBody>
          <a:bodyPr wrap="square" rtlCol="0" anchor="ctr"/>
          <a:lstStyle/>
          <a:p>
            <a:pPr algn="ctr" indent="0" marL="0">
              <a:buNone/>
            </a:pPr>
            <a:r>
              <a:rPr lang="en-US" sz="2200" dirty="0">
                <a:solidFill>
                  <a:srgbClr val="1D6FBC"/>
                </a:solidFill>
                <a:latin typeface="Calibri" pitchFamily="34" charset="0"/>
                <a:ea typeface="Calibri" pitchFamily="34" charset="-122"/>
                <a:cs typeface="Calibri" pitchFamily="34" charset="-120"/>
              </a:rPr>
              <a:t>→</a:t>
            </a:r>
            <a:endParaRPr lang="en-US" sz="2200" dirty="0"/>
          </a:p>
        </p:txBody>
      </p:sp>
      <p:sp>
        <p:nvSpPr>
          <p:cNvPr id="18" name="Shape 16"/>
          <p:cNvSpPr/>
          <p:nvPr/>
        </p:nvSpPr>
        <p:spPr>
          <a:xfrm>
            <a:off x="6799665" y="1840230"/>
            <a:ext cx="1238144" cy="653796"/>
          </a:xfrm>
          <a:prstGeom prst="roundRect">
            <a:avLst>
              <a:gd name="adj" fmla="val 13986"/>
            </a:avLst>
          </a:prstGeom>
          <a:solidFill>
            <a:srgbClr val="DDE8F5"/>
          </a:solidFill>
          <a:ln w="19050">
            <a:solidFill>
              <a:srgbClr val="1D6FBC"/>
            </a:solidFill>
            <a:prstDash val="solid"/>
          </a:ln>
        </p:spPr>
      </p:sp>
      <p:sp>
        <p:nvSpPr>
          <p:cNvPr id="19" name="Text 17"/>
          <p:cNvSpPr/>
          <p:nvPr/>
        </p:nvSpPr>
        <p:spPr>
          <a:xfrm>
            <a:off x="6799665" y="1840230"/>
            <a:ext cx="1238144" cy="653796"/>
          </a:xfrm>
          <a:prstGeom prst="rect">
            <a:avLst/>
          </a:prstGeom>
          <a:noFill/>
          <a:ln/>
        </p:spPr>
        <p:txBody>
          <a:bodyPr wrap="square" rtlCol="0" anchor="ctr"/>
          <a:lstStyle/>
          <a:p>
            <a:pPr algn="ctr" indent="0" marL="0">
              <a:buNone/>
            </a:pPr>
            <a:r>
              <a:rPr lang="en-US" sz="1100" dirty="0">
                <a:solidFill>
                  <a:srgbClr val="0C1B35"/>
                </a:solidFill>
                <a:latin typeface="Calibri" pitchFamily="34" charset="0"/>
                <a:ea typeface="Calibri" pitchFamily="34" charset="-122"/>
                <a:cs typeface="Calibri" pitchFamily="34" charset="-120"/>
              </a:rPr>
              <a:t>/speckit-</a:t>
            </a:r>
            <a:endParaRPr lang="en-US" sz="1100" dirty="0"/>
          </a:p>
          <a:p>
            <a:pPr algn="ctr" indent="0" marL="0">
              <a:buNone/>
            </a:pPr>
            <a:r>
              <a:rPr lang="en-US" sz="1100" dirty="0">
                <a:solidFill>
                  <a:srgbClr val="0C1B35"/>
                </a:solidFill>
                <a:latin typeface="Calibri" pitchFamily="34" charset="0"/>
                <a:ea typeface="Calibri" pitchFamily="34" charset="-122"/>
                <a:cs typeface="Calibri" pitchFamily="34" charset="-120"/>
              </a:rPr>
              <a:t>tasks</a:t>
            </a:r>
            <a:endParaRPr lang="en-US" sz="1100" dirty="0"/>
          </a:p>
        </p:txBody>
      </p:sp>
      <p:sp>
        <p:nvSpPr>
          <p:cNvPr id="20" name="Text 18"/>
          <p:cNvSpPr/>
          <p:nvPr/>
        </p:nvSpPr>
        <p:spPr>
          <a:xfrm>
            <a:off x="8037809" y="1840230"/>
            <a:ext cx="347472" cy="653796"/>
          </a:xfrm>
          <a:prstGeom prst="rect">
            <a:avLst/>
          </a:prstGeom>
          <a:noFill/>
          <a:ln/>
        </p:spPr>
        <p:txBody>
          <a:bodyPr wrap="square" rtlCol="0" anchor="ctr"/>
          <a:lstStyle/>
          <a:p>
            <a:pPr algn="ctr" indent="0" marL="0">
              <a:buNone/>
            </a:pPr>
            <a:r>
              <a:rPr lang="en-US" sz="2200" dirty="0">
                <a:solidFill>
                  <a:srgbClr val="1D6FBC"/>
                </a:solidFill>
                <a:latin typeface="Calibri" pitchFamily="34" charset="0"/>
                <a:ea typeface="Calibri" pitchFamily="34" charset="-122"/>
                <a:cs typeface="Calibri" pitchFamily="34" charset="-120"/>
              </a:rPr>
              <a:t>→</a:t>
            </a:r>
            <a:endParaRPr lang="en-US" sz="2200" dirty="0"/>
          </a:p>
        </p:txBody>
      </p:sp>
      <p:sp>
        <p:nvSpPr>
          <p:cNvPr id="21" name="Shape 19"/>
          <p:cNvSpPr/>
          <p:nvPr/>
        </p:nvSpPr>
        <p:spPr>
          <a:xfrm>
            <a:off x="8385281" y="1840230"/>
            <a:ext cx="1238144" cy="653796"/>
          </a:xfrm>
          <a:prstGeom prst="roundRect">
            <a:avLst>
              <a:gd name="adj" fmla="val 13986"/>
            </a:avLst>
          </a:prstGeom>
          <a:solidFill>
            <a:srgbClr val="DDE8F5"/>
          </a:solidFill>
          <a:ln w="19050">
            <a:solidFill>
              <a:srgbClr val="1D6FBC"/>
            </a:solidFill>
            <a:prstDash val="solid"/>
          </a:ln>
        </p:spPr>
      </p:sp>
      <p:sp>
        <p:nvSpPr>
          <p:cNvPr id="22" name="Text 20"/>
          <p:cNvSpPr/>
          <p:nvPr/>
        </p:nvSpPr>
        <p:spPr>
          <a:xfrm>
            <a:off x="8385281" y="1840230"/>
            <a:ext cx="1238144" cy="653796"/>
          </a:xfrm>
          <a:prstGeom prst="rect">
            <a:avLst/>
          </a:prstGeom>
          <a:noFill/>
          <a:ln/>
        </p:spPr>
        <p:txBody>
          <a:bodyPr wrap="square" rtlCol="0" anchor="ctr"/>
          <a:lstStyle/>
          <a:p>
            <a:pPr algn="ctr" indent="0" marL="0">
              <a:buNone/>
            </a:pPr>
            <a:r>
              <a:rPr lang="en-US" sz="1100" b="1" dirty="0">
                <a:solidFill>
                  <a:srgbClr val="0C1B35"/>
                </a:solidFill>
                <a:latin typeface="Calibri" pitchFamily="34" charset="0"/>
                <a:ea typeface="Calibri" pitchFamily="34" charset="-122"/>
                <a:cs typeface="Calibri" pitchFamily="34" charset="-120"/>
              </a:rPr>
              <a:t>/speckit-</a:t>
            </a:r>
            <a:endParaRPr lang="en-US" sz="1100" dirty="0"/>
          </a:p>
          <a:p>
            <a:pPr algn="ctr" indent="0" marL="0">
              <a:buNone/>
            </a:pPr>
            <a:r>
              <a:rPr lang="en-US" sz="1100" b="1" dirty="0">
                <a:solidFill>
                  <a:srgbClr val="0C1B35"/>
                </a:solidFill>
                <a:latin typeface="Calibri" pitchFamily="34" charset="0"/>
                <a:ea typeface="Calibri" pitchFamily="34" charset="-122"/>
                <a:cs typeface="Calibri" pitchFamily="34" charset="-120"/>
              </a:rPr>
              <a:t>implement</a:t>
            </a:r>
            <a:endParaRPr lang="en-US" sz="1100" dirty="0"/>
          </a:p>
        </p:txBody>
      </p:sp>
      <p:sp>
        <p:nvSpPr>
          <p:cNvPr id="23" name="Text 21"/>
          <p:cNvSpPr/>
          <p:nvPr/>
        </p:nvSpPr>
        <p:spPr>
          <a:xfrm>
            <a:off x="457200" y="2944368"/>
            <a:ext cx="9166225" cy="612966"/>
          </a:xfrm>
          <a:prstGeom prst="rect">
            <a:avLst/>
          </a:prstGeom>
          <a:noFill/>
          <a:ln/>
        </p:spPr>
        <p:txBody>
          <a:bodyPr wrap="square" rtlCol="0" anchor="ctr"/>
          <a:lstStyle/>
          <a:p>
            <a:pPr marL="254000" indent="-254000">
              <a:buSzPct val="100000"/>
              <a:buChar char="•"/>
            </a:pPr>
            <a:r>
              <a:rPr lang="en-US" sz="1600" dirty="0">
                <a:solidFill>
                  <a:srgbClr val="0C1B35"/>
                </a:solidFill>
                <a:latin typeface="Calibri" pitchFamily="34" charset="0"/>
                <a:ea typeface="Calibri" pitchFamily="34" charset="-122"/>
                <a:cs typeface="Calibri" pitchFamily="34" charset="-120"/>
              </a:rPr>
              <a:t>specify init scaffolds a constitution template (full of [BRACKET_PLACEHOLDER] tokens) and a set of skills — writes zero feature content, pure setup</a:t>
            </a:r>
            <a:endParaRPr lang="en-US" sz="1600" dirty="0"/>
          </a:p>
        </p:txBody>
      </p:sp>
      <p:sp>
        <p:nvSpPr>
          <p:cNvPr id="24" name="Text 22"/>
          <p:cNvSpPr/>
          <p:nvPr/>
        </p:nvSpPr>
        <p:spPr>
          <a:xfrm>
            <a:off x="457200" y="3557334"/>
            <a:ext cx="9166225" cy="612966"/>
          </a:xfrm>
          <a:prstGeom prst="rect">
            <a:avLst/>
          </a:prstGeom>
          <a:noFill/>
          <a:ln/>
        </p:spPr>
        <p:txBody>
          <a:bodyPr wrap="square" rtlCol="0" anchor="ctr"/>
          <a:lstStyle/>
          <a:p>
            <a:pPr marL="254000" indent="-254000">
              <a:buSzPct val="100000"/>
              <a:buChar char="•"/>
            </a:pPr>
            <a:r>
              <a:rPr lang="en-US" sz="1600" dirty="0">
                <a:solidFill>
                  <a:srgbClr val="0C1B35"/>
                </a:solidFill>
                <a:latin typeface="Calibri" pitchFamily="34" charset="0"/>
                <a:ea typeface="Calibri" pitchFamily="34" charset="-122"/>
                <a:cs typeface="Calibri" pitchFamily="34" charset="-120"/>
              </a:rPr>
              <a:t>Each command is a Claude Code skill: a SKILL.md file of plain-language instructions the agent follows — "a playbook, not a program"</a:t>
            </a:r>
            <a:endParaRPr lang="en-US" sz="1600" dirty="0"/>
          </a:p>
        </p:txBody>
      </p:sp>
      <p:sp>
        <p:nvSpPr>
          <p:cNvPr id="25" name="Text 23"/>
          <p:cNvSpPr/>
          <p:nvPr/>
        </p:nvSpPr>
        <p:spPr>
          <a:xfrm>
            <a:off x="457200" y="4170299"/>
            <a:ext cx="9166225" cy="612966"/>
          </a:xfrm>
          <a:prstGeom prst="rect">
            <a:avLst/>
          </a:prstGeom>
          <a:noFill/>
          <a:ln/>
        </p:spPr>
        <p:txBody>
          <a:bodyPr wrap="square" rtlCol="0" anchor="ctr"/>
          <a:lstStyle/>
          <a:p>
            <a:pPr marL="254000" indent="-254000">
              <a:buSzPct val="100000"/>
              <a:buChar char="•"/>
            </a:pPr>
            <a:r>
              <a:rPr lang="en-US" sz="1600" dirty="0">
                <a:solidFill>
                  <a:srgbClr val="0C1B35"/>
                </a:solidFill>
                <a:latin typeface="Calibri" pitchFamily="34" charset="0"/>
                <a:ea typeface="Calibri" pitchFamily="34" charset="-122"/>
                <a:cs typeface="Calibri" pitchFamily="34" charset="-120"/>
              </a:rPr>
              <a:t>Only /speckit-plan has a hard gate — the filled-in box above; everything else just flows forward, file to file</a:t>
            </a:r>
            <a:endParaRPr lang="en-US" sz="1600" dirty="0"/>
          </a:p>
        </p:txBody>
      </p:sp>
      <p:sp>
        <p:nvSpPr>
          <p:cNvPr id="26" name="Text 24"/>
          <p:cNvSpPr/>
          <p:nvPr/>
        </p:nvSpPr>
        <p:spPr>
          <a:xfrm>
            <a:off x="457200" y="4783265"/>
            <a:ext cx="9166225" cy="612966"/>
          </a:xfrm>
          <a:prstGeom prst="rect">
            <a:avLst/>
          </a:prstGeom>
          <a:noFill/>
          <a:ln/>
        </p:spPr>
        <p:txBody>
          <a:bodyPr wrap="square" rtlCol="0" anchor="ctr"/>
          <a:lstStyle/>
          <a:p>
            <a:pPr marL="254000" indent="-254000">
              <a:buSzPct val="100000"/>
              <a:buChar char="•"/>
            </a:pPr>
            <a:r>
              <a:rPr lang="en-US" sz="1600" dirty="0">
                <a:solidFill>
                  <a:srgbClr val="0C1B35"/>
                </a:solidFill>
                <a:latin typeface="Calibri" pitchFamily="34" charset="0"/>
                <a:ea typeface="Calibri" pitchFamily="34" charset="-122"/>
                <a:cs typeface="Calibri" pitchFamily="34" charset="-120"/>
              </a:rPr>
              <a:t>On this URL-shortener example, the whole sequence — constitution through a working curl call — runs in about 35 minutes, start to finish</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6FF"/>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1D6FBC"/>
          </a:solidFill>
          <a:ln w="9525">
            <a:solidFill>
              <a:srgbClr val="1D6FB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WORKFLOW</a:t>
            </a:r>
            <a:endParaRPr lang="en-US" sz="1200" dirty="0"/>
          </a:p>
        </p:txBody>
      </p:sp>
      <p:sp>
        <p:nvSpPr>
          <p:cNvPr id="4" name="Text 2"/>
          <p:cNvSpPr/>
          <p:nvPr/>
        </p:nvSpPr>
        <p:spPr>
          <a:xfrm>
            <a:off x="457200" y="658368"/>
            <a:ext cx="9166225" cy="685800"/>
          </a:xfrm>
          <a:prstGeom prst="rect">
            <a:avLst/>
          </a:prstGeom>
          <a:noFill/>
          <a:ln/>
        </p:spPr>
        <p:txBody>
          <a:bodyPr wrap="square" rtlCol="0" anchor="ctr"/>
          <a:lstStyle/>
          <a:p>
            <a:pPr indent="0" marL="0">
              <a:buNone/>
            </a:pPr>
            <a:r>
              <a:rPr lang="en-US" sz="3000" b="1" dirty="0">
                <a:solidFill>
                  <a:srgbClr val="0C1B35"/>
                </a:solidFill>
                <a:latin typeface="Calibri" pitchFamily="34" charset="0"/>
                <a:ea typeface="Calibri" pitchFamily="34" charset="-122"/>
                <a:cs typeface="Calibri" pitchFamily="34" charset="-120"/>
              </a:rPr>
              <a:t>specify init</a:t>
            </a:r>
            <a:endParaRPr lang="en-US" sz="3000" dirty="0"/>
          </a:p>
        </p:txBody>
      </p:sp>
      <p:sp>
        <p:nvSpPr>
          <p:cNvPr id="5" name="Shape 3"/>
          <p:cNvSpPr/>
          <p:nvPr/>
        </p:nvSpPr>
        <p:spPr>
          <a:xfrm>
            <a:off x="457200" y="1417320"/>
            <a:ext cx="9166225" cy="27432"/>
          </a:xfrm>
          <a:prstGeom prst="rect">
            <a:avLst/>
          </a:prstGeom>
          <a:solidFill>
            <a:srgbClr val="1D6FBC"/>
          </a:solidFill>
          <a:ln w="12700">
            <a:solidFill>
              <a:srgbClr val="1D6FBC"/>
            </a:solidFill>
            <a:prstDash val="solid"/>
          </a:ln>
        </p:spPr>
      </p:sp>
      <p:sp>
        <p:nvSpPr>
          <p:cNvPr id="6" name="Shape 4"/>
          <p:cNvSpPr/>
          <p:nvPr/>
        </p:nvSpPr>
        <p:spPr>
          <a:xfrm>
            <a:off x="457200" y="1572768"/>
            <a:ext cx="9166225" cy="483870"/>
          </a:xfrm>
          <a:prstGeom prst="rect">
            <a:avLst/>
          </a:prstGeom>
          <a:solidFill>
            <a:srgbClr val="E6F0FA"/>
          </a:solidFill>
          <a:ln w="9525">
            <a:solidFill>
              <a:srgbClr val="1D6FBC"/>
            </a:solidFill>
            <a:prstDash val="solid"/>
          </a:ln>
        </p:spPr>
      </p:sp>
      <p:sp>
        <p:nvSpPr>
          <p:cNvPr id="7" name="Text 5"/>
          <p:cNvSpPr/>
          <p:nvPr/>
        </p:nvSpPr>
        <p:spPr>
          <a:xfrm>
            <a:off x="640080" y="1709928"/>
            <a:ext cx="8800465" cy="209550"/>
          </a:xfrm>
          <a:prstGeom prst="rect">
            <a:avLst/>
          </a:prstGeom>
          <a:noFill/>
          <a:ln/>
        </p:spPr>
        <p:txBody>
          <a:bodyPr wrap="none" rtlCol="0" anchor="t"/>
          <a:lstStyle/>
          <a:p>
            <a:pPr indent="0" marL="0">
              <a:buNone/>
            </a:pPr>
            <a:r>
              <a:rPr lang="en-US" sz="1100" dirty="0">
                <a:solidFill>
                  <a:srgbClr val="1A365D"/>
                </a:solidFill>
                <a:latin typeface="Consolas" pitchFamily="34" charset="0"/>
                <a:ea typeface="Consolas" pitchFamily="34" charset="-122"/>
                <a:cs typeface="Consolas" pitchFamily="34" charset="-120"/>
              </a:rPr>
              <a:t>uvx --from git+https://github.com/github/spec-kit.git specify init --here --integration claude</a:t>
            </a:r>
            <a:endParaRPr lang="en-US" sz="1100" dirty="0"/>
          </a:p>
        </p:txBody>
      </p:sp>
      <p:sp>
        <p:nvSpPr>
          <p:cNvPr id="8" name="Text 6"/>
          <p:cNvSpPr/>
          <p:nvPr/>
        </p:nvSpPr>
        <p:spPr>
          <a:xfrm>
            <a:off x="457200" y="2239518"/>
            <a:ext cx="9166225" cy="631342"/>
          </a:xfrm>
          <a:prstGeom prst="rect">
            <a:avLst/>
          </a:prstGeom>
          <a:noFill/>
          <a:ln/>
        </p:spPr>
        <p:txBody>
          <a:bodyPr wrap="square" rtlCol="0" anchor="ctr"/>
          <a:lstStyle/>
          <a:p>
            <a:pPr marL="254000" indent="-254000">
              <a:buSzPct val="100000"/>
              <a:buChar char="•"/>
            </a:pPr>
            <a:r>
              <a:rPr lang="en-US" sz="1800" dirty="0">
                <a:solidFill>
                  <a:srgbClr val="0C1B35"/>
                </a:solidFill>
                <a:latin typeface="Calibri" pitchFamily="34" charset="0"/>
                <a:ea typeface="Calibri" pitchFamily="34" charset="-122"/>
                <a:cs typeface="Calibri" pitchFamily="34" charset="-120"/>
              </a:rPr>
              <a:t>Reads: nothing — there's no prior artifact yet; this is the very first step</a:t>
            </a:r>
            <a:endParaRPr lang="en-US" sz="1800" dirty="0"/>
          </a:p>
        </p:txBody>
      </p:sp>
      <p:sp>
        <p:nvSpPr>
          <p:cNvPr id="9" name="Text 7"/>
          <p:cNvSpPr/>
          <p:nvPr/>
        </p:nvSpPr>
        <p:spPr>
          <a:xfrm>
            <a:off x="457200" y="2870860"/>
            <a:ext cx="9166225" cy="631342"/>
          </a:xfrm>
          <a:prstGeom prst="rect">
            <a:avLst/>
          </a:prstGeom>
          <a:noFill/>
          <a:ln/>
        </p:spPr>
        <p:txBody>
          <a:bodyPr wrap="square" rtlCol="0" anchor="ctr"/>
          <a:lstStyle/>
          <a:p>
            <a:pPr marL="254000" indent="-254000">
              <a:buSzPct val="100000"/>
              <a:buChar char="•"/>
            </a:pPr>
            <a:r>
              <a:rPr lang="en-US" sz="1800" dirty="0">
                <a:solidFill>
                  <a:srgbClr val="0C1B35"/>
                </a:solidFill>
                <a:latin typeface="Calibri" pitchFamily="34" charset="0"/>
                <a:ea typeface="Calibri" pitchFamily="34" charset="-122"/>
                <a:cs typeface="Calibri" pitchFamily="34" charset="-120"/>
              </a:rPr>
              <a:t>Writes: a .specify/ folder structure and a skill file for each of the six commands</a:t>
            </a:r>
            <a:endParaRPr lang="en-US" sz="1800" dirty="0"/>
          </a:p>
        </p:txBody>
      </p:sp>
      <p:sp>
        <p:nvSpPr>
          <p:cNvPr id="10" name="Text 8"/>
          <p:cNvSpPr/>
          <p:nvPr/>
        </p:nvSpPr>
        <p:spPr>
          <a:xfrm>
            <a:off x="457200" y="3502203"/>
            <a:ext cx="9166225" cy="631342"/>
          </a:xfrm>
          <a:prstGeom prst="rect">
            <a:avLst/>
          </a:prstGeom>
          <a:noFill/>
          <a:ln/>
        </p:spPr>
        <p:txBody>
          <a:bodyPr wrap="square" rtlCol="0" anchor="ctr"/>
          <a:lstStyle/>
          <a:p>
            <a:pPr marL="254000" indent="-254000">
              <a:buSzPct val="100000"/>
              <a:buChar char="•"/>
            </a:pPr>
            <a:r>
              <a:rPr lang="en-US" sz="1800" dirty="0">
                <a:solidFill>
                  <a:srgbClr val="0C1B35"/>
                </a:solidFill>
                <a:latin typeface="Calibri" pitchFamily="34" charset="0"/>
                <a:ea typeface="Calibri" pitchFamily="34" charset="-122"/>
                <a:cs typeface="Calibri" pitchFamily="34" charset="-120"/>
              </a:rPr>
              <a:t>Also writes a constitution template, full of [BRACKET_PLACEHOLDER] tokens — not real principles yet</a:t>
            </a:r>
            <a:endParaRPr lang="en-US" sz="1800" dirty="0"/>
          </a:p>
        </p:txBody>
      </p:sp>
      <p:sp>
        <p:nvSpPr>
          <p:cNvPr id="11" name="Text 9"/>
          <p:cNvSpPr/>
          <p:nvPr/>
        </p:nvSpPr>
        <p:spPr>
          <a:xfrm>
            <a:off x="457200" y="4133545"/>
            <a:ext cx="9166225" cy="631342"/>
          </a:xfrm>
          <a:prstGeom prst="rect">
            <a:avLst/>
          </a:prstGeom>
          <a:noFill/>
          <a:ln/>
        </p:spPr>
        <p:txBody>
          <a:bodyPr wrap="square" rtlCol="0" anchor="ctr"/>
          <a:lstStyle/>
          <a:p>
            <a:pPr marL="254000" indent="-254000">
              <a:buSzPct val="100000"/>
              <a:buChar char="•"/>
            </a:pPr>
            <a:r>
              <a:rPr lang="en-US" sz="1800" dirty="0">
                <a:solidFill>
                  <a:srgbClr val="0C1B35"/>
                </a:solidFill>
                <a:latin typeface="Calibri" pitchFamily="34" charset="0"/>
                <a:ea typeface="Calibri" pitchFamily="34" charset="-122"/>
                <a:cs typeface="Calibri" pitchFamily="34" charset="-120"/>
              </a:rPr>
              <a:t>Writes zero feature content — no spec, no plan, no code; pure scaffolding</a:t>
            </a:r>
            <a:endParaRPr lang="en-US" sz="1800" dirty="0"/>
          </a:p>
        </p:txBody>
      </p:sp>
      <p:sp>
        <p:nvSpPr>
          <p:cNvPr id="12" name="Text 10"/>
          <p:cNvSpPr/>
          <p:nvPr/>
        </p:nvSpPr>
        <p:spPr>
          <a:xfrm>
            <a:off x="457200" y="4764888"/>
            <a:ext cx="9166225" cy="631342"/>
          </a:xfrm>
          <a:prstGeom prst="rect">
            <a:avLst/>
          </a:prstGeom>
          <a:noFill/>
          <a:ln/>
        </p:spPr>
        <p:txBody>
          <a:bodyPr wrap="square" rtlCol="0" anchor="ctr"/>
          <a:lstStyle/>
          <a:p>
            <a:pPr marL="254000" indent="-254000">
              <a:buSzPct val="100000"/>
              <a:buChar char="•"/>
            </a:pPr>
            <a:r>
              <a:rPr lang="en-US" sz="1800" dirty="0">
                <a:solidFill>
                  <a:srgbClr val="0C1B35"/>
                </a:solidFill>
                <a:latin typeface="Calibri" pitchFamily="34" charset="0"/>
                <a:ea typeface="Calibri" pitchFamily="34" charset="-122"/>
                <a:cs typeface="Calibri" pitchFamily="34" charset="-120"/>
              </a:rPr>
              <a:t>Why it exists: every other command in this pipeline assumes this folder structure and these skills are already in place</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6FF"/>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1D6FBC"/>
          </a:solidFill>
          <a:ln w="9525">
            <a:solidFill>
              <a:srgbClr val="1D6FB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WORKFLOW</a:t>
            </a:r>
            <a:endParaRPr lang="en-US" sz="1200" dirty="0"/>
          </a:p>
        </p:txBody>
      </p:sp>
      <p:sp>
        <p:nvSpPr>
          <p:cNvPr id="4" name="Text 2"/>
          <p:cNvSpPr/>
          <p:nvPr/>
        </p:nvSpPr>
        <p:spPr>
          <a:xfrm>
            <a:off x="457200" y="658368"/>
            <a:ext cx="9166225" cy="685800"/>
          </a:xfrm>
          <a:prstGeom prst="rect">
            <a:avLst/>
          </a:prstGeom>
          <a:noFill/>
          <a:ln/>
        </p:spPr>
        <p:txBody>
          <a:bodyPr wrap="square" rtlCol="0" anchor="ctr"/>
          <a:lstStyle/>
          <a:p>
            <a:pPr indent="0" marL="0">
              <a:buNone/>
            </a:pPr>
            <a:r>
              <a:rPr lang="en-US" sz="3000" b="1" dirty="0">
                <a:solidFill>
                  <a:srgbClr val="0C1B35"/>
                </a:solidFill>
                <a:latin typeface="Calibri" pitchFamily="34" charset="0"/>
                <a:ea typeface="Calibri" pitchFamily="34" charset="-122"/>
                <a:cs typeface="Calibri" pitchFamily="34" charset="-120"/>
              </a:rPr>
              <a:t>/speckit-constitution</a:t>
            </a:r>
            <a:endParaRPr lang="en-US" sz="3000" dirty="0"/>
          </a:p>
        </p:txBody>
      </p:sp>
      <p:sp>
        <p:nvSpPr>
          <p:cNvPr id="5" name="Shape 3"/>
          <p:cNvSpPr/>
          <p:nvPr/>
        </p:nvSpPr>
        <p:spPr>
          <a:xfrm>
            <a:off x="457200" y="1417320"/>
            <a:ext cx="9166225" cy="27432"/>
          </a:xfrm>
          <a:prstGeom prst="rect">
            <a:avLst/>
          </a:prstGeom>
          <a:solidFill>
            <a:srgbClr val="1D6FBC"/>
          </a:solidFill>
          <a:ln w="12700">
            <a:solidFill>
              <a:srgbClr val="1D6FBC"/>
            </a:solidFill>
            <a:prstDash val="solid"/>
          </a:ln>
        </p:spPr>
      </p:sp>
      <p:sp>
        <p:nvSpPr>
          <p:cNvPr id="6" name="Shape 4"/>
          <p:cNvSpPr/>
          <p:nvPr/>
        </p:nvSpPr>
        <p:spPr>
          <a:xfrm>
            <a:off x="457200" y="1572768"/>
            <a:ext cx="9166225" cy="2103120"/>
          </a:xfrm>
          <a:prstGeom prst="rect">
            <a:avLst/>
          </a:prstGeom>
          <a:solidFill>
            <a:srgbClr val="E6F0FA"/>
          </a:solidFill>
          <a:ln w="9525">
            <a:solidFill>
              <a:srgbClr val="1D6FBC"/>
            </a:solidFill>
            <a:prstDash val="solid"/>
          </a:ln>
        </p:spPr>
      </p:sp>
      <p:sp>
        <p:nvSpPr>
          <p:cNvPr id="7" name="Text 5"/>
          <p:cNvSpPr/>
          <p:nvPr/>
        </p:nvSpPr>
        <p:spPr>
          <a:xfrm>
            <a:off x="640080" y="1709928"/>
            <a:ext cx="8800465" cy="1828800"/>
          </a:xfrm>
          <a:prstGeom prst="rect">
            <a:avLst/>
          </a:prstGeom>
          <a:noFill/>
          <a:ln/>
        </p:spPr>
        <p:txBody>
          <a:bodyPr wrap="none" rtlCol="0" anchor="t"/>
          <a:lstStyle/>
          <a:p>
            <a:pPr indent="0" marL="0">
              <a:buNone/>
            </a:pPr>
            <a:r>
              <a:rPr lang="en-US" sz="1200" dirty="0">
                <a:solidFill>
                  <a:srgbClr val="1A365D"/>
                </a:solidFill>
                <a:latin typeface="Consolas" pitchFamily="34" charset="0"/>
                <a:ea typeface="Consolas" pitchFamily="34" charset="-122"/>
                <a:cs typeface="Consolas" pitchFamily="34" charset="-120"/>
              </a:rPr>
              <a:t>### I. Simplicity &amp; Legibility (NON-NEGOTIABLE)</a:t>
            </a:r>
            <a:endParaRPr lang="en-US" sz="1200" dirty="0"/>
          </a:p>
          <a:p>
            <a:pPr indent="0" marL="0">
              <a:buNone/>
            </a:pPr>
            <a:r>
              <a:rPr lang="en-US" sz="1200" dirty="0">
                <a:solidFill>
                  <a:srgbClr val="1A365D"/>
                </a:solidFill>
                <a:latin typeface="Consolas" pitchFamily="34" charset="0"/>
                <a:ea typeface="Consolas" pitchFamily="34" charset="-122"/>
                <a:cs typeface="Consolas" pitchFamily="34" charset="-120"/>
              </a:rPr>
              <a:t>Every artifact in this repository — constitution, spec, plan, tasks, and code — MUST be</a:t>
            </a:r>
            <a:endParaRPr lang="en-US" sz="1200" dirty="0"/>
          </a:p>
          <a:p>
            <a:pPr indent="0" marL="0">
              <a:buNone/>
            </a:pPr>
            <a:r>
              <a:rPr lang="en-US" sz="1200" dirty="0">
                <a:solidFill>
                  <a:srgbClr val="1A365D"/>
                </a:solidFill>
                <a:latin typeface="Consolas" pitchFamily="34" charset="0"/>
                <a:ea typeface="Consolas" pitchFamily="34" charset="-122"/>
                <a:cs typeface="Consolas" pitchFamily="34" charset="-120"/>
              </a:rPr>
              <a:t>readable in a single pass by someone who has never seen spec-kit before.</a:t>
            </a:r>
            <a:endParaRPr lang="en-US" sz="1200" dirty="0"/>
          </a:p>
          <a:p>
            <a:pPr indent="0" marL="0">
              <a:buNone/>
            </a:pPr>
            <a:endParaRPr lang="en-US" sz="1200" dirty="0"/>
          </a:p>
          <a:p>
            <a:pPr indent="0" marL="0">
              <a:buNone/>
            </a:pPr>
            <a:r>
              <a:rPr lang="en-US" sz="1200" dirty="0">
                <a:solidFill>
                  <a:srgbClr val="1A365D"/>
                </a:solidFill>
                <a:latin typeface="Consolas" pitchFamily="34" charset="0"/>
                <a:ea typeface="Consolas" pitchFamily="34" charset="-122"/>
                <a:cs typeface="Consolas" pitchFamily="34" charset="-120"/>
              </a:rPr>
              <a:t>### IV. Traceability From Spec to Code</a:t>
            </a:r>
            <a:endParaRPr lang="en-US" sz="1200" dirty="0"/>
          </a:p>
          <a:p>
            <a:pPr indent="0" marL="0">
              <a:buNone/>
            </a:pPr>
            <a:r>
              <a:rPr lang="en-US" sz="1200" dirty="0">
                <a:solidFill>
                  <a:srgbClr val="1A365D"/>
                </a:solidFill>
                <a:latin typeface="Consolas" pitchFamily="34" charset="0"/>
                <a:ea typeface="Consolas" pitchFamily="34" charset="-122"/>
                <a:cs typeface="Consolas" pitchFamily="34" charset="-120"/>
              </a:rPr>
              <a:t>Every meaningful implementation decision in `spec-driven/` MUST be traceable back to a</a:t>
            </a:r>
            <a:endParaRPr lang="en-US" sz="1200" dirty="0"/>
          </a:p>
          <a:p>
            <a:pPr indent="0" marL="0">
              <a:buNone/>
            </a:pPr>
            <a:r>
              <a:rPr lang="en-US" sz="1200" dirty="0">
                <a:solidFill>
                  <a:srgbClr val="1A365D"/>
                </a:solidFill>
                <a:latin typeface="Consolas" pitchFamily="34" charset="0"/>
                <a:ea typeface="Consolas" pitchFamily="34" charset="-122"/>
                <a:cs typeface="Consolas" pitchFamily="34" charset="-120"/>
              </a:rPr>
              <a:t>line in `spec.md`, `plan.md`, or `tasks.md`. If code does something the specs don't</a:t>
            </a:r>
            <a:endParaRPr lang="en-US" sz="1200" dirty="0"/>
          </a:p>
          <a:p>
            <a:pPr indent="0" marL="0">
              <a:buNone/>
            </a:pPr>
            <a:r>
              <a:rPr lang="en-US" sz="1200" dirty="0">
                <a:solidFill>
                  <a:srgbClr val="1A365D"/>
                </a:solidFill>
                <a:latin typeface="Consolas" pitchFamily="34" charset="0"/>
                <a:ea typeface="Consolas" pitchFamily="34" charset="-122"/>
                <a:cs typeface="Consolas" pitchFamily="34" charset="-120"/>
              </a:rPr>
              <a:t>explain, either the code or the specs are wrong.</a:t>
            </a:r>
            <a:endParaRPr lang="en-US" sz="1200" dirty="0"/>
          </a:p>
        </p:txBody>
      </p:sp>
      <p:sp>
        <p:nvSpPr>
          <p:cNvPr id="8" name="Text 6"/>
          <p:cNvSpPr/>
          <p:nvPr/>
        </p:nvSpPr>
        <p:spPr>
          <a:xfrm>
            <a:off x="457200" y="3858768"/>
            <a:ext cx="9166225" cy="512487"/>
          </a:xfrm>
          <a:prstGeom prst="rect">
            <a:avLst/>
          </a:prstGeom>
          <a:noFill/>
          <a:ln/>
        </p:spPr>
        <p:txBody>
          <a:bodyPr wrap="square" rtlCol="0" anchor="ctr"/>
          <a:lstStyle/>
          <a:p>
            <a:pPr marL="254000" indent="-254000">
              <a:buSzPct val="100000"/>
              <a:buChar char="•"/>
            </a:pPr>
            <a:r>
              <a:rPr lang="en-US" sz="1900" dirty="0">
                <a:solidFill>
                  <a:srgbClr val="0C1B35"/>
                </a:solidFill>
                <a:latin typeface="Calibri" pitchFamily="34" charset="0"/>
                <a:ea typeface="Calibri" pitchFamily="34" charset="-122"/>
                <a:cs typeface="Calibri" pitchFamily="34" charset="-120"/>
              </a:rPr>
              <a:t>Reads: nothing — it's the first content-bearing command in the pipeline</a:t>
            </a:r>
            <a:endParaRPr lang="en-US" sz="1900" dirty="0"/>
          </a:p>
        </p:txBody>
      </p:sp>
      <p:sp>
        <p:nvSpPr>
          <p:cNvPr id="9" name="Text 7"/>
          <p:cNvSpPr/>
          <p:nvPr/>
        </p:nvSpPr>
        <p:spPr>
          <a:xfrm>
            <a:off x="457200" y="4371255"/>
            <a:ext cx="9166225" cy="512487"/>
          </a:xfrm>
          <a:prstGeom prst="rect">
            <a:avLst/>
          </a:prstGeom>
          <a:noFill/>
          <a:ln/>
        </p:spPr>
        <p:txBody>
          <a:bodyPr wrap="square" rtlCol="0" anchor="ctr"/>
          <a:lstStyle/>
          <a:p>
            <a:pPr marL="254000" indent="-254000">
              <a:buSzPct val="100000"/>
              <a:buChar char="•"/>
            </a:pPr>
            <a:r>
              <a:rPr lang="en-US" sz="1900" dirty="0">
                <a:solidFill>
                  <a:srgbClr val="0C1B35"/>
                </a:solidFill>
                <a:latin typeface="Calibri" pitchFamily="34" charset="0"/>
                <a:ea typeface="Calibri" pitchFamily="34" charset="-122"/>
                <a:cs typeface="Calibri" pitchFamily="34" charset="-120"/>
              </a:rPr>
              <a:t>Writes: constitution.md — the project's non-negotiable rules</a:t>
            </a:r>
            <a:endParaRPr lang="en-US" sz="1900" dirty="0"/>
          </a:p>
        </p:txBody>
      </p:sp>
      <p:sp>
        <p:nvSpPr>
          <p:cNvPr id="10" name="Text 8"/>
          <p:cNvSpPr/>
          <p:nvPr/>
        </p:nvSpPr>
        <p:spPr>
          <a:xfrm>
            <a:off x="457200" y="4883743"/>
            <a:ext cx="9166225" cy="512487"/>
          </a:xfrm>
          <a:prstGeom prst="rect">
            <a:avLst/>
          </a:prstGeom>
          <a:noFill/>
          <a:ln/>
        </p:spPr>
        <p:txBody>
          <a:bodyPr wrap="square" rtlCol="0" anchor="ctr"/>
          <a:lstStyle/>
          <a:p>
            <a:pPr marL="254000" indent="-254000">
              <a:buSzPct val="100000"/>
              <a:buChar char="•"/>
            </a:pPr>
            <a:r>
              <a:rPr lang="en-US" sz="1900" dirty="0">
                <a:solidFill>
                  <a:srgbClr val="0C1B35"/>
                </a:solidFill>
                <a:latin typeface="Calibri" pitchFamily="34" charset="0"/>
                <a:ea typeface="Calibri" pitchFamily="34" charset="-122"/>
                <a:cs typeface="Calibri" pitchFamily="34" charset="-120"/>
              </a:rPr>
              <a:t>Why: every later command (spec, plan, tasks, implement) reads this exact file before doing anything else — it's the constraint every design gets checked against</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6FF"/>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1D6FBC"/>
          </a:solidFill>
          <a:ln w="9525">
            <a:solidFill>
              <a:srgbClr val="1D6FB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WORKFLOW</a:t>
            </a:r>
            <a:endParaRPr lang="en-US" sz="1200" dirty="0"/>
          </a:p>
        </p:txBody>
      </p:sp>
      <p:sp>
        <p:nvSpPr>
          <p:cNvPr id="4" name="Text 2"/>
          <p:cNvSpPr/>
          <p:nvPr/>
        </p:nvSpPr>
        <p:spPr>
          <a:xfrm>
            <a:off x="457200" y="658368"/>
            <a:ext cx="9166225" cy="685800"/>
          </a:xfrm>
          <a:prstGeom prst="rect">
            <a:avLst/>
          </a:prstGeom>
          <a:noFill/>
          <a:ln/>
        </p:spPr>
        <p:txBody>
          <a:bodyPr wrap="square" rtlCol="0" anchor="ctr"/>
          <a:lstStyle/>
          <a:p>
            <a:pPr indent="0" marL="0">
              <a:buNone/>
            </a:pPr>
            <a:r>
              <a:rPr lang="en-US" sz="3000" b="1" dirty="0">
                <a:solidFill>
                  <a:srgbClr val="0C1B35"/>
                </a:solidFill>
                <a:latin typeface="Calibri" pitchFamily="34" charset="0"/>
                <a:ea typeface="Calibri" pitchFamily="34" charset="-122"/>
                <a:cs typeface="Calibri" pitchFamily="34" charset="-120"/>
              </a:rPr>
              <a:t>What's a Principle vs. an Implementation Choice? (1/2)</a:t>
            </a:r>
            <a:endParaRPr lang="en-US" sz="3000" dirty="0"/>
          </a:p>
        </p:txBody>
      </p:sp>
      <p:sp>
        <p:nvSpPr>
          <p:cNvPr id="5" name="Shape 3"/>
          <p:cNvSpPr/>
          <p:nvPr/>
        </p:nvSpPr>
        <p:spPr>
          <a:xfrm>
            <a:off x="457200" y="1417320"/>
            <a:ext cx="9166225" cy="27432"/>
          </a:xfrm>
          <a:prstGeom prst="rect">
            <a:avLst/>
          </a:prstGeom>
          <a:solidFill>
            <a:srgbClr val="1D6FBC"/>
          </a:solidFill>
          <a:ln w="12700">
            <a:solidFill>
              <a:srgbClr val="1D6FBC"/>
            </a:solidFill>
            <a:prstDash val="solid"/>
          </a:ln>
        </p:spPr>
      </p:sp>
      <p:sp>
        <p:nvSpPr>
          <p:cNvPr id="6" name="Text 4"/>
          <p:cNvSpPr/>
          <p:nvPr/>
        </p:nvSpPr>
        <p:spPr>
          <a:xfrm>
            <a:off x="457200" y="1572768"/>
            <a:ext cx="9166225" cy="1274487"/>
          </a:xfrm>
          <a:prstGeom prst="rect">
            <a:avLst/>
          </a:prstGeom>
          <a:noFill/>
          <a:ln/>
        </p:spPr>
        <p:txBody>
          <a:bodyPr wrap="square" rtlCol="0" anchor="ctr"/>
          <a:lstStyle/>
          <a:p>
            <a:pPr marL="254000" indent="-254000">
              <a:buSzPct val="100000"/>
              <a:buChar char="•"/>
            </a:pPr>
            <a:r>
              <a:rPr lang="en-US" sz="2300" dirty="0">
                <a:solidFill>
                  <a:srgbClr val="0C1B35"/>
                </a:solidFill>
                <a:latin typeface="Calibri" pitchFamily="34" charset="0"/>
                <a:ea typeface="Calibri" pitchFamily="34" charset="-122"/>
                <a:cs typeface="Calibri" pitchFamily="34" charset="-120"/>
              </a:rPr>
              <a:t>A PRINCIPLE is a non-negotiable, project-wide rule that constrains every later decision — it doesn't say what to build, it says what's off-limits or required, no matter what gets built</a:t>
            </a:r>
            <a:endParaRPr lang="en-US" sz="2300" dirty="0"/>
          </a:p>
        </p:txBody>
      </p:sp>
      <p:sp>
        <p:nvSpPr>
          <p:cNvPr id="7" name="Text 5"/>
          <p:cNvSpPr/>
          <p:nvPr/>
        </p:nvSpPr>
        <p:spPr>
          <a:xfrm>
            <a:off x="457200" y="2847255"/>
            <a:ext cx="9166225" cy="1274487"/>
          </a:xfrm>
          <a:prstGeom prst="rect">
            <a:avLst/>
          </a:prstGeom>
          <a:noFill/>
          <a:ln/>
        </p:spPr>
        <p:txBody>
          <a:bodyPr wrap="square" rtlCol="0" anchor="ctr"/>
          <a:lstStyle/>
          <a:p>
            <a:pPr marL="254000" indent="-254000">
              <a:buSzPct val="100000"/>
              <a:buChar char="•"/>
            </a:pPr>
            <a:r>
              <a:rPr lang="en-US" sz="2300" dirty="0">
                <a:solidFill>
                  <a:srgbClr val="0C1B35"/>
                </a:solidFill>
                <a:latin typeface="Calibri" pitchFamily="34" charset="0"/>
                <a:ea typeface="Calibri" pitchFamily="34" charset="-122"/>
                <a:cs typeface="Calibri" pitchFamily="34" charset="-120"/>
              </a:rPr>
              <a:t>An IMPLEMENTATION CHOICE is a specific technical decision made later that must satisfy the principles — but isn't itself a principle</a:t>
            </a:r>
            <a:endParaRPr lang="en-US" sz="2300" dirty="0"/>
          </a:p>
        </p:txBody>
      </p:sp>
      <p:sp>
        <p:nvSpPr>
          <p:cNvPr id="8" name="Text 6"/>
          <p:cNvSpPr/>
          <p:nvPr/>
        </p:nvSpPr>
        <p:spPr>
          <a:xfrm>
            <a:off x="457200" y="4121743"/>
            <a:ext cx="9166225" cy="1274487"/>
          </a:xfrm>
          <a:prstGeom prst="rect">
            <a:avLst/>
          </a:prstGeom>
          <a:noFill/>
          <a:ln/>
        </p:spPr>
        <p:txBody>
          <a:bodyPr wrap="square" rtlCol="0" anchor="ctr"/>
          <a:lstStyle/>
          <a:p>
            <a:pPr marL="254000" indent="-254000">
              <a:buSzPct val="100000"/>
              <a:buChar char="•"/>
            </a:pPr>
            <a:r>
              <a:rPr lang="en-US" sz="2300" dirty="0">
                <a:solidFill>
                  <a:srgbClr val="0C1B35"/>
                </a:solidFill>
                <a:latin typeface="Calibri" pitchFamily="34" charset="0"/>
                <a:ea typeface="Calibri" pitchFamily="34" charset="-122"/>
                <a:cs typeface="Calibri" pitchFamily="34" charset="-120"/>
              </a:rPr>
              <a:t>Rule of thumb: if the same rule could hold across ten totally different features, it's a principle; if it's the specific thing picked for this feature, it's an implementation choice</a:t>
            </a:r>
            <a:endParaRPr lang="en-US" sz="2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6FF"/>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1D6FBC"/>
          </a:solidFill>
          <a:ln w="9525">
            <a:solidFill>
              <a:srgbClr val="1D6FB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WORKFLOW</a:t>
            </a:r>
            <a:endParaRPr lang="en-US" sz="1200" dirty="0"/>
          </a:p>
        </p:txBody>
      </p:sp>
      <p:sp>
        <p:nvSpPr>
          <p:cNvPr id="4" name="Text 2"/>
          <p:cNvSpPr/>
          <p:nvPr/>
        </p:nvSpPr>
        <p:spPr>
          <a:xfrm>
            <a:off x="457200" y="658368"/>
            <a:ext cx="9166225" cy="685800"/>
          </a:xfrm>
          <a:prstGeom prst="rect">
            <a:avLst/>
          </a:prstGeom>
          <a:noFill/>
          <a:ln/>
        </p:spPr>
        <p:txBody>
          <a:bodyPr wrap="square" rtlCol="0" anchor="ctr"/>
          <a:lstStyle/>
          <a:p>
            <a:pPr indent="0" marL="0">
              <a:buNone/>
            </a:pPr>
            <a:r>
              <a:rPr lang="en-US" sz="3000" b="1" dirty="0">
                <a:solidFill>
                  <a:srgbClr val="0C1B35"/>
                </a:solidFill>
                <a:latin typeface="Calibri" pitchFamily="34" charset="0"/>
                <a:ea typeface="Calibri" pitchFamily="34" charset="-122"/>
                <a:cs typeface="Calibri" pitchFamily="34" charset="-120"/>
              </a:rPr>
              <a:t>What's a Principle vs. an Implementation Choice? (2/2)</a:t>
            </a:r>
            <a:endParaRPr lang="en-US" sz="3000" dirty="0"/>
          </a:p>
        </p:txBody>
      </p:sp>
      <p:sp>
        <p:nvSpPr>
          <p:cNvPr id="5" name="Shape 3"/>
          <p:cNvSpPr/>
          <p:nvPr/>
        </p:nvSpPr>
        <p:spPr>
          <a:xfrm>
            <a:off x="457200" y="1417320"/>
            <a:ext cx="9166225" cy="27432"/>
          </a:xfrm>
          <a:prstGeom prst="rect">
            <a:avLst/>
          </a:prstGeom>
          <a:solidFill>
            <a:srgbClr val="1D6FBC"/>
          </a:solidFill>
          <a:ln w="12700">
            <a:solidFill>
              <a:srgbClr val="1D6FBC"/>
            </a:solidFill>
            <a:prstDash val="solid"/>
          </a:ln>
        </p:spPr>
      </p:sp>
      <p:sp>
        <p:nvSpPr>
          <p:cNvPr id="6" name="Text 4"/>
          <p:cNvSpPr/>
          <p:nvPr/>
        </p:nvSpPr>
        <p:spPr>
          <a:xfrm>
            <a:off x="457200" y="1572768"/>
            <a:ext cx="9166225" cy="1274487"/>
          </a:xfrm>
          <a:prstGeom prst="rect">
            <a:avLst/>
          </a:prstGeom>
          <a:noFill/>
          <a:ln/>
        </p:spPr>
        <p:txBody>
          <a:bodyPr wrap="square" rtlCol="0" anchor="ctr"/>
          <a:lstStyle/>
          <a:p>
            <a:pPr marL="254000" indent="-254000">
              <a:buSzPct val="100000"/>
              <a:buChar char="•"/>
            </a:pPr>
            <a:r>
              <a:rPr lang="en-US" sz="2300" dirty="0">
                <a:solidFill>
                  <a:srgbClr val="0C1B35"/>
                </a:solidFill>
                <a:latin typeface="Calibri" pitchFamily="34" charset="0"/>
                <a:ea typeface="Calibri" pitchFamily="34" charset="-122"/>
                <a:cs typeface="Calibri" pitchFamily="34" charset="-120"/>
              </a:rPr>
              <a:t>Real contrast from this exact demo — constitution, Principle I: "MUST be readable in a single pass by someone who has never seen spec-kit before... prefer fewer files, fewer moving parts." ← the PRINCIPLE</a:t>
            </a:r>
            <a:endParaRPr lang="en-US" sz="2300" dirty="0"/>
          </a:p>
        </p:txBody>
      </p:sp>
      <p:sp>
        <p:nvSpPr>
          <p:cNvPr id="7" name="Text 5"/>
          <p:cNvSpPr/>
          <p:nvPr/>
        </p:nvSpPr>
        <p:spPr>
          <a:xfrm>
            <a:off x="457200" y="2847255"/>
            <a:ext cx="9166225" cy="1274487"/>
          </a:xfrm>
          <a:prstGeom prst="rect">
            <a:avLst/>
          </a:prstGeom>
          <a:noFill/>
          <a:ln/>
        </p:spPr>
        <p:txBody>
          <a:bodyPr wrap="square" rtlCol="0" anchor="ctr"/>
          <a:lstStyle/>
          <a:p>
            <a:pPr marL="254000" indent="-254000">
              <a:buSzPct val="100000"/>
              <a:buChar char="•"/>
            </a:pPr>
            <a:r>
              <a:rPr lang="en-US" sz="2300" dirty="0">
                <a:solidFill>
                  <a:srgbClr val="0C1B35"/>
                </a:solidFill>
                <a:latin typeface="Calibri" pitchFamily="34" charset="0"/>
                <a:ea typeface="Calibri" pitchFamily="34" charset="-122"/>
                <a:cs typeface="Calibri" pitchFamily="34" charset="-120"/>
              </a:rPr>
              <a:t>plan.md, Constitution Check: "I. Simplicity &amp; Legibility: PASS — four small files total, plain Express routing, no framework magic." ← the IMPLEMENTATION CHOICE that satisfies it</a:t>
            </a:r>
            <a:endParaRPr lang="en-US" sz="2300" dirty="0"/>
          </a:p>
        </p:txBody>
      </p:sp>
      <p:sp>
        <p:nvSpPr>
          <p:cNvPr id="8" name="Text 6"/>
          <p:cNvSpPr/>
          <p:nvPr/>
        </p:nvSpPr>
        <p:spPr>
          <a:xfrm>
            <a:off x="457200" y="4121743"/>
            <a:ext cx="9166225" cy="1274487"/>
          </a:xfrm>
          <a:prstGeom prst="rect">
            <a:avLst/>
          </a:prstGeom>
          <a:noFill/>
          <a:ln/>
        </p:spPr>
        <p:txBody>
          <a:bodyPr wrap="square" rtlCol="0" anchor="ctr"/>
          <a:lstStyle/>
          <a:p>
            <a:pPr marL="254000" indent="-254000">
              <a:buSzPct val="100000"/>
              <a:buChar char="•"/>
            </a:pPr>
            <a:r>
              <a:rPr lang="en-US" sz="2300" dirty="0">
                <a:solidFill>
                  <a:srgbClr val="0C1B35"/>
                </a:solidFill>
                <a:latin typeface="Calibri" pitchFamily="34" charset="0"/>
                <a:ea typeface="Calibri" pitchFamily="34" charset="-122"/>
                <a:cs typeface="Calibri" pitchFamily="34" charset="-120"/>
              </a:rPr>
              <a:t>Notice the principle never says "four files" or "Express" — it only says fewer and plainer. The plan is where that becomes one specific file count and one named framework</a:t>
            </a:r>
            <a:endParaRPr lang="en-US" sz="2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F6FF"/>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1D6FBC"/>
          </a:solidFill>
          <a:ln w="9525">
            <a:solidFill>
              <a:srgbClr val="1D6FB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WORKFLOW</a:t>
            </a:r>
            <a:endParaRPr lang="en-US" sz="1200" dirty="0"/>
          </a:p>
        </p:txBody>
      </p:sp>
      <p:sp>
        <p:nvSpPr>
          <p:cNvPr id="4" name="Text 2"/>
          <p:cNvSpPr/>
          <p:nvPr/>
        </p:nvSpPr>
        <p:spPr>
          <a:xfrm>
            <a:off x="457200" y="658368"/>
            <a:ext cx="9166225" cy="685800"/>
          </a:xfrm>
          <a:prstGeom prst="rect">
            <a:avLst/>
          </a:prstGeom>
          <a:noFill/>
          <a:ln/>
        </p:spPr>
        <p:txBody>
          <a:bodyPr wrap="square" rtlCol="0" anchor="ctr"/>
          <a:lstStyle/>
          <a:p>
            <a:pPr indent="0" marL="0">
              <a:buNone/>
            </a:pPr>
            <a:r>
              <a:rPr lang="en-US" sz="3000" b="1" dirty="0">
                <a:solidFill>
                  <a:srgbClr val="0C1B35"/>
                </a:solidFill>
                <a:latin typeface="Calibri" pitchFamily="34" charset="0"/>
                <a:ea typeface="Calibri" pitchFamily="34" charset="-122"/>
                <a:cs typeface="Calibri" pitchFamily="34" charset="-120"/>
              </a:rPr>
              <a:t>/speckit-specify</a:t>
            </a:r>
            <a:endParaRPr lang="en-US" sz="3000" dirty="0"/>
          </a:p>
        </p:txBody>
      </p:sp>
      <p:sp>
        <p:nvSpPr>
          <p:cNvPr id="5" name="Shape 3"/>
          <p:cNvSpPr/>
          <p:nvPr/>
        </p:nvSpPr>
        <p:spPr>
          <a:xfrm>
            <a:off x="457200" y="1417320"/>
            <a:ext cx="9166225" cy="27432"/>
          </a:xfrm>
          <a:prstGeom prst="rect">
            <a:avLst/>
          </a:prstGeom>
          <a:solidFill>
            <a:srgbClr val="1D6FBC"/>
          </a:solidFill>
          <a:ln w="12700">
            <a:solidFill>
              <a:srgbClr val="1D6FBC"/>
            </a:solidFill>
            <a:prstDash val="solid"/>
          </a:ln>
        </p:spPr>
      </p:sp>
      <p:sp>
        <p:nvSpPr>
          <p:cNvPr id="6" name="Shape 4"/>
          <p:cNvSpPr/>
          <p:nvPr/>
        </p:nvSpPr>
        <p:spPr>
          <a:xfrm>
            <a:off x="457200" y="1572768"/>
            <a:ext cx="9166225" cy="1264920"/>
          </a:xfrm>
          <a:prstGeom prst="rect">
            <a:avLst/>
          </a:prstGeom>
          <a:solidFill>
            <a:srgbClr val="E6F0FA"/>
          </a:solidFill>
          <a:ln w="9525">
            <a:solidFill>
              <a:srgbClr val="1D6FBC"/>
            </a:solidFill>
            <a:prstDash val="solid"/>
          </a:ln>
        </p:spPr>
      </p:sp>
      <p:sp>
        <p:nvSpPr>
          <p:cNvPr id="7" name="Text 5"/>
          <p:cNvSpPr/>
          <p:nvPr/>
        </p:nvSpPr>
        <p:spPr>
          <a:xfrm>
            <a:off x="640080" y="1709928"/>
            <a:ext cx="8800465" cy="990600"/>
          </a:xfrm>
          <a:prstGeom prst="rect">
            <a:avLst/>
          </a:prstGeom>
          <a:noFill/>
          <a:ln/>
        </p:spPr>
        <p:txBody>
          <a:bodyPr wrap="none" rtlCol="0" anchor="t"/>
          <a:lstStyle/>
          <a:p>
            <a:pPr indent="0" marL="0">
              <a:buNone/>
            </a:pPr>
            <a:r>
              <a:rPr lang="en-US" sz="1300" dirty="0">
                <a:solidFill>
                  <a:srgbClr val="1A365D"/>
                </a:solidFill>
                <a:latin typeface="Consolas" pitchFamily="34" charset="0"/>
                <a:ea typeface="Consolas" pitchFamily="34" charset="-122"/>
                <a:cs typeface="Consolas" pitchFamily="34" charset="-120"/>
              </a:rPr>
              <a:t>### User Story 1 - Add a task and see it in the list (Priority: P1)</a:t>
            </a:r>
            <a:endParaRPr lang="en-US" sz="1300" dirty="0"/>
          </a:p>
          <a:p>
            <a:pPr indent="0" marL="0">
              <a:buNone/>
            </a:pPr>
            <a:r>
              <a:rPr lang="en-US" sz="1300" dirty="0">
                <a:solidFill>
                  <a:srgbClr val="1A365D"/>
                </a:solidFill>
                <a:latin typeface="Consolas" pitchFamily="34" charset="0"/>
                <a:ea typeface="Consolas" pitchFamily="34" charset="-122"/>
                <a:cs typeface="Consolas" pitchFamily="34" charset="-120"/>
              </a:rPr>
              <a:t>A user wants to capture something they need to do, then confirm it was recorded.</a:t>
            </a:r>
            <a:endParaRPr lang="en-US" sz="1300" dirty="0"/>
          </a:p>
          <a:p>
            <a:pPr indent="0" marL="0">
              <a:buNone/>
            </a:pPr>
            <a:r>
              <a:rPr lang="en-US" sz="1300" dirty="0">
                <a:solidFill>
                  <a:srgbClr val="1A365D"/>
                </a:solidFill>
                <a:latin typeface="Consolas" pitchFamily="34" charset="0"/>
                <a:ea typeface="Consolas" pitchFamily="34" charset="-122"/>
                <a:cs typeface="Consolas" pitchFamily="34" charset="-120"/>
              </a:rPr>
              <a:t>**Independent Test**: Can be fully tested by adding a task and then retrieving</a:t>
            </a:r>
            <a:endParaRPr lang="en-US" sz="1300" dirty="0"/>
          </a:p>
          <a:p>
            <a:pPr indent="0" marL="0">
              <a:buNone/>
            </a:pPr>
            <a:r>
              <a:rPr lang="en-US" sz="1300" dirty="0">
                <a:solidFill>
                  <a:srgbClr val="1A365D"/>
                </a:solidFill>
                <a:latin typeface="Consolas" pitchFamily="34" charset="0"/>
                <a:ea typeface="Consolas" pitchFamily="34" charset="-122"/>
                <a:cs typeface="Consolas" pitchFamily="34" charset="-120"/>
              </a:rPr>
              <a:t>the list, and confirming the new task appears with the description provided.</a:t>
            </a:r>
            <a:endParaRPr lang="en-US" sz="1300" dirty="0"/>
          </a:p>
        </p:txBody>
      </p:sp>
      <p:sp>
        <p:nvSpPr>
          <p:cNvPr id="8" name="Text 6"/>
          <p:cNvSpPr/>
          <p:nvPr/>
        </p:nvSpPr>
        <p:spPr>
          <a:xfrm>
            <a:off x="457200" y="3020568"/>
            <a:ext cx="9166225" cy="791887"/>
          </a:xfrm>
          <a:prstGeom prst="rect">
            <a:avLst/>
          </a:prstGeom>
          <a:noFill/>
          <a:ln/>
        </p:spPr>
        <p:txBody>
          <a:bodyPr wrap="square" rtlCol="0" anchor="ctr"/>
          <a:lstStyle/>
          <a:p>
            <a:pPr marL="254000" indent="-254000">
              <a:buSzPct val="100000"/>
              <a:buChar char="•"/>
            </a:pPr>
            <a:r>
              <a:rPr lang="en-US" sz="1900" dirty="0">
                <a:solidFill>
                  <a:srgbClr val="0C1B35"/>
                </a:solidFill>
                <a:latin typeface="Calibri" pitchFamily="34" charset="0"/>
                <a:ea typeface="Calibri" pitchFamily="34" charset="-122"/>
                <a:cs typeface="Calibri" pitchFamily="34" charset="-120"/>
              </a:rPr>
              <a:t>Reads: constitution.md — every requirement has to fit inside those non-negotiables</a:t>
            </a:r>
            <a:endParaRPr lang="en-US" sz="1900" dirty="0"/>
          </a:p>
        </p:txBody>
      </p:sp>
      <p:sp>
        <p:nvSpPr>
          <p:cNvPr id="9" name="Text 7"/>
          <p:cNvSpPr/>
          <p:nvPr/>
        </p:nvSpPr>
        <p:spPr>
          <a:xfrm>
            <a:off x="457200" y="3812455"/>
            <a:ext cx="9166225" cy="791887"/>
          </a:xfrm>
          <a:prstGeom prst="rect">
            <a:avLst/>
          </a:prstGeom>
          <a:noFill/>
          <a:ln/>
        </p:spPr>
        <p:txBody>
          <a:bodyPr wrap="square" rtlCol="0" anchor="ctr"/>
          <a:lstStyle/>
          <a:p>
            <a:pPr marL="254000" indent="-254000">
              <a:buSzPct val="100000"/>
              <a:buChar char="•"/>
            </a:pPr>
            <a:r>
              <a:rPr lang="en-US" sz="1900" dirty="0">
                <a:solidFill>
                  <a:srgbClr val="0C1B35"/>
                </a:solidFill>
                <a:latin typeface="Calibri" pitchFamily="34" charset="0"/>
                <a:ea typeface="Calibri" pitchFamily="34" charset="-122"/>
                <a:cs typeface="Calibri" pitchFamily="34" charset="-120"/>
              </a:rPr>
              <a:t>Writes: spec.md — prioritized user stories (P1/P2/P3), each with acceptance scenarios and an Independent Test</a:t>
            </a:r>
            <a:endParaRPr lang="en-US" sz="1900" dirty="0"/>
          </a:p>
        </p:txBody>
      </p:sp>
      <p:sp>
        <p:nvSpPr>
          <p:cNvPr id="10" name="Text 8"/>
          <p:cNvSpPr/>
          <p:nvPr/>
        </p:nvSpPr>
        <p:spPr>
          <a:xfrm>
            <a:off x="457200" y="4604343"/>
            <a:ext cx="9166225" cy="791887"/>
          </a:xfrm>
          <a:prstGeom prst="rect">
            <a:avLst/>
          </a:prstGeom>
          <a:noFill/>
          <a:ln/>
        </p:spPr>
        <p:txBody>
          <a:bodyPr wrap="square" rtlCol="0" anchor="ctr"/>
          <a:lstStyle/>
          <a:p>
            <a:pPr marL="254000" indent="-254000">
              <a:buSzPct val="100000"/>
              <a:buChar char="•"/>
            </a:pPr>
            <a:r>
              <a:rPr lang="en-US" sz="1900" dirty="0">
                <a:solidFill>
                  <a:srgbClr val="0C1B35"/>
                </a:solidFill>
                <a:latin typeface="Calibri" pitchFamily="34" charset="0"/>
                <a:ea typeface="Calibri" pitchFamily="34" charset="-122"/>
                <a:cs typeface="Calibri" pitchFamily="34" charset="-120"/>
              </a:rPr>
              <a:t>Why: turns a one-line feature idea into a checkable, prioritized breakdown before anyone designs a single endpoint</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F6FF"/>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1D6FBC"/>
          </a:solidFill>
          <a:ln w="9525">
            <a:solidFill>
              <a:srgbClr val="1D6FB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WORKFLOW</a:t>
            </a:r>
            <a:endParaRPr lang="en-US" sz="1200" dirty="0"/>
          </a:p>
        </p:txBody>
      </p:sp>
      <p:sp>
        <p:nvSpPr>
          <p:cNvPr id="4" name="Text 2"/>
          <p:cNvSpPr/>
          <p:nvPr/>
        </p:nvSpPr>
        <p:spPr>
          <a:xfrm>
            <a:off x="457200" y="658368"/>
            <a:ext cx="9166225" cy="685800"/>
          </a:xfrm>
          <a:prstGeom prst="rect">
            <a:avLst/>
          </a:prstGeom>
          <a:noFill/>
          <a:ln/>
        </p:spPr>
        <p:txBody>
          <a:bodyPr wrap="square" rtlCol="0" anchor="ctr"/>
          <a:lstStyle/>
          <a:p>
            <a:pPr indent="0" marL="0">
              <a:buNone/>
            </a:pPr>
            <a:r>
              <a:rPr lang="en-US" sz="3000" b="1" dirty="0">
                <a:solidFill>
                  <a:srgbClr val="0C1B35"/>
                </a:solidFill>
                <a:latin typeface="Calibri" pitchFamily="34" charset="0"/>
                <a:ea typeface="Calibri" pitchFamily="34" charset="-122"/>
                <a:cs typeface="Calibri" pitchFamily="34" charset="-120"/>
              </a:rPr>
              <a:t>/speckit-plan</a:t>
            </a:r>
            <a:endParaRPr lang="en-US" sz="3000" dirty="0"/>
          </a:p>
        </p:txBody>
      </p:sp>
      <p:sp>
        <p:nvSpPr>
          <p:cNvPr id="5" name="Shape 3"/>
          <p:cNvSpPr/>
          <p:nvPr/>
        </p:nvSpPr>
        <p:spPr>
          <a:xfrm>
            <a:off x="457200" y="1417320"/>
            <a:ext cx="9166225" cy="27432"/>
          </a:xfrm>
          <a:prstGeom prst="rect">
            <a:avLst/>
          </a:prstGeom>
          <a:solidFill>
            <a:srgbClr val="1D6FBC"/>
          </a:solidFill>
          <a:ln w="12700">
            <a:solidFill>
              <a:srgbClr val="1D6FBC"/>
            </a:solidFill>
            <a:prstDash val="solid"/>
          </a:ln>
        </p:spPr>
      </p:sp>
      <p:sp>
        <p:nvSpPr>
          <p:cNvPr id="6" name="Shape 4"/>
          <p:cNvSpPr/>
          <p:nvPr/>
        </p:nvSpPr>
        <p:spPr>
          <a:xfrm>
            <a:off x="457200" y="1572768"/>
            <a:ext cx="9166225" cy="1607820"/>
          </a:xfrm>
          <a:prstGeom prst="rect">
            <a:avLst/>
          </a:prstGeom>
          <a:solidFill>
            <a:srgbClr val="E6F0FA"/>
          </a:solidFill>
          <a:ln w="9525">
            <a:solidFill>
              <a:srgbClr val="1D6FBC"/>
            </a:solidFill>
            <a:prstDash val="solid"/>
          </a:ln>
        </p:spPr>
      </p:sp>
      <p:sp>
        <p:nvSpPr>
          <p:cNvPr id="7" name="Text 5"/>
          <p:cNvSpPr/>
          <p:nvPr/>
        </p:nvSpPr>
        <p:spPr>
          <a:xfrm>
            <a:off x="640080" y="1709928"/>
            <a:ext cx="8800465" cy="1333500"/>
          </a:xfrm>
          <a:prstGeom prst="rect">
            <a:avLst/>
          </a:prstGeom>
          <a:noFill/>
          <a:ln/>
        </p:spPr>
        <p:txBody>
          <a:bodyPr wrap="none" rtlCol="0" anchor="t"/>
          <a:lstStyle/>
          <a:p>
            <a:pPr indent="0" marL="0">
              <a:buNone/>
            </a:pPr>
            <a:r>
              <a:rPr lang="en-US" sz="1400" dirty="0">
                <a:solidFill>
                  <a:srgbClr val="1A365D"/>
                </a:solidFill>
                <a:latin typeface="Consolas" pitchFamily="34" charset="0"/>
                <a:ea typeface="Consolas" pitchFamily="34" charset="-122"/>
                <a:cs typeface="Consolas" pitchFamily="34" charset="-120"/>
              </a:rPr>
              <a:t>## Constitution Check</a:t>
            </a:r>
            <a:endParaRPr lang="en-US" sz="1400" dirty="0"/>
          </a:p>
          <a:p>
            <a:pPr indent="0" marL="0">
              <a:buNone/>
            </a:pPr>
            <a:r>
              <a:rPr lang="en-US" sz="1400" dirty="0">
                <a:solidFill>
                  <a:srgbClr val="1A365D"/>
                </a:solidFill>
                <a:latin typeface="Consolas" pitchFamily="34" charset="0"/>
                <a:ea typeface="Consolas" pitchFamily="34" charset="-122"/>
                <a:cs typeface="Consolas" pitchFamily="34" charset="-120"/>
              </a:rPr>
              <a:t>- **I. Simplicity &amp; Legibility**: PASS — four small files total, plain Express</a:t>
            </a:r>
            <a:endParaRPr lang="en-US" sz="1400" dirty="0"/>
          </a:p>
          <a:p>
            <a:pPr indent="0" marL="0">
              <a:buNone/>
            </a:pPr>
            <a:r>
              <a:rPr lang="en-US" sz="1400" dirty="0">
                <a:solidFill>
                  <a:srgbClr val="1A365D"/>
                </a:solidFill>
                <a:latin typeface="Consolas" pitchFamily="34" charset="0"/>
                <a:ea typeface="Consolas" pitchFamily="34" charset="-122"/>
                <a:cs typeface="Consolas" pitchFamily="34" charset="-120"/>
              </a:rPr>
              <a:t>  routing, no framework magic or generated boilerplate.</a:t>
            </a:r>
            <a:endParaRPr lang="en-US" sz="1400" dirty="0"/>
          </a:p>
          <a:p>
            <a:pPr indent="0" marL="0">
              <a:buNone/>
            </a:pPr>
            <a:r>
              <a:rPr lang="en-US" sz="1400" dirty="0">
                <a:solidFill>
                  <a:srgbClr val="1A365D"/>
                </a:solidFill>
                <a:latin typeface="Consolas" pitchFamily="34" charset="0"/>
                <a:ea typeface="Consolas" pitchFamily="34" charset="-122"/>
                <a:cs typeface="Consolas" pitchFamily="34" charset="-120"/>
              </a:rPr>
              <a:t>- **V. Minimal Dependencies**: PASS — `express` is the only runtime dependency;</a:t>
            </a:r>
            <a:endParaRPr lang="en-US" sz="1400" dirty="0"/>
          </a:p>
          <a:p>
            <a:pPr indent="0" marL="0">
              <a:buNone/>
            </a:pPr>
            <a:r>
              <a:rPr lang="en-US" sz="1400" dirty="0">
                <a:solidFill>
                  <a:srgbClr val="1A365D"/>
                </a:solidFill>
                <a:latin typeface="Consolas" pitchFamily="34" charset="0"/>
                <a:ea typeface="Consolas" pitchFamily="34" charset="-122"/>
                <a:cs typeface="Consolas" pitchFamily="34" charset="-120"/>
              </a:rPr>
              <a:t>  no test framework, no build step, no TypeScript.</a:t>
            </a:r>
            <a:endParaRPr lang="en-US" sz="1400" dirty="0"/>
          </a:p>
        </p:txBody>
      </p:sp>
      <p:sp>
        <p:nvSpPr>
          <p:cNvPr id="8" name="Text 6"/>
          <p:cNvSpPr/>
          <p:nvPr/>
        </p:nvSpPr>
        <p:spPr>
          <a:xfrm>
            <a:off x="457200" y="3363468"/>
            <a:ext cx="9166225" cy="677587"/>
          </a:xfrm>
          <a:prstGeom prst="rect">
            <a:avLst/>
          </a:prstGeom>
          <a:noFill/>
          <a:ln/>
        </p:spPr>
        <p:txBody>
          <a:bodyPr wrap="square" rtlCol="0" anchor="ctr"/>
          <a:lstStyle/>
          <a:p>
            <a:pPr marL="254000" indent="-254000">
              <a:buSzPct val="100000"/>
              <a:buChar char="•"/>
            </a:pPr>
            <a:r>
              <a:rPr lang="en-US" sz="1900" dirty="0">
                <a:solidFill>
                  <a:srgbClr val="0C1B35"/>
                </a:solidFill>
                <a:latin typeface="Calibri" pitchFamily="34" charset="0"/>
                <a:ea typeface="Calibri" pitchFamily="34" charset="-122"/>
                <a:cs typeface="Calibri" pitchFamily="34" charset="-120"/>
              </a:rPr>
              <a:t>Reads: spec.md and constitution.md</a:t>
            </a:r>
            <a:endParaRPr lang="en-US" sz="1900" dirty="0"/>
          </a:p>
        </p:txBody>
      </p:sp>
      <p:sp>
        <p:nvSpPr>
          <p:cNvPr id="9" name="Text 7"/>
          <p:cNvSpPr/>
          <p:nvPr/>
        </p:nvSpPr>
        <p:spPr>
          <a:xfrm>
            <a:off x="457200" y="4041055"/>
            <a:ext cx="9166225" cy="677587"/>
          </a:xfrm>
          <a:prstGeom prst="rect">
            <a:avLst/>
          </a:prstGeom>
          <a:noFill/>
          <a:ln/>
        </p:spPr>
        <p:txBody>
          <a:bodyPr wrap="square" rtlCol="0" anchor="ctr"/>
          <a:lstStyle/>
          <a:p>
            <a:pPr marL="254000" indent="-254000">
              <a:buSzPct val="100000"/>
              <a:buChar char="•"/>
            </a:pPr>
            <a:r>
              <a:rPr lang="en-US" sz="1900" dirty="0">
                <a:solidFill>
                  <a:srgbClr val="0C1B35"/>
                </a:solidFill>
                <a:latin typeface="Calibri" pitchFamily="34" charset="0"/>
                <a:ea typeface="Calibri" pitchFamily="34" charset="-122"/>
                <a:cs typeface="Calibri" pitchFamily="34" charset="-120"/>
              </a:rPr>
              <a:t>Writes: plan.md, plus supporting research.md, data-model.md, and contracts/</a:t>
            </a:r>
            <a:endParaRPr lang="en-US" sz="1900" dirty="0"/>
          </a:p>
        </p:txBody>
      </p:sp>
      <p:sp>
        <p:nvSpPr>
          <p:cNvPr id="10" name="Text 8"/>
          <p:cNvSpPr/>
          <p:nvPr/>
        </p:nvSpPr>
        <p:spPr>
          <a:xfrm>
            <a:off x="457200" y="4718643"/>
            <a:ext cx="9166225" cy="677587"/>
          </a:xfrm>
          <a:prstGeom prst="rect">
            <a:avLst/>
          </a:prstGeom>
          <a:noFill/>
          <a:ln/>
        </p:spPr>
        <p:txBody>
          <a:bodyPr wrap="square" rtlCol="0" anchor="ctr"/>
          <a:lstStyle/>
          <a:p>
            <a:pPr marL="254000" indent="-254000">
              <a:buSzPct val="100000"/>
              <a:buChar char="•"/>
            </a:pPr>
            <a:r>
              <a:rPr lang="en-US" sz="1900" dirty="0">
                <a:solidFill>
                  <a:srgbClr val="0C1B35"/>
                </a:solidFill>
                <a:latin typeface="Calibri" pitchFamily="34" charset="0"/>
                <a:ea typeface="Calibri" pitchFamily="34" charset="-122"/>
                <a:cs typeface="Calibri" pitchFamily="34" charset="-120"/>
              </a:rPr>
              <a:t>Why: every principle gets graded PASS or FAIL against the actual design — once before research, once after — before anyone moves on to tasks</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0F6FF"/>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1D6FBC"/>
          </a:solidFill>
          <a:ln w="9525">
            <a:solidFill>
              <a:srgbClr val="1D6FB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WORKFLOW</a:t>
            </a:r>
            <a:endParaRPr lang="en-US" sz="1200" dirty="0"/>
          </a:p>
        </p:txBody>
      </p:sp>
      <p:sp>
        <p:nvSpPr>
          <p:cNvPr id="4" name="Text 2"/>
          <p:cNvSpPr/>
          <p:nvPr/>
        </p:nvSpPr>
        <p:spPr>
          <a:xfrm>
            <a:off x="457200" y="658368"/>
            <a:ext cx="9166225" cy="685800"/>
          </a:xfrm>
          <a:prstGeom prst="rect">
            <a:avLst/>
          </a:prstGeom>
          <a:noFill/>
          <a:ln/>
        </p:spPr>
        <p:txBody>
          <a:bodyPr wrap="square" rtlCol="0" anchor="ctr"/>
          <a:lstStyle/>
          <a:p>
            <a:pPr indent="0" marL="0">
              <a:buNone/>
            </a:pPr>
            <a:r>
              <a:rPr lang="en-US" sz="3000" b="1" dirty="0">
                <a:solidFill>
                  <a:srgbClr val="0C1B35"/>
                </a:solidFill>
                <a:latin typeface="Calibri" pitchFamily="34" charset="0"/>
                <a:ea typeface="Calibri" pitchFamily="34" charset="-122"/>
                <a:cs typeface="Calibri" pitchFamily="34" charset="-120"/>
              </a:rPr>
              <a:t>/speckit-tasks</a:t>
            </a:r>
            <a:endParaRPr lang="en-US" sz="3000" dirty="0"/>
          </a:p>
        </p:txBody>
      </p:sp>
      <p:sp>
        <p:nvSpPr>
          <p:cNvPr id="5" name="Shape 3"/>
          <p:cNvSpPr/>
          <p:nvPr/>
        </p:nvSpPr>
        <p:spPr>
          <a:xfrm>
            <a:off x="457200" y="1417320"/>
            <a:ext cx="9166225" cy="27432"/>
          </a:xfrm>
          <a:prstGeom prst="rect">
            <a:avLst/>
          </a:prstGeom>
          <a:solidFill>
            <a:srgbClr val="1D6FBC"/>
          </a:solidFill>
          <a:ln w="12700">
            <a:solidFill>
              <a:srgbClr val="1D6FBC"/>
            </a:solidFill>
            <a:prstDash val="solid"/>
          </a:ln>
        </p:spPr>
      </p:sp>
      <p:sp>
        <p:nvSpPr>
          <p:cNvPr id="6" name="Shape 4"/>
          <p:cNvSpPr/>
          <p:nvPr/>
        </p:nvSpPr>
        <p:spPr>
          <a:xfrm>
            <a:off x="457200" y="1572768"/>
            <a:ext cx="9166225" cy="960120"/>
          </a:xfrm>
          <a:prstGeom prst="rect">
            <a:avLst/>
          </a:prstGeom>
          <a:solidFill>
            <a:srgbClr val="E6F0FA"/>
          </a:solidFill>
          <a:ln w="9525">
            <a:solidFill>
              <a:srgbClr val="1D6FBC"/>
            </a:solidFill>
            <a:prstDash val="solid"/>
          </a:ln>
        </p:spPr>
      </p:sp>
      <p:sp>
        <p:nvSpPr>
          <p:cNvPr id="7" name="Text 5"/>
          <p:cNvSpPr/>
          <p:nvPr/>
        </p:nvSpPr>
        <p:spPr>
          <a:xfrm>
            <a:off x="640080" y="1709928"/>
            <a:ext cx="8800465" cy="685800"/>
          </a:xfrm>
          <a:prstGeom prst="rect">
            <a:avLst/>
          </a:prstGeom>
          <a:noFill/>
          <a:ln/>
        </p:spPr>
        <p:txBody>
          <a:bodyPr wrap="none" rtlCol="0" anchor="t"/>
          <a:lstStyle/>
          <a:p>
            <a:pPr indent="0" marL="0">
              <a:buNone/>
            </a:pPr>
            <a:r>
              <a:rPr lang="en-US" sz="1200" dirty="0">
                <a:solidFill>
                  <a:srgbClr val="1A365D"/>
                </a:solidFill>
                <a:latin typeface="Consolas" pitchFamily="34" charset="0"/>
                <a:ea typeface="Consolas" pitchFamily="34" charset="-122"/>
                <a:cs typeface="Consolas" pitchFamily="34" charset="-120"/>
              </a:rPr>
              <a:t>## Phase 1: Setup</a:t>
            </a:r>
            <a:endParaRPr lang="en-US" sz="1200" dirty="0"/>
          </a:p>
          <a:p>
            <a:pPr indent="0" marL="0">
              <a:buNone/>
            </a:pPr>
            <a:r>
              <a:rPr lang="en-US" sz="1200" dirty="0">
                <a:solidFill>
                  <a:srgbClr val="1A365D"/>
                </a:solidFill>
                <a:latin typeface="Consolas" pitchFamily="34" charset="0"/>
                <a:ea typeface="Consolas" pitchFamily="34" charset="-122"/>
                <a:cs typeface="Consolas" pitchFamily="34" charset="-120"/>
              </a:rPr>
              <a:t>- [X] T001 Create `spec-driven/` directory with a `src/` and `src/routes/` subfolder</a:t>
            </a:r>
            <a:endParaRPr lang="en-US" sz="1200" dirty="0"/>
          </a:p>
          <a:p>
            <a:pPr indent="0" marL="0">
              <a:buNone/>
            </a:pPr>
            <a:r>
              <a:rPr lang="en-US" sz="1200" dirty="0">
                <a:solidFill>
                  <a:srgbClr val="1A365D"/>
                </a:solidFill>
                <a:latin typeface="Consolas" pitchFamily="34" charset="0"/>
                <a:ea typeface="Consolas" pitchFamily="34" charset="-122"/>
                <a:cs typeface="Consolas" pitchFamily="34" charset="-120"/>
              </a:rPr>
              <a:t>- [X] T002 Initialize `spec-driven/package.json` with `express` as the only dependency</a:t>
            </a:r>
            <a:endParaRPr lang="en-US" sz="1200" dirty="0"/>
          </a:p>
        </p:txBody>
      </p:sp>
      <p:sp>
        <p:nvSpPr>
          <p:cNvPr id="8" name="Text 6"/>
          <p:cNvSpPr/>
          <p:nvPr/>
        </p:nvSpPr>
        <p:spPr>
          <a:xfrm>
            <a:off x="457200" y="2715768"/>
            <a:ext cx="9166225" cy="893487"/>
          </a:xfrm>
          <a:prstGeom prst="rect">
            <a:avLst/>
          </a:prstGeom>
          <a:noFill/>
          <a:ln/>
        </p:spPr>
        <p:txBody>
          <a:bodyPr wrap="square" rtlCol="0" anchor="ctr"/>
          <a:lstStyle/>
          <a:p>
            <a:pPr marL="254000" indent="-254000">
              <a:buSzPct val="100000"/>
              <a:buChar char="•"/>
            </a:pPr>
            <a:r>
              <a:rPr lang="en-US" sz="1900" dirty="0">
                <a:solidFill>
                  <a:srgbClr val="0C1B35"/>
                </a:solidFill>
                <a:latin typeface="Calibri" pitchFamily="34" charset="0"/>
                <a:ea typeface="Calibri" pitchFamily="34" charset="-122"/>
                <a:cs typeface="Calibri" pitchFamily="34" charset="-120"/>
              </a:rPr>
              <a:t>Reads: plan.md and spec.md</a:t>
            </a:r>
            <a:endParaRPr lang="en-US" sz="1900" dirty="0"/>
          </a:p>
        </p:txBody>
      </p:sp>
      <p:sp>
        <p:nvSpPr>
          <p:cNvPr id="9" name="Text 7"/>
          <p:cNvSpPr/>
          <p:nvPr/>
        </p:nvSpPr>
        <p:spPr>
          <a:xfrm>
            <a:off x="457200" y="3609255"/>
            <a:ext cx="9166225" cy="893487"/>
          </a:xfrm>
          <a:prstGeom prst="rect">
            <a:avLst/>
          </a:prstGeom>
          <a:noFill/>
          <a:ln/>
        </p:spPr>
        <p:txBody>
          <a:bodyPr wrap="square" rtlCol="0" anchor="ctr"/>
          <a:lstStyle/>
          <a:p>
            <a:pPr marL="254000" indent="-254000">
              <a:buSzPct val="100000"/>
              <a:buChar char="•"/>
            </a:pPr>
            <a:r>
              <a:rPr lang="en-US" sz="1900" dirty="0">
                <a:solidFill>
                  <a:srgbClr val="0C1B35"/>
                </a:solidFill>
                <a:latin typeface="Calibri" pitchFamily="34" charset="0"/>
                <a:ea typeface="Calibri" pitchFamily="34" charset="-122"/>
                <a:cs typeface="Calibri" pitchFamily="34" charset="-120"/>
              </a:rPr>
              <a:t>Writes: tasks.md — a phased, dependency-ordered checklist, grouped by user story</a:t>
            </a:r>
            <a:endParaRPr lang="en-US" sz="1900" dirty="0"/>
          </a:p>
        </p:txBody>
      </p:sp>
      <p:sp>
        <p:nvSpPr>
          <p:cNvPr id="10" name="Text 8"/>
          <p:cNvSpPr/>
          <p:nvPr/>
        </p:nvSpPr>
        <p:spPr>
          <a:xfrm>
            <a:off x="457200" y="4502743"/>
            <a:ext cx="9166225" cy="893487"/>
          </a:xfrm>
          <a:prstGeom prst="rect">
            <a:avLst/>
          </a:prstGeom>
          <a:noFill/>
          <a:ln/>
        </p:spPr>
        <p:txBody>
          <a:bodyPr wrap="square" rtlCol="0" anchor="ctr"/>
          <a:lstStyle/>
          <a:p>
            <a:pPr marL="254000" indent="-254000">
              <a:buSzPct val="100000"/>
              <a:buChar char="•"/>
            </a:pPr>
            <a:r>
              <a:rPr lang="en-US" sz="1900" dirty="0">
                <a:solidFill>
                  <a:srgbClr val="0C1B35"/>
                </a:solidFill>
                <a:latin typeface="Calibri" pitchFamily="34" charset="0"/>
                <a:ea typeface="Calibri" pitchFamily="34" charset="-122"/>
                <a:cs typeface="Calibri" pitchFamily="34" charset="-120"/>
              </a:rPr>
              <a:t>Why: it's the difference between "we designed something" and "here is the exact order to build it in"</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0F6FF"/>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1D6FBC"/>
          </a:solidFill>
          <a:ln w="9525">
            <a:solidFill>
              <a:srgbClr val="1D6FB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WORKFLOW</a:t>
            </a:r>
            <a:endParaRPr lang="en-US" sz="1200" dirty="0"/>
          </a:p>
        </p:txBody>
      </p:sp>
      <p:sp>
        <p:nvSpPr>
          <p:cNvPr id="4" name="Text 2"/>
          <p:cNvSpPr/>
          <p:nvPr/>
        </p:nvSpPr>
        <p:spPr>
          <a:xfrm>
            <a:off x="457200" y="658368"/>
            <a:ext cx="9166225" cy="685800"/>
          </a:xfrm>
          <a:prstGeom prst="rect">
            <a:avLst/>
          </a:prstGeom>
          <a:noFill/>
          <a:ln/>
        </p:spPr>
        <p:txBody>
          <a:bodyPr wrap="square" rtlCol="0" anchor="ctr"/>
          <a:lstStyle/>
          <a:p>
            <a:pPr indent="0" marL="0">
              <a:buNone/>
            </a:pPr>
            <a:r>
              <a:rPr lang="en-US" sz="3000" b="1" dirty="0">
                <a:solidFill>
                  <a:srgbClr val="0C1B35"/>
                </a:solidFill>
                <a:latin typeface="Calibri" pitchFamily="34" charset="0"/>
                <a:ea typeface="Calibri" pitchFamily="34" charset="-122"/>
                <a:cs typeface="Calibri" pitchFamily="34" charset="-120"/>
              </a:rPr>
              <a:t>/speckit-implement</a:t>
            </a:r>
            <a:endParaRPr lang="en-US" sz="3000" dirty="0"/>
          </a:p>
        </p:txBody>
      </p:sp>
      <p:sp>
        <p:nvSpPr>
          <p:cNvPr id="5" name="Shape 3"/>
          <p:cNvSpPr/>
          <p:nvPr/>
        </p:nvSpPr>
        <p:spPr>
          <a:xfrm>
            <a:off x="457200" y="1417320"/>
            <a:ext cx="9166225" cy="27432"/>
          </a:xfrm>
          <a:prstGeom prst="rect">
            <a:avLst/>
          </a:prstGeom>
          <a:solidFill>
            <a:srgbClr val="1D6FBC"/>
          </a:solidFill>
          <a:ln w="12700">
            <a:solidFill>
              <a:srgbClr val="1D6FBC"/>
            </a:solidFill>
            <a:prstDash val="solid"/>
          </a:ln>
        </p:spPr>
      </p:sp>
      <p:sp>
        <p:nvSpPr>
          <p:cNvPr id="6" name="Text 4"/>
          <p:cNvSpPr/>
          <p:nvPr/>
        </p:nvSpPr>
        <p:spPr>
          <a:xfrm>
            <a:off x="457200" y="1572768"/>
            <a:ext cx="9166225" cy="955866"/>
          </a:xfrm>
          <a:prstGeom prst="rect">
            <a:avLst/>
          </a:prstGeom>
          <a:noFill/>
          <a:ln/>
        </p:spPr>
        <p:txBody>
          <a:bodyPr wrap="square" rtlCol="0" anchor="ctr"/>
          <a:lstStyle/>
          <a:p>
            <a:pPr marL="254000" indent="-254000">
              <a:buSzPct val="100000"/>
              <a:buChar char="•"/>
            </a:pPr>
            <a:r>
              <a:rPr lang="en-US" sz="2200" dirty="0">
                <a:solidFill>
                  <a:srgbClr val="0C1B35"/>
                </a:solidFill>
                <a:latin typeface="Calibri" pitchFamily="34" charset="0"/>
                <a:ea typeface="Calibri" pitchFamily="34" charset="-122"/>
                <a:cs typeface="Calibri" pitchFamily="34" charset="-120"/>
              </a:rPr>
              <a:t>Reads: tasks.md — and everything upstream by reference, since every task traces back to the plan, spec, and constitution</a:t>
            </a:r>
            <a:endParaRPr lang="en-US" sz="2200" dirty="0"/>
          </a:p>
        </p:txBody>
      </p:sp>
      <p:sp>
        <p:nvSpPr>
          <p:cNvPr id="7" name="Text 5"/>
          <p:cNvSpPr/>
          <p:nvPr/>
        </p:nvSpPr>
        <p:spPr>
          <a:xfrm>
            <a:off x="457200" y="2528634"/>
            <a:ext cx="9166225" cy="955866"/>
          </a:xfrm>
          <a:prstGeom prst="rect">
            <a:avLst/>
          </a:prstGeom>
          <a:noFill/>
          <a:ln/>
        </p:spPr>
        <p:txBody>
          <a:bodyPr wrap="square" rtlCol="0" anchor="ctr"/>
          <a:lstStyle/>
          <a:p>
            <a:pPr marL="254000" indent="-254000">
              <a:buSzPct val="100000"/>
              <a:buChar char="•"/>
            </a:pPr>
            <a:r>
              <a:rPr lang="en-US" sz="2200" dirty="0">
                <a:solidFill>
                  <a:srgbClr val="0C1B35"/>
                </a:solidFill>
                <a:latin typeface="Calibri" pitchFamily="34" charset="0"/>
                <a:ea typeface="Calibri" pitchFamily="34" charset="-122"/>
                <a:cs typeface="Calibri" pitchFamily="34" charset="-120"/>
              </a:rPr>
              <a:t>Writes: the actual source code — the only command in this pipeline that produces working software</a:t>
            </a:r>
            <a:endParaRPr lang="en-US" sz="2200" dirty="0"/>
          </a:p>
        </p:txBody>
      </p:sp>
      <p:sp>
        <p:nvSpPr>
          <p:cNvPr id="8" name="Text 6"/>
          <p:cNvSpPr/>
          <p:nvPr/>
        </p:nvSpPr>
        <p:spPr>
          <a:xfrm>
            <a:off x="457200" y="3484499"/>
            <a:ext cx="9166225" cy="955866"/>
          </a:xfrm>
          <a:prstGeom prst="rect">
            <a:avLst/>
          </a:prstGeom>
          <a:noFill/>
          <a:ln/>
        </p:spPr>
        <p:txBody>
          <a:bodyPr wrap="square" rtlCol="0" anchor="ctr"/>
          <a:lstStyle/>
          <a:p>
            <a:pPr marL="254000" indent="-254000">
              <a:buSzPct val="100000"/>
              <a:buChar char="•"/>
            </a:pPr>
            <a:r>
              <a:rPr lang="en-US" sz="2200" dirty="0">
                <a:solidFill>
                  <a:srgbClr val="0C1B35"/>
                </a:solidFill>
                <a:latin typeface="Calibri" pitchFamily="34" charset="0"/>
                <a:ea typeface="Calibri" pitchFamily="34" charset="-122"/>
                <a:cs typeface="Calibri" pitchFamily="34" charset="-120"/>
              </a:rPr>
              <a:t>Executes tasks.md phase by phase, flipping each box from [ ] to [X] as the task completes</a:t>
            </a:r>
            <a:endParaRPr lang="en-US" sz="2200" dirty="0"/>
          </a:p>
        </p:txBody>
      </p:sp>
      <p:sp>
        <p:nvSpPr>
          <p:cNvPr id="9" name="Text 7"/>
          <p:cNvSpPr/>
          <p:nvPr/>
        </p:nvSpPr>
        <p:spPr>
          <a:xfrm>
            <a:off x="457200" y="4440365"/>
            <a:ext cx="9166225" cy="955866"/>
          </a:xfrm>
          <a:prstGeom prst="rect">
            <a:avLst/>
          </a:prstGeom>
          <a:noFill/>
          <a:ln/>
        </p:spPr>
        <p:txBody>
          <a:bodyPr wrap="square" rtlCol="0" anchor="ctr"/>
          <a:lstStyle/>
          <a:p>
            <a:pPr marL="254000" indent="-254000">
              <a:buSzPct val="100000"/>
              <a:buChar char="•"/>
            </a:pPr>
            <a:r>
              <a:rPr lang="en-US" sz="2200" dirty="0">
                <a:solidFill>
                  <a:srgbClr val="0C1B35"/>
                </a:solidFill>
                <a:latin typeface="Calibri" pitchFamily="34" charset="0"/>
                <a:ea typeface="Calibri" pitchFamily="34" charset="-122"/>
                <a:cs typeface="Calibri" pitchFamily="34" charset="-120"/>
              </a:rPr>
              <a:t>Why: there's almost nothing left to improvise at this point — every earlier command already decided what to build and why</a:t>
            </a:r>
            <a:endParaRPr lang="en-US" sz="2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0F6FF"/>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1D6FBC"/>
          </a:solidFill>
          <a:ln w="9525">
            <a:solidFill>
              <a:srgbClr val="1D6FB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WORKFLOW</a:t>
            </a:r>
            <a:endParaRPr lang="en-US" sz="1200" dirty="0"/>
          </a:p>
        </p:txBody>
      </p:sp>
      <p:sp>
        <p:nvSpPr>
          <p:cNvPr id="4" name="Text 2"/>
          <p:cNvSpPr/>
          <p:nvPr/>
        </p:nvSpPr>
        <p:spPr>
          <a:xfrm>
            <a:off x="457200" y="658368"/>
            <a:ext cx="9166225" cy="685800"/>
          </a:xfrm>
          <a:prstGeom prst="rect">
            <a:avLst/>
          </a:prstGeom>
          <a:noFill/>
          <a:ln/>
        </p:spPr>
        <p:txBody>
          <a:bodyPr wrap="square" rtlCol="0" anchor="ctr"/>
          <a:lstStyle/>
          <a:p>
            <a:pPr indent="0" marL="0">
              <a:buNone/>
            </a:pPr>
            <a:r>
              <a:rPr lang="en-US" sz="3000" b="1" dirty="0">
                <a:solidFill>
                  <a:srgbClr val="0C1B35"/>
                </a:solidFill>
                <a:latin typeface="Calibri" pitchFamily="34" charset="0"/>
                <a:ea typeface="Calibri" pitchFamily="34" charset="-122"/>
                <a:cs typeface="Calibri" pitchFamily="34" charset="-120"/>
              </a:rPr>
              <a:t>Key Concept: The Traceability Spine</a:t>
            </a:r>
            <a:endParaRPr lang="en-US" sz="3000" dirty="0"/>
          </a:p>
        </p:txBody>
      </p:sp>
      <p:sp>
        <p:nvSpPr>
          <p:cNvPr id="5" name="Shape 3"/>
          <p:cNvSpPr/>
          <p:nvPr/>
        </p:nvSpPr>
        <p:spPr>
          <a:xfrm>
            <a:off x="457200" y="1417320"/>
            <a:ext cx="9166225" cy="27432"/>
          </a:xfrm>
          <a:prstGeom prst="rect">
            <a:avLst/>
          </a:prstGeom>
          <a:solidFill>
            <a:srgbClr val="1D6FBC"/>
          </a:solidFill>
          <a:ln w="12700">
            <a:solidFill>
              <a:srgbClr val="1D6FBC"/>
            </a:solidFill>
            <a:prstDash val="solid"/>
          </a:ln>
        </p:spPr>
      </p:sp>
      <p:sp>
        <p:nvSpPr>
          <p:cNvPr id="6" name="Shape 4"/>
          <p:cNvSpPr/>
          <p:nvPr/>
        </p:nvSpPr>
        <p:spPr>
          <a:xfrm>
            <a:off x="457200" y="1572768"/>
            <a:ext cx="4423093" cy="3823462"/>
          </a:xfrm>
          <a:prstGeom prst="rect">
            <a:avLst/>
          </a:prstGeom>
          <a:solidFill>
            <a:srgbClr val="E6F0FA"/>
          </a:solidFill>
          <a:ln w="9525">
            <a:solidFill>
              <a:srgbClr val="1D6FBC"/>
            </a:solidFill>
            <a:prstDash val="solid"/>
          </a:ln>
        </p:spPr>
      </p:sp>
      <p:sp>
        <p:nvSpPr>
          <p:cNvPr id="7" name="Text 5"/>
          <p:cNvSpPr/>
          <p:nvPr/>
        </p:nvSpPr>
        <p:spPr>
          <a:xfrm>
            <a:off x="640080" y="1709928"/>
            <a:ext cx="4057332" cy="3549142"/>
          </a:xfrm>
          <a:prstGeom prst="rect">
            <a:avLst/>
          </a:prstGeom>
          <a:noFill/>
          <a:ln/>
        </p:spPr>
        <p:txBody>
          <a:bodyPr wrap="none" rtlCol="0" anchor="t"/>
          <a:lstStyle/>
          <a:p>
            <a:pPr indent="0" marL="0">
              <a:buNone/>
            </a:pPr>
            <a:r>
              <a:rPr lang="en-US" sz="1200" dirty="0">
                <a:solidFill>
                  <a:srgbClr val="1A365D"/>
                </a:solidFill>
                <a:latin typeface="Consolas" pitchFamily="34" charset="0"/>
                <a:ea typeface="Consolas" pitchFamily="34" charset="-122"/>
                <a:cs typeface="Consolas" pitchFamily="34" charset="-120"/>
              </a:rPr>
              <a:t>spec.md</a:t>
            </a:r>
            <a:endParaRPr lang="en-US" sz="1200" dirty="0"/>
          </a:p>
          <a:p>
            <a:pPr indent="0" marL="0">
              <a:buNone/>
            </a:pPr>
            <a:r>
              <a:rPr lang="en-US" sz="1200" dirty="0">
                <a:solidFill>
                  <a:srgbClr val="1A365D"/>
                </a:solidFill>
                <a:latin typeface="Consolas" pitchFamily="34" charset="0"/>
                <a:ea typeface="Consolas" pitchFamily="34" charset="-122"/>
                <a:cs typeface="Consolas" pitchFamily="34" charset="-120"/>
              </a:rPr>
              <a:t>FR-001: System MUST allow a user to</a:t>
            </a:r>
            <a:endParaRPr lang="en-US" sz="1200" dirty="0"/>
          </a:p>
          <a:p>
            <a:pPr indent="0" marL="0">
              <a:buNone/>
            </a:pPr>
            <a:r>
              <a:rPr lang="en-US" sz="1200" dirty="0">
                <a:solidFill>
                  <a:srgbClr val="1A365D"/>
                </a:solidFill>
                <a:latin typeface="Consolas" pitchFamily="34" charset="0"/>
                <a:ea typeface="Consolas" pitchFamily="34" charset="-122"/>
                <a:cs typeface="Consolas" pitchFamily="34" charset="-120"/>
              </a:rPr>
              <a:t>add a new task with a non-empty</a:t>
            </a:r>
            <a:endParaRPr lang="en-US" sz="1200" dirty="0"/>
          </a:p>
          <a:p>
            <a:pPr indent="0" marL="0">
              <a:buNone/>
            </a:pPr>
            <a:r>
              <a:rPr lang="en-US" sz="1200" dirty="0">
                <a:solidFill>
                  <a:srgbClr val="1A365D"/>
                </a:solidFill>
                <a:latin typeface="Consolas" pitchFamily="34" charset="0"/>
                <a:ea typeface="Consolas" pitchFamily="34" charset="-122"/>
                <a:cs typeface="Consolas" pitchFamily="34" charset="-120"/>
              </a:rPr>
              <a:t>description.</a:t>
            </a:r>
            <a:endParaRPr lang="en-US" sz="1200" dirty="0"/>
          </a:p>
          <a:p>
            <a:pPr indent="0" marL="0">
              <a:buNone/>
            </a:pPr>
            <a:endParaRPr lang="en-US" sz="1200" dirty="0"/>
          </a:p>
          <a:p>
            <a:pPr indent="0" marL="0">
              <a:buNone/>
            </a:pPr>
            <a:r>
              <a:rPr lang="en-US" sz="1200" dirty="0">
                <a:solidFill>
                  <a:srgbClr val="1A365D"/>
                </a:solidFill>
                <a:latin typeface="Consolas" pitchFamily="34" charset="0"/>
                <a:ea typeface="Consolas" pitchFamily="34" charset="-122"/>
                <a:cs typeface="Consolas" pitchFamily="34" charset="-120"/>
              </a:rPr>
              <a:t>tasks.md</a:t>
            </a:r>
            <a:endParaRPr lang="en-US" sz="1200" dirty="0"/>
          </a:p>
          <a:p>
            <a:pPr indent="0" marL="0">
              <a:buNone/>
            </a:pPr>
            <a:r>
              <a:rPr lang="en-US" sz="1200" dirty="0">
                <a:solidFill>
                  <a:srgbClr val="1A365D"/>
                </a:solidFill>
                <a:latin typeface="Consolas" pitchFamily="34" charset="0"/>
                <a:ea typeface="Consolas" pitchFamily="34" charset="-122"/>
                <a:cs typeface="Consolas" pitchFamily="34" charset="-120"/>
              </a:rPr>
              <a:t>T006 [US1] POST /tasks: reject 400</a:t>
            </a:r>
            <a:endParaRPr lang="en-US" sz="1200" dirty="0"/>
          </a:p>
          <a:p>
            <a:pPr indent="0" marL="0">
              <a:buNone/>
            </a:pPr>
            <a:r>
              <a:rPr lang="en-US" sz="1200" dirty="0">
                <a:solidFill>
                  <a:srgbClr val="1A365D"/>
                </a:solidFill>
                <a:latin typeface="Consolas" pitchFamily="34" charset="0"/>
                <a:ea typeface="Consolas" pitchFamily="34" charset="-122"/>
                <a:cs typeface="Consolas" pitchFamily="34" charset="-120"/>
              </a:rPr>
              <a:t>when description is missing/empty</a:t>
            </a:r>
            <a:endParaRPr lang="en-US" sz="1200" dirty="0"/>
          </a:p>
          <a:p>
            <a:pPr indent="0" marL="0">
              <a:buNone/>
            </a:pPr>
            <a:r>
              <a:rPr lang="en-US" sz="1200" dirty="0">
                <a:solidFill>
                  <a:srgbClr val="1A365D"/>
                </a:solidFill>
                <a:latin typeface="Consolas" pitchFamily="34" charset="0"/>
                <a:ea typeface="Consolas" pitchFamily="34" charset="-122"/>
                <a:cs typeface="Consolas" pitchFamily="34" charset="-120"/>
              </a:rPr>
              <a:t>(FR-001, FR-006)</a:t>
            </a:r>
            <a:endParaRPr lang="en-US" sz="1200" dirty="0"/>
          </a:p>
          <a:p>
            <a:pPr indent="0" marL="0">
              <a:buNone/>
            </a:pPr>
            <a:endParaRPr lang="en-US" sz="1200" dirty="0"/>
          </a:p>
          <a:p>
            <a:pPr indent="0" marL="0">
              <a:buNone/>
            </a:pPr>
            <a:r>
              <a:rPr lang="en-US" sz="1200" dirty="0">
                <a:solidFill>
                  <a:srgbClr val="1A365D"/>
                </a:solidFill>
                <a:latin typeface="Consolas" pitchFamily="34" charset="0"/>
                <a:ea typeface="Consolas" pitchFamily="34" charset="-122"/>
                <a:cs typeface="Consolas" pitchFamily="34" charset="-120"/>
              </a:rPr>
              <a:t>routes/tasks.js</a:t>
            </a:r>
            <a:endParaRPr lang="en-US" sz="1200" dirty="0"/>
          </a:p>
          <a:p>
            <a:pPr indent="0" marL="0">
              <a:buNone/>
            </a:pPr>
            <a:r>
              <a:rPr lang="en-US" sz="1200" dirty="0">
                <a:solidFill>
                  <a:srgbClr val="1A365D"/>
                </a:solidFill>
                <a:latin typeface="Consolas" pitchFamily="34" charset="0"/>
                <a:ea typeface="Consolas" pitchFamily="34" charset="-122"/>
                <a:cs typeface="Consolas" pitchFamily="34" charset="-120"/>
              </a:rPr>
              <a:t>// FR-001, FR-002, FR-006</a:t>
            </a:r>
            <a:endParaRPr lang="en-US" sz="1200" dirty="0"/>
          </a:p>
          <a:p>
            <a:pPr indent="0" marL="0">
              <a:buNone/>
            </a:pPr>
            <a:r>
              <a:rPr lang="en-US" sz="1200" dirty="0">
                <a:solidFill>
                  <a:srgbClr val="1A365D"/>
                </a:solidFill>
                <a:latin typeface="Consolas" pitchFamily="34" charset="0"/>
                <a:ea typeface="Consolas" pitchFamily="34" charset="-122"/>
                <a:cs typeface="Consolas" pitchFamily="34" charset="-120"/>
              </a:rPr>
              <a:t>router.post('/', (req, res) =&gt; {</a:t>
            </a:r>
            <a:endParaRPr lang="en-US" sz="1200" dirty="0"/>
          </a:p>
          <a:p>
            <a:pPr indent="0" marL="0">
              <a:buNone/>
            </a:pPr>
            <a:r>
              <a:rPr lang="en-US" sz="1200" dirty="0">
                <a:solidFill>
                  <a:srgbClr val="1A365D"/>
                </a:solidFill>
                <a:latin typeface="Consolas" pitchFamily="34" charset="0"/>
                <a:ea typeface="Consolas" pitchFamily="34" charset="-122"/>
                <a:cs typeface="Consolas" pitchFamily="34" charset="-120"/>
              </a:rPr>
              <a:t>  if (!description.trim())</a:t>
            </a:r>
            <a:endParaRPr lang="en-US" sz="1200" dirty="0"/>
          </a:p>
          <a:p>
            <a:pPr indent="0" marL="0">
              <a:buNone/>
            </a:pPr>
            <a:r>
              <a:rPr lang="en-US" sz="1200" dirty="0">
                <a:solidFill>
                  <a:srgbClr val="1A365D"/>
                </a:solidFill>
                <a:latin typeface="Consolas" pitchFamily="34" charset="0"/>
                <a:ea typeface="Consolas" pitchFamily="34" charset="-122"/>
                <a:cs typeface="Consolas" pitchFamily="34" charset="-120"/>
              </a:rPr>
              <a:t>    return res.status(400)...</a:t>
            </a:r>
            <a:endParaRPr lang="en-US" sz="1200" dirty="0"/>
          </a:p>
        </p:txBody>
      </p:sp>
      <p:sp>
        <p:nvSpPr>
          <p:cNvPr id="8" name="Text 6"/>
          <p:cNvSpPr/>
          <p:nvPr/>
        </p:nvSpPr>
        <p:spPr>
          <a:xfrm>
            <a:off x="5200333" y="1572768"/>
            <a:ext cx="4423093" cy="955866"/>
          </a:xfrm>
          <a:prstGeom prst="rect">
            <a:avLst/>
          </a:prstGeom>
          <a:noFill/>
          <a:ln/>
        </p:spPr>
        <p:txBody>
          <a:bodyPr wrap="square" rtlCol="0" anchor="ctr"/>
          <a:lstStyle/>
          <a:p>
            <a:pPr marL="254000" indent="-254000">
              <a:buSzPct val="100000"/>
              <a:buChar char="•"/>
            </a:pPr>
            <a:r>
              <a:rPr lang="en-US" sz="1700" dirty="0">
                <a:solidFill>
                  <a:srgbClr val="0C1B35"/>
                </a:solidFill>
                <a:latin typeface="Calibri" pitchFamily="34" charset="0"/>
                <a:ea typeface="Calibri" pitchFamily="34" charset="-122"/>
                <a:cs typeface="Calibri" pitchFamily="34" charset="-120"/>
              </a:rPr>
              <a:t>FR-001 is born in spec.md as one plain-English rule — nothing about HTTP or JavaScript yet</a:t>
            </a:r>
            <a:endParaRPr lang="en-US" sz="1700" dirty="0"/>
          </a:p>
        </p:txBody>
      </p:sp>
      <p:sp>
        <p:nvSpPr>
          <p:cNvPr id="9" name="Text 7"/>
          <p:cNvSpPr/>
          <p:nvPr/>
        </p:nvSpPr>
        <p:spPr>
          <a:xfrm>
            <a:off x="5200333" y="2528634"/>
            <a:ext cx="4423093" cy="955866"/>
          </a:xfrm>
          <a:prstGeom prst="rect">
            <a:avLst/>
          </a:prstGeom>
          <a:noFill/>
          <a:ln/>
        </p:spPr>
        <p:txBody>
          <a:bodyPr wrap="square" rtlCol="0" anchor="ctr"/>
          <a:lstStyle/>
          <a:p>
            <a:pPr marL="254000" indent="-254000">
              <a:buSzPct val="100000"/>
              <a:buChar char="•"/>
            </a:pPr>
            <a:r>
              <a:rPr lang="en-US" sz="1700" dirty="0">
                <a:solidFill>
                  <a:srgbClr val="0C1B35"/>
                </a:solidFill>
                <a:latin typeface="Calibri" pitchFamily="34" charset="0"/>
                <a:ea typeface="Calibri" pitchFamily="34" charset="-122"/>
                <a:cs typeface="Calibri" pitchFamily="34" charset="-120"/>
              </a:rPr>
              <a:t>tasks.md turns it into an actual build step, still citing FR-001 by name</a:t>
            </a:r>
            <a:endParaRPr lang="en-US" sz="1700" dirty="0"/>
          </a:p>
        </p:txBody>
      </p:sp>
      <p:sp>
        <p:nvSpPr>
          <p:cNvPr id="10" name="Text 8"/>
          <p:cNvSpPr/>
          <p:nvPr/>
        </p:nvSpPr>
        <p:spPr>
          <a:xfrm>
            <a:off x="5200333" y="3484499"/>
            <a:ext cx="4423093" cy="955866"/>
          </a:xfrm>
          <a:prstGeom prst="rect">
            <a:avLst/>
          </a:prstGeom>
          <a:noFill/>
          <a:ln/>
        </p:spPr>
        <p:txBody>
          <a:bodyPr wrap="square" rtlCol="0" anchor="ctr"/>
          <a:lstStyle/>
          <a:p>
            <a:pPr marL="254000" indent="-254000">
              <a:buSzPct val="100000"/>
              <a:buChar char="•"/>
            </a:pPr>
            <a:r>
              <a:rPr lang="en-US" sz="1700" dirty="0">
                <a:solidFill>
                  <a:srgbClr val="0C1B35"/>
                </a:solidFill>
                <a:latin typeface="Calibri" pitchFamily="34" charset="0"/>
                <a:ea typeface="Calibri" pitchFamily="34" charset="-122"/>
                <a:cs typeface="Calibri" pitchFamily="34" charset="-120"/>
              </a:rPr>
              <a:t>The generated code carries the same FR-001 as a comment, directly above the code that enforces it</a:t>
            </a:r>
            <a:endParaRPr lang="en-US" sz="1700" dirty="0"/>
          </a:p>
        </p:txBody>
      </p:sp>
      <p:sp>
        <p:nvSpPr>
          <p:cNvPr id="11" name="Text 9"/>
          <p:cNvSpPr/>
          <p:nvPr/>
        </p:nvSpPr>
        <p:spPr>
          <a:xfrm>
            <a:off x="5200333" y="4440365"/>
            <a:ext cx="4423093" cy="955866"/>
          </a:xfrm>
          <a:prstGeom prst="rect">
            <a:avLst/>
          </a:prstGeom>
          <a:noFill/>
          <a:ln/>
        </p:spPr>
        <p:txBody>
          <a:bodyPr wrap="square" rtlCol="0" anchor="ctr"/>
          <a:lstStyle/>
          <a:p>
            <a:pPr marL="254000" indent="-254000">
              <a:buSzPct val="100000"/>
              <a:buChar char="•"/>
            </a:pPr>
            <a:r>
              <a:rPr lang="en-US" sz="1700" dirty="0">
                <a:solidFill>
                  <a:srgbClr val="0C1B35"/>
                </a:solidFill>
                <a:latin typeface="Calibri" pitchFamily="34" charset="0"/>
                <a:ea typeface="Calibri" pitchFamily="34" charset="-122"/>
                <a:cs typeface="Calibri" pitchFamily="34" charset="-120"/>
              </a:rPr>
              <a:t>Follow the ID and you can point at the exact line of running code a one-sentence requirement became</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0F6FF"/>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1D6FBC"/>
          </a:solidFill>
          <a:ln w="9525">
            <a:solidFill>
              <a:srgbClr val="1D6FB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WORKFLOW</a:t>
            </a:r>
            <a:endParaRPr lang="en-US" sz="1200" dirty="0"/>
          </a:p>
        </p:txBody>
      </p:sp>
      <p:sp>
        <p:nvSpPr>
          <p:cNvPr id="4" name="Text 2"/>
          <p:cNvSpPr/>
          <p:nvPr/>
        </p:nvSpPr>
        <p:spPr>
          <a:xfrm>
            <a:off x="457200" y="658368"/>
            <a:ext cx="9166225" cy="685800"/>
          </a:xfrm>
          <a:prstGeom prst="rect">
            <a:avLst/>
          </a:prstGeom>
          <a:noFill/>
          <a:ln/>
        </p:spPr>
        <p:txBody>
          <a:bodyPr wrap="square" rtlCol="0" anchor="ctr"/>
          <a:lstStyle/>
          <a:p>
            <a:pPr indent="0" marL="0">
              <a:buNone/>
            </a:pPr>
            <a:r>
              <a:rPr lang="en-US" sz="3000" b="1" dirty="0">
                <a:solidFill>
                  <a:srgbClr val="0C1B35"/>
                </a:solidFill>
                <a:latin typeface="Calibri" pitchFamily="34" charset="0"/>
                <a:ea typeface="Calibri" pitchFamily="34" charset="-122"/>
                <a:cs typeface="Calibri" pitchFamily="34" charset="-120"/>
              </a:rPr>
              <a:t>Why This Matters: Closing the Loop</a:t>
            </a:r>
            <a:endParaRPr lang="en-US" sz="3000" dirty="0"/>
          </a:p>
        </p:txBody>
      </p:sp>
      <p:sp>
        <p:nvSpPr>
          <p:cNvPr id="5" name="Shape 3"/>
          <p:cNvSpPr/>
          <p:nvPr/>
        </p:nvSpPr>
        <p:spPr>
          <a:xfrm>
            <a:off x="457200" y="1417320"/>
            <a:ext cx="9166225" cy="27432"/>
          </a:xfrm>
          <a:prstGeom prst="rect">
            <a:avLst/>
          </a:prstGeom>
          <a:solidFill>
            <a:srgbClr val="1D6FBC"/>
          </a:solidFill>
          <a:ln w="12700">
            <a:solidFill>
              <a:srgbClr val="1D6FBC"/>
            </a:solidFill>
            <a:prstDash val="solid"/>
          </a:ln>
        </p:spPr>
      </p:sp>
      <p:sp>
        <p:nvSpPr>
          <p:cNvPr id="6" name="Shape 4"/>
          <p:cNvSpPr/>
          <p:nvPr/>
        </p:nvSpPr>
        <p:spPr>
          <a:xfrm>
            <a:off x="457200" y="1847088"/>
            <a:ext cx="9166225" cy="3274822"/>
          </a:xfrm>
          <a:prstGeom prst="rect">
            <a:avLst/>
          </a:prstGeom>
          <a:solidFill>
            <a:srgbClr val="DDE8F5"/>
          </a:solidFill>
          <a:ln w="25400">
            <a:solidFill>
              <a:srgbClr val="1D6FBC"/>
            </a:solidFill>
            <a:prstDash val="solid"/>
          </a:ln>
        </p:spPr>
      </p:sp>
      <p:sp>
        <p:nvSpPr>
          <p:cNvPr id="7" name="Shape 5"/>
          <p:cNvSpPr/>
          <p:nvPr/>
        </p:nvSpPr>
        <p:spPr>
          <a:xfrm>
            <a:off x="457200" y="1847088"/>
            <a:ext cx="73152" cy="3274822"/>
          </a:xfrm>
          <a:prstGeom prst="rect">
            <a:avLst/>
          </a:prstGeom>
          <a:solidFill>
            <a:srgbClr val="1D6FBC"/>
          </a:solidFill>
          <a:ln w="12700">
            <a:solidFill>
              <a:srgbClr val="1D6FBC"/>
            </a:solidFill>
            <a:prstDash val="solid"/>
          </a:ln>
        </p:spPr>
      </p:sp>
      <p:sp>
        <p:nvSpPr>
          <p:cNvPr id="8" name="Text 6"/>
          <p:cNvSpPr/>
          <p:nvPr/>
        </p:nvSpPr>
        <p:spPr>
          <a:xfrm>
            <a:off x="685800" y="1984248"/>
            <a:ext cx="8846185" cy="3000502"/>
          </a:xfrm>
          <a:prstGeom prst="rect">
            <a:avLst/>
          </a:prstGeom>
          <a:noFill/>
          <a:ln/>
        </p:spPr>
        <p:txBody>
          <a:bodyPr wrap="square" rtlCol="0" anchor="ctr"/>
          <a:lstStyle/>
          <a:p>
            <a:pPr indent="0" marL="0">
              <a:buNone/>
            </a:pPr>
            <a:r>
              <a:rPr lang="en-US" sz="1600" b="1" dirty="0">
                <a:solidFill>
                  <a:srgbClr val="0C1B35"/>
                </a:solidFill>
                <a:latin typeface="Calibri" pitchFamily="34" charset="0"/>
                <a:ea typeface="Calibri" pitchFamily="34" charset="-122"/>
                <a:cs typeface="Calibri" pitchFamily="34" charset="-120"/>
              </a:rPr>
              <a:t>The opening problem: nobody could check why the code was built this way — nothing was written down to check it against.</a:t>
            </a:r>
            <a:endParaRPr lang="en-US" sz="1600" dirty="0"/>
          </a:p>
          <a:p>
            <a:pPr indent="0" marL="0">
              <a:buNone/>
            </a:pPr>
            <a:r>
              <a:rPr lang="en-US" sz="1600" dirty="0">
                <a:solidFill>
                  <a:srgbClr val="0C1B35"/>
                </a:solidFill>
                <a:latin typeface="Calibri" pitchFamily="34" charset="0"/>
                <a:ea typeface="Calibri" pitchFamily="34" charset="-122"/>
                <a:cs typeface="Calibri" pitchFamily="34" charset="-120"/>
              </a:rPr>
              <a:t>An FR-### ID isn't documentation — it's a locator. grep -rn "FR-" src/ points you at the exact line responsible for a requirement, instead of leaving you to search chat scrollback.</a:t>
            </a:r>
            <a:endParaRPr lang="en-US" sz="1600" dirty="0"/>
          </a:p>
          <a:p>
            <a:pPr indent="0" marL="0">
              <a:buNone/>
            </a:pPr>
            <a:r>
              <a:rPr lang="en-US" sz="1600" dirty="0">
                <a:solidFill>
                  <a:srgbClr val="0C1B35"/>
                </a:solidFill>
                <a:latin typeface="Calibri" pitchFamily="34" charset="0"/>
                <a:ea typeface="Calibri" pitchFamily="34" charset="-122"/>
                <a:cs typeface="Calibri" pitchFamily="34" charset="-120"/>
              </a:rPr>
              <a:t>Concretely: FR-001 promised a non-empty description is required — the check sits right under the // FR-001 comment in routes/tasks.js. Delete the check but keep the comment, and grep still finds "FR-001" — it can't tell the promise is broken. What changed is that anyone following the ID now lands directly on the missing check, instead of having nowhere to even look. Nothing automated verifies it; the ID just makes verification a one-line lookup instead of a guess.</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0F6FF"/>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1D6FBC"/>
          </a:solidFill>
          <a:ln w="9525">
            <a:solidFill>
              <a:srgbClr val="1D6FB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WORKFLOW</a:t>
            </a:r>
            <a:endParaRPr lang="en-US" sz="1200" dirty="0"/>
          </a:p>
        </p:txBody>
      </p:sp>
      <p:sp>
        <p:nvSpPr>
          <p:cNvPr id="4" name="Text 2"/>
          <p:cNvSpPr/>
          <p:nvPr/>
        </p:nvSpPr>
        <p:spPr>
          <a:xfrm>
            <a:off x="457200" y="658368"/>
            <a:ext cx="9166225" cy="685800"/>
          </a:xfrm>
          <a:prstGeom prst="rect">
            <a:avLst/>
          </a:prstGeom>
          <a:noFill/>
          <a:ln/>
        </p:spPr>
        <p:txBody>
          <a:bodyPr wrap="square" rtlCol="0" anchor="ctr"/>
          <a:lstStyle/>
          <a:p>
            <a:pPr indent="0" marL="0">
              <a:buNone/>
            </a:pPr>
            <a:r>
              <a:rPr lang="en-US" sz="3000" b="1" dirty="0">
                <a:solidFill>
                  <a:srgbClr val="0C1B35"/>
                </a:solidFill>
                <a:latin typeface="Calibri" pitchFamily="34" charset="0"/>
                <a:ea typeface="Calibri" pitchFamily="34" charset="-122"/>
                <a:cs typeface="Calibri" pitchFamily="34" charset="-120"/>
              </a:rPr>
              <a:t>Spec-Driven Development vs. Vibe-Coding</a:t>
            </a:r>
            <a:endParaRPr lang="en-US" sz="3000" dirty="0"/>
          </a:p>
        </p:txBody>
      </p:sp>
      <p:sp>
        <p:nvSpPr>
          <p:cNvPr id="5" name="Shape 3"/>
          <p:cNvSpPr/>
          <p:nvPr/>
        </p:nvSpPr>
        <p:spPr>
          <a:xfrm>
            <a:off x="457200" y="1417320"/>
            <a:ext cx="9166225" cy="27432"/>
          </a:xfrm>
          <a:prstGeom prst="rect">
            <a:avLst/>
          </a:prstGeom>
          <a:solidFill>
            <a:srgbClr val="1D6FBC"/>
          </a:solidFill>
          <a:ln w="12700">
            <a:solidFill>
              <a:srgbClr val="1D6FBC"/>
            </a:solidFill>
            <a:prstDash val="solid"/>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572768"/>
          <a:ext cx="9166225" cy="914400"/>
        </p:xfrm>
        <a:graphic>
          <a:graphicData uri="http://schemas.openxmlformats.org/drawingml/2006/table">
            <a:tbl>
              <a:tblPr/>
              <a:tblGrid>
                <a:gridCol w="1833245"/>
                <a:gridCol w="3666490"/>
                <a:gridCol w="3666490"/>
              </a:tblGrid>
              <a:tr h="637244">
                <a:tc>
                  <a:txBody>
                    <a:bodyPr/>
                    <a:lstStyle/>
                    <a:p>
                      <a:pPr algn="l" indent="0" marL="0">
                        <a:buNone/>
                      </a:pPr>
                      <a:r>
                        <a:rPr lang="en-US" sz="1800" b="1" dirty="0">
                          <a:solidFill>
                            <a:srgbClr val="0C1B35"/>
                          </a:solidFill>
                          <a:latin typeface="Calibri" pitchFamily="34" charset="0"/>
                          <a:ea typeface="Calibri" pitchFamily="34" charset="-122"/>
                          <a:cs typeface="Calibri" pitchFamily="34" charset="-120"/>
                        </a:rPr>
                        <a:t>Dimension</a:t>
                      </a:r>
                      <a:endParaRPr lang="en-US" sz="18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DDE8F5"/>
                    </a:solidFill>
                  </a:tcPr>
                </a:tc>
                <a:tc>
                  <a:txBody>
                    <a:bodyPr/>
                    <a:lstStyle/>
                    <a:p>
                      <a:pPr algn="l" indent="0" marL="0">
                        <a:buNone/>
                      </a:pPr>
                      <a:r>
                        <a:rPr lang="en-US" sz="1800" b="1" dirty="0">
                          <a:solidFill>
                            <a:srgbClr val="0C1B35"/>
                          </a:solidFill>
                          <a:latin typeface="Calibri" pitchFamily="34" charset="0"/>
                          <a:ea typeface="Calibri" pitchFamily="34" charset="-122"/>
                          <a:cs typeface="Calibri" pitchFamily="34" charset="-120"/>
                        </a:rPr>
                        <a:t>Vibe-Coding</a:t>
                      </a:r>
                      <a:endParaRPr lang="en-US" sz="18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DDE8F5"/>
                    </a:solidFill>
                  </a:tcPr>
                </a:tc>
                <a:tc>
                  <a:txBody>
                    <a:bodyPr/>
                    <a:lstStyle/>
                    <a:p>
                      <a:pPr algn="l" indent="0" marL="0">
                        <a:buNone/>
                      </a:pPr>
                      <a:r>
                        <a:rPr lang="en-US" sz="1800" b="1" dirty="0">
                          <a:solidFill>
                            <a:srgbClr val="0C1B35"/>
                          </a:solidFill>
                          <a:latin typeface="Calibri" pitchFamily="34" charset="0"/>
                          <a:ea typeface="Calibri" pitchFamily="34" charset="-122"/>
                          <a:cs typeface="Calibri" pitchFamily="34" charset="-120"/>
                        </a:rPr>
                        <a:t>Spec-Driven Development</a:t>
                      </a:r>
                      <a:endParaRPr lang="en-US" sz="18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DDE8F5"/>
                    </a:solidFill>
                  </a:tcPr>
                </a:tc>
              </a:tr>
              <a:tr h="637244">
                <a:tc>
                  <a:txBody>
                    <a:bodyPr/>
                    <a:lstStyle/>
                    <a:p>
                      <a:pPr algn="l" indent="0" marL="0">
                        <a:buNone/>
                      </a:pPr>
                      <a:r>
                        <a:rPr lang="en-US" sz="1700" b="1" dirty="0">
                          <a:solidFill>
                            <a:srgbClr val="0C1B35"/>
                          </a:solidFill>
                          <a:latin typeface="Calibri" pitchFamily="34" charset="0"/>
                          <a:ea typeface="Calibri" pitchFamily="34" charset="-122"/>
                          <a:cs typeface="Calibri" pitchFamily="34" charset="-120"/>
                        </a:rPr>
                        <a:t>Speed to first line of code</a:t>
                      </a:r>
                      <a:endParaRPr lang="en-US" sz="17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F0F6FF"/>
                    </a:solidFill>
                  </a:tcPr>
                </a:tc>
                <a:tc>
                  <a:txBody>
                    <a:bodyPr/>
                    <a:lstStyle/>
                    <a:p>
                      <a:pPr algn="l" indent="0" marL="0">
                        <a:buNone/>
                      </a:pPr>
                      <a:r>
                        <a:rPr lang="en-US" sz="1700" dirty="0">
                          <a:solidFill>
                            <a:srgbClr val="0C1B35"/>
                          </a:solidFill>
                          <a:latin typeface="Calibri" pitchFamily="34" charset="0"/>
                          <a:ea typeface="Calibri" pitchFamily="34" charset="-122"/>
                          <a:cs typeface="Calibri" pitchFamily="34" charset="-120"/>
                        </a:rPr>
                        <a:t>Fastest — one prompt</a:t>
                      </a:r>
                      <a:endParaRPr lang="en-US" sz="17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F0F6FF"/>
                    </a:solidFill>
                  </a:tcPr>
                </a:tc>
                <a:tc>
                  <a:txBody>
                    <a:bodyPr/>
                    <a:lstStyle/>
                    <a:p>
                      <a:pPr algn="l" indent="0" marL="0">
                        <a:buNone/>
                      </a:pPr>
                      <a:r>
                        <a:rPr lang="en-US" sz="1700" dirty="0">
                          <a:solidFill>
                            <a:srgbClr val="0C1B35"/>
                          </a:solidFill>
                          <a:latin typeface="Calibri" pitchFamily="34" charset="0"/>
                          <a:ea typeface="Calibri" pitchFamily="34" charset="-122"/>
                          <a:cs typeface="Calibri" pitchFamily="34" charset="-120"/>
                        </a:rPr>
                        <a:t>Slower — four artifacts come first</a:t>
                      </a:r>
                      <a:endParaRPr lang="en-US" sz="17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F0F6FF"/>
                    </a:solidFill>
                  </a:tcPr>
                </a:tc>
              </a:tr>
              <a:tr h="637244">
                <a:tc>
                  <a:txBody>
                    <a:bodyPr/>
                    <a:lstStyle/>
                    <a:p>
                      <a:pPr algn="l" indent="0" marL="0">
                        <a:buNone/>
                      </a:pPr>
                      <a:r>
                        <a:rPr lang="en-US" sz="1700" b="1" dirty="0">
                          <a:solidFill>
                            <a:srgbClr val="0C1B35"/>
                          </a:solidFill>
                          <a:latin typeface="Calibri" pitchFamily="34" charset="0"/>
                          <a:ea typeface="Calibri" pitchFamily="34" charset="-122"/>
                          <a:cs typeface="Calibri" pitchFamily="34" charset="-120"/>
                        </a:rPr>
                        <a:t>Traceability</a:t>
                      </a:r>
                      <a:endParaRPr lang="en-US" sz="17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DDE8F5"/>
                    </a:solidFill>
                  </a:tcPr>
                </a:tc>
                <a:tc>
                  <a:txBody>
                    <a:bodyPr/>
                    <a:lstStyle/>
                    <a:p>
                      <a:pPr algn="l" indent="0" marL="0">
                        <a:buNone/>
                      </a:pPr>
                      <a:r>
                        <a:rPr lang="en-US" sz="1700" dirty="0">
                          <a:solidFill>
                            <a:srgbClr val="0C1B35"/>
                          </a:solidFill>
                          <a:latin typeface="Calibri" pitchFamily="34" charset="0"/>
                          <a:ea typeface="Calibri" pitchFamily="34" charset="-122"/>
                          <a:cs typeface="Calibri" pitchFamily="34" charset="-120"/>
                        </a:rPr>
                        <a:t>None — decisions live in chat scrollback</a:t>
                      </a:r>
                      <a:endParaRPr lang="en-US" sz="17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DDE8F5"/>
                    </a:solidFill>
                  </a:tcPr>
                </a:tc>
                <a:tc>
                  <a:txBody>
                    <a:bodyPr/>
                    <a:lstStyle/>
                    <a:p>
                      <a:pPr algn="l" indent="0" marL="0">
                        <a:buNone/>
                      </a:pPr>
                      <a:r>
                        <a:rPr lang="en-US" sz="1700" dirty="0">
                          <a:solidFill>
                            <a:srgbClr val="0C1B35"/>
                          </a:solidFill>
                          <a:latin typeface="Calibri" pitchFamily="34" charset="0"/>
                          <a:ea typeface="Calibri" pitchFamily="34" charset="-122"/>
                          <a:cs typeface="Calibri" pitchFamily="34" charset="-120"/>
                        </a:rPr>
                        <a:t>Every requirement carries an FR-### ID into the code</a:t>
                      </a:r>
                      <a:endParaRPr lang="en-US" sz="17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DDE8F5"/>
                    </a:solidFill>
                  </a:tcPr>
                </a:tc>
              </a:tr>
              <a:tr h="637244">
                <a:tc>
                  <a:txBody>
                    <a:bodyPr/>
                    <a:lstStyle/>
                    <a:p>
                      <a:pPr algn="l" indent="0" marL="0">
                        <a:buNone/>
                      </a:pPr>
                      <a:r>
                        <a:rPr lang="en-US" sz="1700" b="1" dirty="0">
                          <a:solidFill>
                            <a:srgbClr val="0C1B35"/>
                          </a:solidFill>
                          <a:latin typeface="Calibri" pitchFamily="34" charset="0"/>
                          <a:ea typeface="Calibri" pitchFamily="34" charset="-122"/>
                          <a:cs typeface="Calibri" pitchFamily="34" charset="-120"/>
                        </a:rPr>
                        <a:t>Team scale</a:t>
                      </a:r>
                      <a:endParaRPr lang="en-US" sz="17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F0F6FF"/>
                    </a:solidFill>
                  </a:tcPr>
                </a:tc>
                <a:tc>
                  <a:txBody>
                    <a:bodyPr/>
                    <a:lstStyle/>
                    <a:p>
                      <a:pPr algn="l" indent="0" marL="0">
                        <a:buNone/>
                      </a:pPr>
                      <a:r>
                        <a:rPr lang="en-US" sz="1700" dirty="0">
                          <a:solidFill>
                            <a:srgbClr val="0C1B35"/>
                          </a:solidFill>
                          <a:latin typeface="Calibri" pitchFamily="34" charset="0"/>
                          <a:ea typeface="Calibri" pitchFamily="34" charset="-122"/>
                          <a:cs typeface="Calibri" pitchFamily="34" charset="-120"/>
                        </a:rPr>
                        <a:t>Breaks down fast — every session reinvents assumptions</a:t>
                      </a:r>
                      <a:endParaRPr lang="en-US" sz="17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F0F6FF"/>
                    </a:solidFill>
                  </a:tcPr>
                </a:tc>
                <a:tc>
                  <a:txBody>
                    <a:bodyPr/>
                    <a:lstStyle/>
                    <a:p>
                      <a:pPr algn="l" indent="0" marL="0">
                        <a:buNone/>
                      </a:pPr>
                      <a:r>
                        <a:rPr lang="en-US" sz="1700" dirty="0">
                          <a:solidFill>
                            <a:srgbClr val="0C1B35"/>
                          </a:solidFill>
                          <a:latin typeface="Calibri" pitchFamily="34" charset="0"/>
                          <a:ea typeface="Calibri" pitchFamily="34" charset="-122"/>
                          <a:cs typeface="Calibri" pitchFamily="34" charset="-120"/>
                        </a:rPr>
                        <a:t>Shared constitution + spec are the source of truth</a:t>
                      </a:r>
                      <a:endParaRPr lang="en-US" sz="17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F0F6FF"/>
                    </a:solidFill>
                  </a:tcPr>
                </a:tc>
              </a:tr>
              <a:tr h="637244">
                <a:tc>
                  <a:txBody>
                    <a:bodyPr/>
                    <a:lstStyle/>
                    <a:p>
                      <a:pPr algn="l" indent="0" marL="0">
                        <a:buNone/>
                      </a:pPr>
                      <a:r>
                        <a:rPr lang="en-US" sz="1700" b="1" dirty="0">
                          <a:solidFill>
                            <a:srgbClr val="0C1B35"/>
                          </a:solidFill>
                          <a:latin typeface="Calibri" pitchFamily="34" charset="0"/>
                          <a:ea typeface="Calibri" pitchFamily="34" charset="-122"/>
                          <a:cs typeface="Calibri" pitchFamily="34" charset="-120"/>
                        </a:rPr>
                        <a:t>Revisability</a:t>
                      </a:r>
                      <a:endParaRPr lang="en-US" sz="17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DDE8F5"/>
                    </a:solidFill>
                  </a:tcPr>
                </a:tc>
                <a:tc>
                  <a:txBody>
                    <a:bodyPr/>
                    <a:lstStyle/>
                    <a:p>
                      <a:pPr algn="l" indent="0" marL="0">
                        <a:buNone/>
                      </a:pPr>
                      <a:r>
                        <a:rPr lang="en-US" sz="1700" dirty="0">
                          <a:solidFill>
                            <a:srgbClr val="0C1B35"/>
                          </a:solidFill>
                          <a:latin typeface="Calibri" pitchFamily="34" charset="0"/>
                          <a:ea typeface="Calibri" pitchFamily="34" charset="-122"/>
                          <a:cs typeface="Calibri" pitchFamily="34" charset="-120"/>
                        </a:rPr>
                        <a:t>Re-prompt and hope it's consistent this time</a:t>
                      </a:r>
                      <a:endParaRPr lang="en-US" sz="17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DDE8F5"/>
                    </a:solidFill>
                  </a:tcPr>
                </a:tc>
                <a:tc>
                  <a:txBody>
                    <a:bodyPr/>
                    <a:lstStyle/>
                    <a:p>
                      <a:pPr algn="l" indent="0" marL="0">
                        <a:buNone/>
                      </a:pPr>
                      <a:r>
                        <a:rPr lang="en-US" sz="1700" dirty="0">
                          <a:solidFill>
                            <a:srgbClr val="0C1B35"/>
                          </a:solidFill>
                          <a:latin typeface="Calibri" pitchFamily="34" charset="0"/>
                          <a:ea typeface="Calibri" pitchFamily="34" charset="-122"/>
                          <a:cs typeface="Calibri" pitchFamily="34" charset="-120"/>
                        </a:rPr>
                        <a:t>Amend the constitution, re-run the plan's gate</a:t>
                      </a:r>
                      <a:endParaRPr lang="en-US" sz="17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DDE8F5"/>
                    </a:solidFill>
                  </a:tcPr>
                </a:tc>
              </a:tr>
              <a:tr h="637244">
                <a:tc>
                  <a:txBody>
                    <a:bodyPr/>
                    <a:lstStyle/>
                    <a:p>
                      <a:pPr algn="l" indent="0" marL="0">
                        <a:buNone/>
                      </a:pPr>
                      <a:r>
                        <a:rPr lang="en-US" sz="1700" b="1" dirty="0">
                          <a:solidFill>
                            <a:srgbClr val="0C1B35"/>
                          </a:solidFill>
                          <a:latin typeface="Calibri" pitchFamily="34" charset="0"/>
                          <a:ea typeface="Calibri" pitchFamily="34" charset="-122"/>
                          <a:cs typeface="Calibri" pitchFamily="34" charset="-120"/>
                        </a:rPr>
                        <a:t>Best for</a:t>
                      </a:r>
                      <a:endParaRPr lang="en-US" sz="17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F0F6FF"/>
                    </a:solidFill>
                  </a:tcPr>
                </a:tc>
                <a:tc>
                  <a:txBody>
                    <a:bodyPr/>
                    <a:lstStyle/>
                    <a:p>
                      <a:pPr algn="l" indent="0" marL="0">
                        <a:buNone/>
                      </a:pPr>
                      <a:r>
                        <a:rPr lang="en-US" sz="1700" dirty="0">
                          <a:solidFill>
                            <a:srgbClr val="0C1B35"/>
                          </a:solidFill>
                          <a:latin typeface="Calibri" pitchFamily="34" charset="0"/>
                          <a:ea typeface="Calibri" pitchFamily="34" charset="-122"/>
                          <a:cs typeface="Calibri" pitchFamily="34" charset="-120"/>
                        </a:rPr>
                        <a:t>Spikes, exploration, throwaway scripts</a:t>
                      </a:r>
                      <a:endParaRPr lang="en-US" sz="17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F0F6FF"/>
                    </a:solidFill>
                  </a:tcPr>
                </a:tc>
                <a:tc>
                  <a:txBody>
                    <a:bodyPr/>
                    <a:lstStyle/>
                    <a:p>
                      <a:pPr algn="l" indent="0" marL="0">
                        <a:buNone/>
                      </a:pPr>
                      <a:r>
                        <a:rPr lang="en-US" sz="1700" dirty="0">
                          <a:solidFill>
                            <a:srgbClr val="0C1B35"/>
                          </a:solidFill>
                          <a:latin typeface="Calibri" pitchFamily="34" charset="0"/>
                          <a:ea typeface="Calibri" pitchFamily="34" charset="-122"/>
                          <a:cs typeface="Calibri" pitchFamily="34" charset="-120"/>
                        </a:rPr>
                        <a:t>Long-lived features, multi-person or multi-session work</a:t>
                      </a:r>
                      <a:endParaRPr lang="en-US" sz="17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F0F6FF"/>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0F6FF"/>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1D6FBC"/>
          </a:solidFill>
          <a:ln w="9525">
            <a:solidFill>
              <a:srgbClr val="1D6FB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WORKFLOW</a:t>
            </a:r>
            <a:endParaRPr lang="en-US" sz="1200" dirty="0"/>
          </a:p>
        </p:txBody>
      </p:sp>
      <p:sp>
        <p:nvSpPr>
          <p:cNvPr id="4" name="Text 2"/>
          <p:cNvSpPr/>
          <p:nvPr/>
        </p:nvSpPr>
        <p:spPr>
          <a:xfrm>
            <a:off x="457200" y="658368"/>
            <a:ext cx="9166225" cy="685800"/>
          </a:xfrm>
          <a:prstGeom prst="rect">
            <a:avLst/>
          </a:prstGeom>
          <a:noFill/>
          <a:ln/>
        </p:spPr>
        <p:txBody>
          <a:bodyPr wrap="square" rtlCol="0" anchor="ctr"/>
          <a:lstStyle/>
          <a:p>
            <a:pPr indent="0" marL="0">
              <a:buNone/>
            </a:pPr>
            <a:r>
              <a:rPr lang="en-US" sz="3000" b="1" dirty="0">
                <a:solidFill>
                  <a:srgbClr val="0C1B35"/>
                </a:solidFill>
                <a:latin typeface="Calibri" pitchFamily="34" charset="0"/>
                <a:ea typeface="Calibri" pitchFamily="34" charset="-122"/>
                <a:cs typeface="Calibri" pitchFamily="34" charset="-120"/>
              </a:rPr>
              <a:t>Five Enhancement Commands, One Line Each</a:t>
            </a:r>
            <a:endParaRPr lang="en-US" sz="3000" dirty="0"/>
          </a:p>
        </p:txBody>
      </p:sp>
      <p:sp>
        <p:nvSpPr>
          <p:cNvPr id="5" name="Shape 3"/>
          <p:cNvSpPr/>
          <p:nvPr/>
        </p:nvSpPr>
        <p:spPr>
          <a:xfrm>
            <a:off x="457200" y="1417320"/>
            <a:ext cx="9166225" cy="27432"/>
          </a:xfrm>
          <a:prstGeom prst="rect">
            <a:avLst/>
          </a:prstGeom>
          <a:solidFill>
            <a:srgbClr val="1D6FBC"/>
          </a:solidFill>
          <a:ln w="12700">
            <a:solidFill>
              <a:srgbClr val="1D6FBC"/>
            </a:solidFill>
            <a:prstDash val="solid"/>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72768"/>
          <a:ext cx="9166225" cy="914400"/>
        </p:xfrm>
        <a:graphic>
          <a:graphicData uri="http://schemas.openxmlformats.org/drawingml/2006/table">
            <a:tbl>
              <a:tblPr/>
              <a:tblGrid>
                <a:gridCol w="2199894"/>
                <a:gridCol w="6966331"/>
              </a:tblGrid>
              <a:tr h="637244">
                <a:tc>
                  <a:txBody>
                    <a:bodyPr/>
                    <a:lstStyle/>
                    <a:p>
                      <a:pPr algn="l" indent="0" marL="0">
                        <a:buNone/>
                      </a:pPr>
                      <a:r>
                        <a:rPr lang="en-US" sz="1800" b="1" dirty="0">
                          <a:solidFill>
                            <a:srgbClr val="0C1B35"/>
                          </a:solidFill>
                          <a:latin typeface="Calibri" pitchFamily="34" charset="0"/>
                          <a:ea typeface="Calibri" pitchFamily="34" charset="-122"/>
                          <a:cs typeface="Calibri" pitchFamily="34" charset="-120"/>
                        </a:rPr>
                        <a:t>Command</a:t>
                      </a:r>
                      <a:endParaRPr lang="en-US" sz="18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DDE8F5"/>
                    </a:solidFill>
                  </a:tcPr>
                </a:tc>
                <a:tc>
                  <a:txBody>
                    <a:bodyPr/>
                    <a:lstStyle/>
                    <a:p>
                      <a:pPr algn="l" indent="0" marL="0">
                        <a:buNone/>
                      </a:pPr>
                      <a:r>
                        <a:rPr lang="en-US" sz="1800" b="1" dirty="0">
                          <a:solidFill>
                            <a:srgbClr val="0C1B35"/>
                          </a:solidFill>
                          <a:latin typeface="Calibri" pitchFamily="34" charset="0"/>
                          <a:ea typeface="Calibri" pitchFamily="34" charset="-122"/>
                          <a:cs typeface="Calibri" pitchFamily="34" charset="-120"/>
                        </a:rPr>
                        <a:t>Purpose</a:t>
                      </a:r>
                      <a:endParaRPr lang="en-US" sz="18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DDE8F5"/>
                    </a:solidFill>
                  </a:tcPr>
                </a:tc>
              </a:tr>
              <a:tr h="637244">
                <a:tc>
                  <a:txBody>
                    <a:bodyPr/>
                    <a:lstStyle/>
                    <a:p>
                      <a:pPr algn="l" indent="0" marL="0">
                        <a:buNone/>
                      </a:pPr>
                      <a:r>
                        <a:rPr lang="en-US" sz="1600" b="1" dirty="0">
                          <a:solidFill>
                            <a:srgbClr val="0C1B35"/>
                          </a:solidFill>
                          <a:latin typeface="Consolas" pitchFamily="34" charset="0"/>
                          <a:ea typeface="Consolas" pitchFamily="34" charset="-122"/>
                          <a:cs typeface="Consolas" pitchFamily="34" charset="-120"/>
                        </a:rPr>
                        <a:t>/speckit-clarify</a:t>
                      </a:r>
                      <a:endParaRPr lang="en-US" sz="1600" dirty="0">
                        <a:latin typeface="Consolas" charset="0"/>
                        <a:ea typeface="Consolas" charset="0"/>
                        <a:cs typeface="Consolas"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F0F6FF"/>
                    </a:solidFill>
                  </a:tcPr>
                </a:tc>
                <a:tc>
                  <a:txBody>
                    <a:bodyPr/>
                    <a:lstStyle/>
                    <a:p>
                      <a:pPr algn="l" indent="0" marL="0">
                        <a:buNone/>
                      </a:pPr>
                      <a:r>
                        <a:rPr lang="en-US" sz="1600" dirty="0">
                          <a:solidFill>
                            <a:srgbClr val="0C1B35"/>
                          </a:solidFill>
                          <a:latin typeface="Calibri" pitchFamily="34" charset="0"/>
                          <a:ea typeface="Calibri" pitchFamily="34" charset="-122"/>
                          <a:cs typeface="Calibri" pitchFamily="34" charset="-120"/>
                        </a:rPr>
                        <a:t>Asks up to five targeted questions; answers go straight into spec.md</a:t>
                      </a:r>
                      <a:endParaRPr lang="en-US" sz="16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F0F6FF"/>
                    </a:solidFill>
                  </a:tcPr>
                </a:tc>
              </a:tr>
              <a:tr h="637244">
                <a:tc>
                  <a:txBody>
                    <a:bodyPr/>
                    <a:lstStyle/>
                    <a:p>
                      <a:pPr algn="l" indent="0" marL="0">
                        <a:buNone/>
                      </a:pPr>
                      <a:r>
                        <a:rPr lang="en-US" sz="1600" b="1" dirty="0">
                          <a:solidFill>
                            <a:srgbClr val="0C1B35"/>
                          </a:solidFill>
                          <a:latin typeface="Consolas" pitchFamily="34" charset="0"/>
                          <a:ea typeface="Consolas" pitchFamily="34" charset="-122"/>
                          <a:cs typeface="Consolas" pitchFamily="34" charset="-120"/>
                        </a:rPr>
                        <a:t>/speckit-checklist</a:t>
                      </a:r>
                      <a:endParaRPr lang="en-US" sz="1600" dirty="0">
                        <a:latin typeface="Consolas" charset="0"/>
                        <a:ea typeface="Consolas" charset="0"/>
                        <a:cs typeface="Consolas"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DDE8F5"/>
                    </a:solidFill>
                  </a:tcPr>
                </a:tc>
                <a:tc>
                  <a:txBody>
                    <a:bodyPr/>
                    <a:lstStyle/>
                    <a:p>
                      <a:pPr algn="l" indent="0" marL="0">
                        <a:buNone/>
                      </a:pPr>
                      <a:r>
                        <a:rPr lang="en-US" sz="1600" dirty="0">
                          <a:solidFill>
                            <a:srgbClr val="0C1B35"/>
                          </a:solidFill>
                          <a:latin typeface="Calibri" pitchFamily="34" charset="0"/>
                          <a:ea typeface="Calibri" pitchFamily="34" charset="-122"/>
                          <a:cs typeface="Calibri" pitchFamily="34" charset="-120"/>
                        </a:rPr>
                        <a:t>Checks the spec's wording for unquantified terms before they become risky assumptions</a:t>
                      </a:r>
                      <a:endParaRPr lang="en-US" sz="16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DDE8F5"/>
                    </a:solidFill>
                  </a:tcPr>
                </a:tc>
              </a:tr>
              <a:tr h="637244">
                <a:tc>
                  <a:txBody>
                    <a:bodyPr/>
                    <a:lstStyle/>
                    <a:p>
                      <a:pPr algn="l" indent="0" marL="0">
                        <a:buNone/>
                      </a:pPr>
                      <a:r>
                        <a:rPr lang="en-US" sz="1600" b="1" dirty="0">
                          <a:solidFill>
                            <a:srgbClr val="0C1B35"/>
                          </a:solidFill>
                          <a:latin typeface="Consolas" pitchFamily="34" charset="0"/>
                          <a:ea typeface="Consolas" pitchFamily="34" charset="-122"/>
                          <a:cs typeface="Consolas" pitchFamily="34" charset="-120"/>
                        </a:rPr>
                        <a:t>/speckit-analyze</a:t>
                      </a:r>
                      <a:endParaRPr lang="en-US" sz="1600" dirty="0">
                        <a:latin typeface="Consolas" charset="0"/>
                        <a:ea typeface="Consolas" charset="0"/>
                        <a:cs typeface="Consolas"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F0F6FF"/>
                    </a:solidFill>
                  </a:tcPr>
                </a:tc>
                <a:tc>
                  <a:txBody>
                    <a:bodyPr/>
                    <a:lstStyle/>
                    <a:p>
                      <a:pPr algn="l" indent="0" marL="0">
                        <a:buNone/>
                      </a:pPr>
                      <a:r>
                        <a:rPr lang="en-US" sz="1600" dirty="0">
                          <a:solidFill>
                            <a:srgbClr val="0C1B35"/>
                          </a:solidFill>
                          <a:latin typeface="Calibri" pitchFamily="34" charset="0"/>
                          <a:ea typeface="Calibri" pitchFamily="34" charset="-122"/>
                          <a:cs typeface="Calibri" pitchFamily="34" charset="-120"/>
                        </a:rPr>
                        <a:t>Read-only cross-check of spec, plan, and tasks against each other and the constitution</a:t>
                      </a:r>
                      <a:endParaRPr lang="en-US" sz="16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F0F6FF"/>
                    </a:solidFill>
                  </a:tcPr>
                </a:tc>
              </a:tr>
              <a:tr h="637244">
                <a:tc>
                  <a:txBody>
                    <a:bodyPr/>
                    <a:lstStyle/>
                    <a:p>
                      <a:pPr algn="l" indent="0" marL="0">
                        <a:buNone/>
                      </a:pPr>
                      <a:r>
                        <a:rPr lang="en-US" sz="1600" b="1" dirty="0">
                          <a:solidFill>
                            <a:srgbClr val="0C1B35"/>
                          </a:solidFill>
                          <a:latin typeface="Consolas" pitchFamily="34" charset="0"/>
                          <a:ea typeface="Consolas" pitchFamily="34" charset="-122"/>
                          <a:cs typeface="Consolas" pitchFamily="34" charset="-120"/>
                        </a:rPr>
                        <a:t>/speckit-converge</a:t>
                      </a:r>
                      <a:endParaRPr lang="en-US" sz="1600" dirty="0">
                        <a:latin typeface="Consolas" charset="0"/>
                        <a:ea typeface="Consolas" charset="0"/>
                        <a:cs typeface="Consolas"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DDE8F5"/>
                    </a:solidFill>
                  </a:tcPr>
                </a:tc>
                <a:tc>
                  <a:txBody>
                    <a:bodyPr/>
                    <a:lstStyle/>
                    <a:p>
                      <a:pPr algn="l" indent="0" marL="0">
                        <a:buNone/>
                      </a:pPr>
                      <a:r>
                        <a:rPr lang="en-US" sz="1600" dirty="0">
                          <a:solidFill>
                            <a:srgbClr val="0C1B35"/>
                          </a:solidFill>
                          <a:latin typeface="Calibri" pitchFamily="34" charset="0"/>
                          <a:ea typeface="Calibri" pitchFamily="34" charset="-122"/>
                          <a:cs typeface="Calibri" pitchFamily="34" charset="-120"/>
                        </a:rPr>
                        <a:t>Compares spec/plan/tasks against the actual code; appends a task if it finds drift</a:t>
                      </a:r>
                      <a:endParaRPr lang="en-US" sz="16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DDE8F5"/>
                    </a:solidFill>
                  </a:tcPr>
                </a:tc>
              </a:tr>
              <a:tr h="637244">
                <a:tc>
                  <a:txBody>
                    <a:bodyPr/>
                    <a:lstStyle/>
                    <a:p>
                      <a:pPr algn="l" indent="0" marL="0">
                        <a:buNone/>
                      </a:pPr>
                      <a:r>
                        <a:rPr lang="en-US" sz="1600" b="1" dirty="0">
                          <a:solidFill>
                            <a:srgbClr val="0C1B35"/>
                          </a:solidFill>
                          <a:latin typeface="Consolas" pitchFamily="34" charset="0"/>
                          <a:ea typeface="Consolas" pitchFamily="34" charset="-122"/>
                          <a:cs typeface="Consolas" pitchFamily="34" charset="-120"/>
                        </a:rPr>
                        <a:t>/speckit-taskstoissues</a:t>
                      </a:r>
                      <a:endParaRPr lang="en-US" sz="1600" dirty="0">
                        <a:latin typeface="Consolas" charset="0"/>
                        <a:ea typeface="Consolas" charset="0"/>
                        <a:cs typeface="Consolas"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F0F6FF"/>
                    </a:solidFill>
                  </a:tcPr>
                </a:tc>
                <a:tc>
                  <a:txBody>
                    <a:bodyPr/>
                    <a:lstStyle/>
                    <a:p>
                      <a:pPr algn="l" indent="0" marL="0">
                        <a:buNone/>
                      </a:pPr>
                      <a:r>
                        <a:rPr lang="en-US" sz="1600" dirty="0">
                          <a:solidFill>
                            <a:srgbClr val="0C1B35"/>
                          </a:solidFill>
                          <a:latin typeface="Calibri" pitchFamily="34" charset="0"/>
                          <a:ea typeface="Calibri" pitchFamily="34" charset="-122"/>
                          <a:cs typeface="Calibri" pitchFamily="34" charset="-120"/>
                        </a:rPr>
                        <a:t>Exports tasks.md into tracked issues, for teams that live in an issue tracker</a:t>
                      </a:r>
                      <a:endParaRPr lang="en-US" sz="1600" dirty="0">
                        <a:latin typeface="Calibri" charset="0"/>
                        <a:ea typeface="Calibri" charset="0"/>
                        <a:cs typeface="Calibri" charset="0"/>
                      </a:endParaRPr>
                    </a:p>
                  </a:txBody>
                  <a:tcPr marL="76200" marR="76200" marT="50800" marB="50800" anchor="ctr">
                    <a:lnL w="6350" cap="flat" cmpd="sng" algn="ctr">
                      <a:solidFill>
                        <a:srgbClr val="1D6FBC"/>
                      </a:solidFill>
                      <a:prstDash val="solid"/>
                      <a:round/>
                      <a:headEnd type="none" w="med" len="med"/>
                      <a:tailEnd type="none" w="med" len="med"/>
                    </a:lnL>
                    <a:lnR w="6350" cap="flat" cmpd="sng" algn="ctr">
                      <a:solidFill>
                        <a:srgbClr val="1D6FBC"/>
                      </a:solidFill>
                      <a:prstDash val="solid"/>
                      <a:round/>
                      <a:headEnd type="none" w="med" len="med"/>
                      <a:tailEnd type="none" w="med" len="med"/>
                    </a:lnR>
                    <a:lnT w="6350" cap="flat" cmpd="sng" algn="ctr">
                      <a:solidFill>
                        <a:srgbClr val="1D6FBC"/>
                      </a:solidFill>
                      <a:prstDash val="solid"/>
                      <a:round/>
                      <a:headEnd type="none" w="med" len="med"/>
                      <a:tailEnd type="none" w="med" len="med"/>
                    </a:lnT>
                    <a:lnB w="6350" cap="flat" cmpd="sng" algn="ctr">
                      <a:solidFill>
                        <a:srgbClr val="1D6FBC"/>
                      </a:solidFill>
                      <a:prstDash val="solid"/>
                      <a:round/>
                      <a:headEnd type="none" w="med" len="med"/>
                      <a:tailEnd type="none" w="med" len="med"/>
                    </a:lnB>
                    <a:solidFill>
                      <a:srgbClr val="F0F6FF"/>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0F6FF"/>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1D6FBC"/>
          </a:solidFill>
          <a:ln w="9525">
            <a:solidFill>
              <a:srgbClr val="1D6FB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WORKFLOW</a:t>
            </a:r>
            <a:endParaRPr lang="en-US" sz="1200" dirty="0"/>
          </a:p>
        </p:txBody>
      </p:sp>
      <p:sp>
        <p:nvSpPr>
          <p:cNvPr id="4" name="Text 2"/>
          <p:cNvSpPr/>
          <p:nvPr/>
        </p:nvSpPr>
        <p:spPr>
          <a:xfrm>
            <a:off x="457200" y="658368"/>
            <a:ext cx="9166225" cy="685800"/>
          </a:xfrm>
          <a:prstGeom prst="rect">
            <a:avLst/>
          </a:prstGeom>
          <a:noFill/>
          <a:ln/>
        </p:spPr>
        <p:txBody>
          <a:bodyPr wrap="square" rtlCol="0" anchor="ctr"/>
          <a:lstStyle/>
          <a:p>
            <a:pPr indent="0" marL="0">
              <a:buNone/>
            </a:pPr>
            <a:r>
              <a:rPr lang="en-US" sz="3000" b="1" dirty="0">
                <a:solidFill>
                  <a:srgbClr val="0C1B35"/>
                </a:solidFill>
                <a:latin typeface="Calibri" pitchFamily="34" charset="0"/>
                <a:ea typeface="Calibri" pitchFamily="34" charset="-122"/>
                <a:cs typeface="Calibri" pitchFamily="34" charset="-120"/>
              </a:rPr>
              <a:t>Resources &amp; Next Steps</a:t>
            </a:r>
            <a:endParaRPr lang="en-US" sz="3000" dirty="0"/>
          </a:p>
        </p:txBody>
      </p:sp>
      <p:sp>
        <p:nvSpPr>
          <p:cNvPr id="5" name="Shape 3"/>
          <p:cNvSpPr/>
          <p:nvPr/>
        </p:nvSpPr>
        <p:spPr>
          <a:xfrm>
            <a:off x="457200" y="1417320"/>
            <a:ext cx="9166225" cy="27432"/>
          </a:xfrm>
          <a:prstGeom prst="rect">
            <a:avLst/>
          </a:prstGeom>
          <a:solidFill>
            <a:srgbClr val="1D6FBC"/>
          </a:solidFill>
          <a:ln w="12700">
            <a:solidFill>
              <a:srgbClr val="1D6FBC"/>
            </a:solidFill>
            <a:prstDash val="solid"/>
          </a:ln>
        </p:spPr>
      </p:sp>
      <p:sp>
        <p:nvSpPr>
          <p:cNvPr id="6" name="Text 4"/>
          <p:cNvSpPr/>
          <p:nvPr/>
        </p:nvSpPr>
        <p:spPr>
          <a:xfrm>
            <a:off x="457200" y="1572768"/>
            <a:ext cx="9166225" cy="1274487"/>
          </a:xfrm>
          <a:prstGeom prst="rect">
            <a:avLst/>
          </a:prstGeom>
          <a:noFill/>
          <a:ln/>
        </p:spPr>
        <p:txBody>
          <a:bodyPr wrap="square" rtlCol="0" anchor="ctr"/>
          <a:lstStyle/>
          <a:p>
            <a:pPr marL="254000" indent="-254000">
              <a:buSzPct val="100000"/>
              <a:buChar char="•"/>
            </a:pPr>
            <a:r>
              <a:rPr lang="en-US" sz="2300" dirty="0">
                <a:solidFill>
                  <a:srgbClr val="0C1B35"/>
                </a:solidFill>
                <a:latin typeface="Calibri" pitchFamily="34" charset="0"/>
                <a:ea typeface="Calibri" pitchFamily="34" charset="-122"/>
                <a:cs typeface="Calibri" pitchFamily="34" charset="-120"/>
              </a:rPr>
              <a:t>speckit-demo — one feature, one person, a vibe-coded/ vs. spec-driven/ side-by-side you can browse</a:t>
            </a:r>
            <a:endParaRPr lang="en-US" sz="2300" dirty="0"/>
          </a:p>
        </p:txBody>
      </p:sp>
      <p:sp>
        <p:nvSpPr>
          <p:cNvPr id="7" name="Text 5"/>
          <p:cNvSpPr/>
          <p:nvPr/>
        </p:nvSpPr>
        <p:spPr>
          <a:xfrm>
            <a:off x="457200" y="2847255"/>
            <a:ext cx="9166225" cy="1274487"/>
          </a:xfrm>
          <a:prstGeom prst="rect">
            <a:avLst/>
          </a:prstGeom>
          <a:noFill/>
          <a:ln/>
        </p:spPr>
        <p:txBody>
          <a:bodyPr wrap="square" rtlCol="0" anchor="ctr"/>
          <a:lstStyle/>
          <a:p>
            <a:pPr marL="254000" indent="-254000">
              <a:buSzPct val="100000"/>
              <a:buChar char="•"/>
            </a:pPr>
            <a:r>
              <a:rPr lang="en-US" sz="2300" dirty="0">
                <a:solidFill>
                  <a:srgbClr val="0C1B35"/>
                </a:solidFill>
                <a:latin typeface="Calibri" pitchFamily="34" charset="0"/>
                <a:ea typeface="Calibri" pitchFamily="34" charset="-122"/>
                <a:cs typeface="Calibri" pitchFamily="34" charset="-120"/>
              </a:rPr>
              <a:t>speckit-complex-demo — three contributors, concurrent branches, a mid-project constitution amendment, two real merge conflicts</a:t>
            </a:r>
            <a:endParaRPr lang="en-US" sz="2300" dirty="0"/>
          </a:p>
        </p:txBody>
      </p:sp>
      <p:sp>
        <p:nvSpPr>
          <p:cNvPr id="8" name="Text 6"/>
          <p:cNvSpPr/>
          <p:nvPr/>
        </p:nvSpPr>
        <p:spPr>
          <a:xfrm>
            <a:off x="457200" y="4121743"/>
            <a:ext cx="9166225" cy="1274487"/>
          </a:xfrm>
          <a:prstGeom prst="rect">
            <a:avLst/>
          </a:prstGeom>
          <a:noFill/>
          <a:ln/>
        </p:spPr>
        <p:txBody>
          <a:bodyPr wrap="square" rtlCol="0" anchor="ctr"/>
          <a:lstStyle/>
          <a:p>
            <a:pPr marL="254000" indent="-254000">
              <a:buSzPct val="100000"/>
              <a:buChar char="•"/>
            </a:pPr>
            <a:r>
              <a:rPr lang="en-US" sz="2300" dirty="0">
                <a:solidFill>
                  <a:srgbClr val="0C1B35"/>
                </a:solidFill>
                <a:latin typeface="Calibri" pitchFamily="34" charset="0"/>
                <a:ea typeface="Calibri" pitchFamily="34" charset="-122"/>
                <a:cs typeface="Calibri" pitchFamily="34" charset="-120"/>
              </a:rPr>
              <a:t>FACILITATION.md in this repo — the exact live run-of-show, every command typed out, if you want to run this pipeline yourself from zero</a:t>
            </a:r>
            <a:endParaRPr lang="en-US" sz="2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SpecDrivenDevelopment Presentation</dc:title>
  <dc:subject>PptxGenJS Presentation</dc:subject>
  <dc:creator>gen-presentation</dc:creator>
  <cp:lastModifiedBy>gen-presentation</cp:lastModifiedBy>
  <cp:revision>1</cp:revision>
  <dcterms:created xsi:type="dcterms:W3CDTF">2026-07-30T04:01:39Z</dcterms:created>
  <dcterms:modified xsi:type="dcterms:W3CDTF">2026-07-30T04:01:39Z</dcterms:modified>
</cp:coreProperties>
</file>